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theme/theme3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</p:sldMasterIdLst>
  <p:notesMasterIdLst>
    <p:notesMasterId r:id="rId42"/>
  </p:notesMasterIdLst>
  <p:sldIdLst>
    <p:sldId id="256" r:id="rId33"/>
    <p:sldId id="268" r:id="rId34"/>
    <p:sldId id="259" r:id="rId35"/>
    <p:sldId id="258" r:id="rId36"/>
    <p:sldId id="262" r:id="rId37"/>
    <p:sldId id="273" r:id="rId38"/>
    <p:sldId id="263" r:id="rId39"/>
    <p:sldId id="271" r:id="rId40"/>
    <p:sldId id="272" r:id="rId41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035" autoAdjust="0"/>
  </p:normalViewPr>
  <p:slideViewPr>
    <p:cSldViewPr snapToGrid="0">
      <p:cViewPr varScale="1">
        <p:scale>
          <a:sx n="135" d="100"/>
          <a:sy n="135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2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5.xml"/><Relationship Id="rId40" Type="http://schemas.openxmlformats.org/officeDocument/2006/relationships/slide" Target="slides/slide8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3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tableStyles" Target="tableStyle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3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4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4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3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3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4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4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3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3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4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4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3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4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3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3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3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3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4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4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3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3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3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4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4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3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3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4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4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3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3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4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4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3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3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4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4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3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3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4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3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4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4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3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06908" y="672840"/>
            <a:ext cx="8696812" cy="206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2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Интернет-маркетинг: Разработка стратегии поискового продвижения</a:t>
            </a:r>
            <a:endParaRPr lang="fr-FR" sz="52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2305080" y="405210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4433" lnSpcReduction="2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Изучение </a:t>
            </a:r>
            <a:r>
              <a:rPr lang="ru-RU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основных инструментов, используемых для продвижени</a:t>
            </a:r>
            <a:r>
              <a:rPr lang="ru-RU" sz="1600" spc="-1" dirty="0">
                <a:solidFill>
                  <a:schemeClr val="lt1"/>
                </a:solidFill>
                <a:latin typeface="Actor"/>
                <a:ea typeface="Actor"/>
              </a:rPr>
              <a:t>я сайтов</a:t>
            </a:r>
            <a:r>
              <a:rPr lang="ru-RU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.</a:t>
            </a:r>
            <a:endParaRPr lang="ru-RU" altLang="en-GB" sz="16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335" name="Google Shape;437;p35"/>
          <p:cNvSpPr/>
          <p:nvPr/>
        </p:nvSpPr>
        <p:spPr>
          <a:xfrm>
            <a:off x="3800075" y="321919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425596" y="2982201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3420110" y="4784090"/>
            <a:ext cx="251841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800" b="0" u="sng" strike="noStrike" spc="-1">
                <a:solidFill>
                  <a:schemeClr val="lt1"/>
                </a:solidFill>
                <a:latin typeface="Actor"/>
                <a:ea typeface="Actor"/>
              </a:rPr>
              <a:t>By TimQwees Technology -  MandoMemori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004478" y="2356082"/>
            <a:ext cx="5635442" cy="16018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Что такое </a:t>
            </a:r>
            <a:r>
              <a:rPr lang="en-US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SEO </a:t>
            </a:r>
            <a:r>
              <a:rPr lang="ru-RU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оптимизация и почему она важна</a:t>
            </a:r>
            <a:r>
              <a:rPr lang="ru-RU" altLang="ru-RU" sz="4000" strike="noStrike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Unbounded"/>
              </a:rPr>
              <a:t>?</a:t>
            </a:r>
            <a:endParaRPr lang="en-US" altLang="ru-RU" sz="4000" strike="noStrike" spc="-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Unbounded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597944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</a:t>
            </a:r>
            <a:r>
              <a:rPr lang="ru-RU" alt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1</a:t>
            </a: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969353" y="2024522"/>
            <a:ext cx="6993127" cy="2069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500" dirty="0">
                <a:solidFill>
                  <a:schemeClr val="bg1"/>
                </a:solidFill>
                <a:latin typeface="Unbounded"/>
              </a:rPr>
              <a:t>SEO (Search Engine Optimization) - </a:t>
            </a:r>
            <a:r>
              <a:rPr lang="ru-RU" sz="1500" dirty="0">
                <a:solidFill>
                  <a:schemeClr val="bg1"/>
                </a:solidFill>
                <a:latin typeface="Unbounded"/>
              </a:rPr>
              <a:t>комплекс мер для улучшения позиций сайта в поисковой выдаче.</a:t>
            </a:r>
            <a:endParaRPr lang="en-US" sz="1500" dirty="0">
              <a:solidFill>
                <a:schemeClr val="bg1"/>
              </a:solidFill>
              <a:latin typeface="Unbounde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500" dirty="0">
                <a:solidFill>
                  <a:schemeClr val="bg1"/>
                </a:solidFill>
                <a:latin typeface="Unbounded"/>
              </a:rPr>
              <a:t>Зачем нужно SEO? Увеличение органического трафика, повышение узнаваемости бренда, привлечение целевой аудитории.</a:t>
            </a:r>
            <a:endParaRPr lang="en-US" sz="1500" dirty="0">
              <a:solidFill>
                <a:schemeClr val="bg1"/>
              </a:solidFill>
              <a:latin typeface="Unbounde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500" dirty="0">
                <a:solidFill>
                  <a:schemeClr val="bg1"/>
                </a:solidFill>
                <a:latin typeface="Unbounded"/>
              </a:rPr>
              <a:t>Преимущества SEO перед другими видами интернет-маркетинга</a:t>
            </a:r>
            <a:r>
              <a:rPr lang="en-US" sz="1500" dirty="0">
                <a:solidFill>
                  <a:schemeClr val="bg1"/>
                </a:solidFill>
                <a:latin typeface="Unbounded"/>
              </a:rPr>
              <a:t> -</a:t>
            </a:r>
            <a:r>
              <a:rPr lang="ru-RU" sz="1500" dirty="0">
                <a:solidFill>
                  <a:schemeClr val="bg1"/>
                </a:solidFill>
                <a:latin typeface="Unbounded"/>
              </a:rPr>
              <a:t>долгосрочный эффект</a:t>
            </a:r>
            <a:endParaRPr lang="en-US" sz="1500" dirty="0">
              <a:solidFill>
                <a:schemeClr val="bg1"/>
              </a:solidFill>
              <a:latin typeface="Unbounded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  <a:p>
            <a:pPr algn="l">
              <a:lnSpc>
                <a:spcPct val="100000"/>
              </a:lnSpc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041872" cy="91440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11" name="PlaceHolder 1">
            <a:extLst>
              <a:ext uri="{FF2B5EF4-FFF2-40B4-BE49-F238E27FC236}">
                <a16:creationId xmlns:a16="http://schemas.microsoft.com/office/drawing/2014/main" id="{27948E51-2316-44CF-B632-59B55124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75" y="569340"/>
            <a:ext cx="6719888" cy="11750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Что такое </a:t>
            </a:r>
            <a:r>
              <a:rPr lang="en-US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SEO </a:t>
            </a:r>
            <a:r>
              <a:rPr lang="ru-RU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оптимизация и почему она важна</a:t>
            </a:r>
            <a:r>
              <a:rPr lang="ru-RU" altLang="ru-RU" sz="4000" strike="noStrike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Unbounded"/>
              </a:rPr>
              <a:t>?</a:t>
            </a:r>
            <a:endParaRPr lang="en-US" altLang="ru-RU" sz="4000" strike="noStrike" spc="-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9" name="Group 8"/>
          <p:cNvGrpSpPr/>
          <p:nvPr/>
        </p:nvGrpSpPr>
        <p:grpSpPr>
          <a:xfrm>
            <a:off x="4685270" y="1555145"/>
            <a:ext cx="1950085" cy="1253499"/>
            <a:chOff x="963" y="3030"/>
            <a:chExt cx="3071" cy="883"/>
          </a:xfrm>
        </p:grpSpPr>
        <p:sp>
          <p:nvSpPr>
            <p:cNvPr id="2" name="Text Box 1"/>
            <p:cNvSpPr txBox="1"/>
            <p:nvPr/>
          </p:nvSpPr>
          <p:spPr>
            <a:xfrm>
              <a:off x="963" y="3030"/>
              <a:ext cx="3071" cy="4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Яндекс</a:t>
              </a:r>
              <a:r>
                <a:rPr lang="en-US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Вебмастер,</a:t>
              </a:r>
            </a:p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Яндекс метрика: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71" y="3458"/>
              <a:ext cx="2732" cy="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Российские аналоги сервисам 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Google</a:t>
              </a:r>
              <a:endParaRPr lang="ru-RU" altLang="en-US" sz="120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19226" y="1995171"/>
            <a:ext cx="1806576" cy="1749092"/>
            <a:chOff x="963" y="3030"/>
            <a:chExt cx="3071" cy="2531"/>
          </a:xfrm>
        </p:grpSpPr>
        <p:sp>
          <p:nvSpPr>
            <p:cNvPr id="12" name="Text Box 11"/>
            <p:cNvSpPr txBox="1"/>
            <p:nvPr/>
          </p:nvSpPr>
          <p:spPr>
            <a:xfrm>
              <a:off x="963" y="3030"/>
              <a:ext cx="3071" cy="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en-US" sz="1600" dirty="0" err="1">
                  <a:solidFill>
                    <a:schemeClr val="bg1"/>
                  </a:solidFill>
                  <a:latin typeface="Unbounded"/>
                </a:rPr>
                <a:t>Serpstat</a:t>
              </a:r>
              <a:r>
                <a:rPr lang="en-US" sz="1600" dirty="0">
                  <a:solidFill>
                    <a:schemeClr val="bg1"/>
                  </a:solidFill>
                  <a:latin typeface="Unbounded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Unbounded"/>
                </a:rPr>
                <a:t>Ahrefs</a:t>
              </a:r>
              <a:r>
                <a:rPr lang="en-US" sz="1600" dirty="0">
                  <a:solidFill>
                    <a:schemeClr val="bg1"/>
                  </a:solidFill>
                  <a:latin typeface="Unbounded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Unbounded"/>
                </a:rPr>
                <a:t>Semrush</a:t>
              </a:r>
              <a:r>
                <a:rPr lang="en-US" sz="1600" dirty="0">
                  <a:solidFill>
                    <a:schemeClr val="bg1"/>
                  </a:solidFill>
                  <a:latin typeface="Unbounded"/>
                </a:rPr>
                <a:t> 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076" y="3824"/>
              <a:ext cx="2732" cy="17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en-US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Анализ конкурентов, подбор ключевых слов, анализ ссылочного профиля</a:t>
              </a:r>
              <a:endParaRPr lang="en-US" altLang="en-US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4475" y="1995169"/>
            <a:ext cx="1950085" cy="1627379"/>
            <a:chOff x="963" y="3030"/>
            <a:chExt cx="3071" cy="2113"/>
          </a:xfrm>
        </p:grpSpPr>
        <p:sp>
          <p:nvSpPr>
            <p:cNvPr id="15" name="Text Box 14"/>
            <p:cNvSpPr txBox="1"/>
            <p:nvPr/>
          </p:nvSpPr>
          <p:spPr>
            <a:xfrm>
              <a:off x="963" y="3030"/>
              <a:ext cx="3071" cy="440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en-US" altLang="zh-CN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Google Analytics</a:t>
              </a:r>
              <a:r>
                <a:rPr lang="ru-RU" altLang="zh-CN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endParaRPr lang="en-US" altLang="zh-CN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076" y="3824"/>
              <a:ext cx="2732" cy="1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zh-CN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Помогает отслеживать поведение пользователей на сайте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39340" y="1575171"/>
            <a:ext cx="2094230" cy="1257404"/>
            <a:chOff x="965" y="3030"/>
            <a:chExt cx="3298" cy="1634"/>
          </a:xfrm>
        </p:grpSpPr>
        <p:sp>
          <p:nvSpPr>
            <p:cNvPr id="18" name="Text Box 17"/>
            <p:cNvSpPr txBox="1"/>
            <p:nvPr/>
          </p:nvSpPr>
          <p:spPr>
            <a:xfrm>
              <a:off x="965" y="3030"/>
              <a:ext cx="3298" cy="760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en-US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Google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</a:t>
              </a:r>
              <a:r>
                <a:rPr lang="en-US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Search Console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r>
                <a:rPr lang="en-US" altLang="en-US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</a:t>
              </a:r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076" y="3824"/>
              <a:ext cx="2732" cy="8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zh-CN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Анализ трафика</a:t>
              </a:r>
            </a:p>
            <a:p>
              <a:pPr marL="171450" indent="-171450" algn="l">
                <a:buFontTx/>
                <a:buChar char="-"/>
              </a:pPr>
              <a:endParaRPr lang="ru-RU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  <a:p>
              <a:pPr marL="171450" indent="-171450" algn="l">
                <a:buFontTx/>
                <a:buChar char="-"/>
              </a:pPr>
              <a:r>
                <a:rPr lang="ru-RU" altLang="zh-CN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Выявление ошибок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DBE645E-3561-4B1C-816A-EC33F4E9CB5B}"/>
              </a:ext>
            </a:extLst>
          </p:cNvPr>
          <p:cNvSpPr txBox="1"/>
          <p:nvPr/>
        </p:nvSpPr>
        <p:spPr>
          <a:xfrm>
            <a:off x="2409826" y="634073"/>
            <a:ext cx="501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Unbounded"/>
              </a:rPr>
              <a:t>Инструменты </a:t>
            </a:r>
            <a:r>
              <a:rPr lang="en-US" sz="3200" dirty="0">
                <a:solidFill>
                  <a:schemeClr val="bg1"/>
                </a:solidFill>
                <a:latin typeface="Unbounded"/>
              </a:rPr>
              <a:t>SEO-</a:t>
            </a:r>
            <a:r>
              <a:rPr lang="ru-RU" sz="3200" dirty="0">
                <a:solidFill>
                  <a:schemeClr val="bg1"/>
                </a:solidFill>
                <a:latin typeface="Unbounded"/>
              </a:rPr>
              <a:t>анализа</a:t>
            </a:r>
            <a:endParaRPr lang="en-US" sz="3200" dirty="0">
              <a:solidFill>
                <a:schemeClr val="bg1"/>
              </a:solidFill>
              <a:latin typeface="Unb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428840" y="2362320"/>
            <a:ext cx="6286320" cy="138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1" strike="noStrike" spc="-1" dirty="0">
                <a:solidFill>
                  <a:schemeClr val="bg1"/>
                </a:solidFill>
                <a:latin typeface="Unbounded"/>
              </a:rPr>
              <a:t>Поисковые системы и их принцип работы</a:t>
            </a:r>
            <a:endParaRPr lang="fr-FR" sz="4000" b="1" strike="noStrike" spc="-1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771480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9" name="Group 8"/>
          <p:cNvGrpSpPr/>
          <p:nvPr/>
        </p:nvGrpSpPr>
        <p:grpSpPr>
          <a:xfrm>
            <a:off x="4685270" y="1555145"/>
            <a:ext cx="1950085" cy="2731294"/>
            <a:chOff x="963" y="3030"/>
            <a:chExt cx="3071" cy="1924"/>
          </a:xfrm>
        </p:grpSpPr>
        <p:sp>
          <p:nvSpPr>
            <p:cNvPr id="2" name="Text Box 1"/>
            <p:cNvSpPr txBox="1"/>
            <p:nvPr/>
          </p:nvSpPr>
          <p:spPr>
            <a:xfrm>
              <a:off x="963" y="3030"/>
              <a:ext cx="3071" cy="2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Яндекс: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71" y="3458"/>
              <a:ext cx="2732" cy="14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en-US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Ведущая поисковая система в России</a:t>
              </a:r>
            </a:p>
            <a:p>
              <a:pPr marL="285750" indent="-2857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Как и 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Google </a:t>
              </a: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предоставляет широкий спектр дополнительных сервисов, но адаптированных к российскому рынку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19226" y="1995170"/>
            <a:ext cx="1806576" cy="2672358"/>
            <a:chOff x="963" y="3030"/>
            <a:chExt cx="3071" cy="3867"/>
          </a:xfrm>
        </p:grpSpPr>
        <p:sp>
          <p:nvSpPr>
            <p:cNvPr id="12" name="Text Box 11"/>
            <p:cNvSpPr txBox="1"/>
            <p:nvPr/>
          </p:nvSpPr>
          <p:spPr>
            <a:xfrm>
              <a:off x="963" y="3030"/>
              <a:ext cx="3071" cy="4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en-US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Bing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076" y="3824"/>
              <a:ext cx="2732" cy="30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Поисковая система от 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Microsoft</a:t>
              </a:r>
            </a:p>
            <a:p>
              <a:pPr marL="171450" indent="-1714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Часто предустановлена на устройствах 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Windows</a:t>
              </a:r>
            </a:p>
            <a:p>
              <a:pPr marL="171450" indent="-1714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Интегрирована с продуктами 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Microsoft</a:t>
              </a: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(</a:t>
              </a:r>
              <a:r>
                <a:rPr lang="en-US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Office, Xbox</a:t>
              </a: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)</a:t>
              </a:r>
            </a:p>
            <a:p>
              <a:pPr marL="171450" indent="-171450" algn="l">
                <a:buFontTx/>
                <a:buChar char="-"/>
              </a:pPr>
              <a:endParaRPr lang="en-US" altLang="en-US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4475" y="1995169"/>
            <a:ext cx="1950085" cy="2291269"/>
            <a:chOff x="963" y="3030"/>
            <a:chExt cx="3071" cy="2975"/>
          </a:xfrm>
        </p:grpSpPr>
        <p:sp>
          <p:nvSpPr>
            <p:cNvPr id="15" name="Text Box 14"/>
            <p:cNvSpPr txBox="1"/>
            <p:nvPr/>
          </p:nvSpPr>
          <p:spPr>
            <a:xfrm>
              <a:off x="963" y="3030"/>
              <a:ext cx="3071" cy="531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en-US" altLang="zh-CN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Wandex</a:t>
              </a:r>
              <a:r>
                <a:rPr lang="ru-RU" altLang="zh-CN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endParaRPr lang="en-US" altLang="zh-CN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076" y="3824"/>
              <a:ext cx="2732" cy="21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Первая поисковая система в мире</a:t>
              </a:r>
            </a:p>
            <a:p>
              <a:pPr marL="285750" indent="-285750" algn="l">
                <a:buFontTx/>
                <a:buChar char="-"/>
              </a:pPr>
              <a:r>
                <a:rPr lang="ru-RU" altLang="zh-CN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Создавалась в то время, когда </a:t>
              </a: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в Интернете насчитывалось только 623 сайта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39340" y="1575171"/>
            <a:ext cx="2094230" cy="2365520"/>
            <a:chOff x="965" y="3030"/>
            <a:chExt cx="3298" cy="3074"/>
          </a:xfrm>
        </p:grpSpPr>
        <p:sp>
          <p:nvSpPr>
            <p:cNvPr id="18" name="Text Box 17"/>
            <p:cNvSpPr txBox="1"/>
            <p:nvPr/>
          </p:nvSpPr>
          <p:spPr>
            <a:xfrm>
              <a:off x="965" y="3030"/>
              <a:ext cx="3298" cy="440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en-US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Google</a:t>
              </a:r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:</a:t>
              </a:r>
              <a:r>
                <a:rPr lang="en-US" altLang="en-US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</a:t>
              </a:r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076" y="3824"/>
              <a:ext cx="2732" cy="2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Лидер рынка</a:t>
              </a:r>
            </a:p>
            <a:p>
              <a:pPr marL="171450" indent="-171450" algn="l">
                <a:buFontTx/>
                <a:buChar char="-"/>
              </a:pPr>
              <a:r>
                <a:rPr lang="ru-RU" altLang="zh-CN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Известен своими сложными алгоритмами</a:t>
              </a:r>
            </a:p>
            <a:p>
              <a:pPr marL="171450" indent="-1714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Предлагает широкий спектр сервисов (</a:t>
              </a:r>
              <a:r>
                <a:rPr lang="en-US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Gmail, Maps, </a:t>
              </a:r>
              <a:r>
                <a:rPr lang="en-US" altLang="zh-CN" sz="1200" dirty="0" err="1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Analitics</a:t>
              </a:r>
              <a:r>
                <a:rPr lang="en-US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, Sheets </a:t>
              </a: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и прочее)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DBE645E-3561-4B1C-816A-EC33F4E9CB5B}"/>
              </a:ext>
            </a:extLst>
          </p:cNvPr>
          <p:cNvSpPr txBox="1"/>
          <p:nvPr/>
        </p:nvSpPr>
        <p:spPr>
          <a:xfrm>
            <a:off x="2409826" y="634073"/>
            <a:ext cx="4436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Unbounded"/>
              </a:rPr>
              <a:t>Мир поисковых систем</a:t>
            </a:r>
            <a:endParaRPr lang="en-US" sz="3200" dirty="0">
              <a:solidFill>
                <a:schemeClr val="bg1"/>
              </a:solidFill>
              <a:latin typeface="Unbounded"/>
            </a:endParaRPr>
          </a:p>
        </p:txBody>
      </p:sp>
    </p:spTree>
    <p:extLst>
      <p:ext uri="{BB962C8B-B14F-4D97-AF65-F5344CB8AC3E}">
        <p14:creationId xmlns:p14="http://schemas.microsoft.com/office/powerpoint/2010/main" val="49993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533870" y="1227493"/>
            <a:ext cx="4161790" cy="33599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5000"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Spider – </a:t>
            </a: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робот, закачивающий веб-страницы на сервер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ru-RU" sz="1400" spc="-1" dirty="0">
                <a:solidFill>
                  <a:schemeClr val="lt1"/>
                </a:solidFill>
                <a:latin typeface="Actor"/>
                <a:ea typeface="Actor"/>
              </a:rPr>
              <a:t>Crawler – </a:t>
            </a:r>
            <a:r>
              <a:rPr lang="ru-RU" altLang="ru-RU" sz="1400" spc="-1" dirty="0">
                <a:solidFill>
                  <a:schemeClr val="lt1"/>
                </a:solidFill>
                <a:latin typeface="Actor"/>
                <a:ea typeface="Actor"/>
              </a:rPr>
              <a:t>автоматически открывает и анализирует все ссылки, составляет дерево адресов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Indexer – </a:t>
            </a: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программа проводит индексацию всех фа</a:t>
            </a:r>
            <a:r>
              <a:rPr lang="ru-RU" altLang="ru-RU" sz="1400" spc="-1" dirty="0">
                <a:solidFill>
                  <a:schemeClr val="lt1"/>
                </a:solidFill>
                <a:latin typeface="Actor"/>
                <a:ea typeface="Actor"/>
              </a:rPr>
              <a:t>йлов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Database –</a:t>
            </a: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 формирует 2 базы данных: первая с деревом сайта и его мета-тэгами и вторая с результатами индексации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ru-RU" sz="1400" spc="-1" dirty="0">
                <a:solidFill>
                  <a:schemeClr val="lt1"/>
                </a:solidFill>
                <a:latin typeface="Actor"/>
                <a:ea typeface="Actor"/>
              </a:rPr>
              <a:t>Search Engine Results – </a:t>
            </a:r>
            <a:r>
              <a:rPr lang="ru-RU" altLang="ru-RU" sz="1400" spc="-1" dirty="0">
                <a:solidFill>
                  <a:schemeClr val="lt1"/>
                </a:solidFill>
                <a:latin typeface="Actor"/>
                <a:ea typeface="Actor"/>
              </a:rPr>
              <a:t>выполняет ранжирование </a:t>
            </a:r>
            <a:endParaRPr lang="ru-RU" altLang="ru-RU" sz="14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533870" y="2766765"/>
            <a:ext cx="4161960" cy="1133280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endParaRPr lang="en-US" altLang="ru-RU" sz="12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55DE6C1-4644-4345-B6A4-EEC4FC196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всего за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50 миллисекунд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BB9149-3FB1-4383-975D-8A37CB31C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39" y="1705969"/>
            <a:ext cx="3968296" cy="2194075"/>
          </a:xfrm>
          <a:prstGeom prst="rect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66A804-F152-4440-A6CC-578F37E3347E}"/>
              </a:ext>
            </a:extLst>
          </p:cNvPr>
          <p:cNvSpPr txBox="1"/>
          <p:nvPr/>
        </p:nvSpPr>
        <p:spPr>
          <a:xfrm>
            <a:off x="1726442" y="634073"/>
            <a:ext cx="6380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Unbounded"/>
              </a:rPr>
              <a:t>Принцип работы поисковых систем</a:t>
            </a:r>
            <a:endParaRPr lang="en-US" sz="3200" dirty="0">
              <a:solidFill>
                <a:schemeClr val="bg1"/>
              </a:solidFill>
              <a:latin typeface="Unb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A55DE-C533-4D65-942C-9B4733202B38}"/>
              </a:ext>
            </a:extLst>
          </p:cNvPr>
          <p:cNvSpPr txBox="1"/>
          <p:nvPr/>
        </p:nvSpPr>
        <p:spPr>
          <a:xfrm>
            <a:off x="955344" y="1554413"/>
            <a:ext cx="64485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nbounded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Ключевые слова: подбор, использование в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Title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Description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, заголовках (H1-H6), тексте.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Качество контента: уникальность, релевантность, полезность для пользователей.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Структура сайта: понятная навигация, перелинковка, ЧПУ.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Мета-теги: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Title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Description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 (важность для CTR).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Оптимизация изображений: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Alt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-текст.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Скорость загрузки сайта.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Адаптивность под мобильные устройства.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E0D55BAF-7363-425A-81DC-3DD9460F505F}"/>
              </a:ext>
            </a:extLst>
          </p:cNvPr>
          <p:cNvSpPr txBox="1">
            <a:spLocks/>
          </p:cNvSpPr>
          <p:nvPr/>
        </p:nvSpPr>
        <p:spPr>
          <a:xfrm>
            <a:off x="566383" y="70884"/>
            <a:ext cx="6819796" cy="13326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altLang="en-GB" sz="3600" b="1" kern="0" spc="-1" dirty="0">
                <a:solidFill>
                  <a:schemeClr val="lt1"/>
                </a:solidFill>
                <a:latin typeface="Unbounded"/>
                <a:ea typeface="Unbounded"/>
              </a:rPr>
              <a:t>Ключевые факторы ранжирования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82294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A55DE-C533-4D65-942C-9B4733202B38}"/>
              </a:ext>
            </a:extLst>
          </p:cNvPr>
          <p:cNvSpPr txBox="1"/>
          <p:nvPr/>
        </p:nvSpPr>
        <p:spPr>
          <a:xfrm>
            <a:off x="955344" y="1554413"/>
            <a:ext cx="64485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 Ссылочный профиль</a:t>
            </a:r>
            <a:r>
              <a:rPr lang="en-US" sz="1400" dirty="0">
                <a:solidFill>
                  <a:schemeClr val="bg1"/>
                </a:solidFill>
                <a:latin typeface="Unbounded"/>
              </a:rPr>
              <a:t>/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ссылочная масса: количество и качество входящих ссылок (авторитетность).</a:t>
            </a:r>
            <a:endParaRPr lang="en-US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 Упоминания в социальных сетях.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 Брендовые запросы: узнаваемость бренда.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Unbounded"/>
              </a:rPr>
              <a:t> Настройка </a:t>
            </a:r>
            <a:r>
              <a:rPr lang="ru-RU" sz="1400" dirty="0" err="1">
                <a:solidFill>
                  <a:schemeClr val="bg1"/>
                </a:solidFill>
                <a:latin typeface="Unbounded"/>
              </a:rPr>
              <a:t>редиректов</a:t>
            </a: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nbounded"/>
              </a:rPr>
              <a:t>SSL-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сертификат (</a:t>
            </a:r>
            <a:r>
              <a:rPr lang="en-US" sz="1400" dirty="0">
                <a:solidFill>
                  <a:schemeClr val="bg1"/>
                </a:solidFill>
                <a:latin typeface="Unbounded"/>
              </a:rPr>
              <a:t>Https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)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E0D55BAF-7363-425A-81DC-3DD9460F505F}"/>
              </a:ext>
            </a:extLst>
          </p:cNvPr>
          <p:cNvSpPr txBox="1">
            <a:spLocks/>
          </p:cNvSpPr>
          <p:nvPr/>
        </p:nvSpPr>
        <p:spPr>
          <a:xfrm>
            <a:off x="566383" y="70884"/>
            <a:ext cx="6819796" cy="13326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altLang="en-GB" sz="3600" b="1" kern="0" spc="-1" dirty="0">
                <a:solidFill>
                  <a:schemeClr val="lt1"/>
                </a:solidFill>
                <a:latin typeface="Unbounded"/>
                <a:ea typeface="Unbounded"/>
              </a:rPr>
              <a:t>Ключевые факторы ранжирования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0688024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386</Words>
  <Application>Microsoft Office PowerPoint</Application>
  <PresentationFormat>Экран (16:9)</PresentationFormat>
  <Paragraphs>71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32</vt:i4>
      </vt:variant>
      <vt:variant>
        <vt:lpstr>Заголовки слайдов</vt:lpstr>
      </vt:variant>
      <vt:variant>
        <vt:i4>9</vt:i4>
      </vt:variant>
    </vt:vector>
  </HeadingPairs>
  <TitlesOfParts>
    <vt:vector size="50" baseType="lpstr">
      <vt:lpstr>Actor</vt:lpstr>
      <vt:lpstr>Arial</vt:lpstr>
      <vt:lpstr>Arial Unicode MS</vt:lpstr>
      <vt:lpstr>Atkinson Hyperlegible</vt:lpstr>
      <vt:lpstr>Calibri</vt:lpstr>
      <vt:lpstr>OpenSymbol</vt:lpstr>
      <vt:lpstr>Symbol</vt:lpstr>
      <vt:lpstr>Unbounded</vt:lpstr>
      <vt:lpstr>Wingdings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1_My Presentation Template</vt:lpstr>
      <vt:lpstr>Интернет-маркетинг: Разработка стратегии поискового продвижения</vt:lpstr>
      <vt:lpstr>Что такое SEO оптимизация и почему она важна?</vt:lpstr>
      <vt:lpstr>Что такое SEO оптимизация и почему она важна?</vt:lpstr>
      <vt:lpstr>Презентация PowerPoint</vt:lpstr>
      <vt:lpstr>Поисковые системы и их принцип работы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Продвижение в соцсетях</dc:title>
  <dc:creator>Natalia and the kids</dc:creator>
  <cp:lastModifiedBy>Natalia Knyshuk</cp:lastModifiedBy>
  <cp:revision>6</cp:revision>
  <dcterms:created xsi:type="dcterms:W3CDTF">2025-05-02T23:08:05Z</dcterms:created>
  <dcterms:modified xsi:type="dcterms:W3CDTF">2025-05-03T14:44:24Z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48C9A8EE70C30E2E55501568F5B1F0BF_43</vt:lpwstr>
  </property>
  <property fmtid="{D5CDD505-2E9C-101B-9397-08002B2CF9AE}" pid="4" name="KSOProductBuildVer">
    <vt:lpwstr>1033-6.11.0.8615</vt:lpwstr>
  </property>
</Properties>
</file>