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theme/theme3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</p:sldMasterIdLst>
  <p:notesMasterIdLst>
    <p:notesMasterId r:id="rId42"/>
  </p:notesMasterIdLst>
  <p:sldIdLst>
    <p:sldId id="256" r:id="rId33"/>
    <p:sldId id="268" r:id="rId34"/>
    <p:sldId id="259" r:id="rId35"/>
    <p:sldId id="270" r:id="rId36"/>
    <p:sldId id="271" r:id="rId37"/>
    <p:sldId id="262" r:id="rId38"/>
    <p:sldId id="263" r:id="rId39"/>
    <p:sldId id="261" r:id="rId40"/>
    <p:sldId id="258" r:id="rId41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7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2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5.xml"/><Relationship Id="rId40" Type="http://schemas.openxmlformats.org/officeDocument/2006/relationships/slide" Target="slides/slide8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3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tableStyles" Target="tableStyle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3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4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4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3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3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4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4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3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3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4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4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3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4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3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3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3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3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4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4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3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3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3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4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4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3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3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4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4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3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3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4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4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3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3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4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4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3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3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4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3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4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4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3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828720" y="672840"/>
            <a:ext cx="7486200" cy="206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2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Интернет-маркетинг: Структура и </a:t>
            </a:r>
            <a:r>
              <a:rPr lang="ru-RU" sz="5200" b="1" spc="-1" dirty="0">
                <a:solidFill>
                  <a:schemeClr val="lt1"/>
                </a:solidFill>
                <a:latin typeface="Unbounded"/>
                <a:ea typeface="Unbounded"/>
              </a:rPr>
              <a:t>д</a:t>
            </a:r>
            <a:r>
              <a:rPr lang="ru-RU" sz="52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изайн сайта</a:t>
            </a:r>
            <a:endParaRPr lang="fr-FR" sz="52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2305080" y="4052100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4433" lnSpcReduction="2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Изучение </a:t>
            </a:r>
            <a:r>
              <a:rPr lang="ru-RU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основных функциональных блоков сайта </a:t>
            </a:r>
            <a:r>
              <a:rPr lang="en-GB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и</a:t>
            </a:r>
            <a:r>
              <a:rPr lang="ru-RU" sz="1600" b="0" strike="noStrike" spc="-1" dirty="0">
                <a:solidFill>
                  <a:schemeClr val="lt1"/>
                </a:solidFill>
                <a:latin typeface="Actor"/>
                <a:ea typeface="Actor"/>
              </a:rPr>
              <a:t> влияния дизайна на восприятие пользователей.</a:t>
            </a:r>
            <a:endParaRPr lang="ru-RU" altLang="en-GB" sz="16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335" name="Google Shape;437;p35"/>
          <p:cNvSpPr/>
          <p:nvPr/>
        </p:nvSpPr>
        <p:spPr>
          <a:xfrm>
            <a:off x="3800075" y="321919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3420110" y="4784090"/>
            <a:ext cx="251841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800" b="0" u="sng" strike="noStrike" spc="-1">
                <a:solidFill>
                  <a:schemeClr val="lt1"/>
                </a:solidFill>
                <a:latin typeface="Actor"/>
                <a:ea typeface="Actor"/>
              </a:rPr>
              <a:t>By TimQwees Technology -  MandoMemori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2004478" y="2356082"/>
            <a:ext cx="5635442" cy="16018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ru-RU" sz="4000" strike="noStrike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Unbounded"/>
              </a:rPr>
              <a:t>Почему сайт – </a:t>
            </a:r>
            <a:r>
              <a:rPr lang="ru-RU" altLang="ru-RU" sz="4000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Unbounded"/>
              </a:rPr>
              <a:t>это</a:t>
            </a:r>
            <a:r>
              <a:rPr lang="ru-RU" altLang="ru-RU" sz="4000" strike="noStrike" spc="-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Unbounded"/>
              </a:rPr>
              <a:t> больше, чем просто веб-страница?</a:t>
            </a:r>
            <a:endParaRPr lang="en-US" altLang="ru-RU" sz="4000" strike="noStrike" spc="-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Unbounded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597944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</a:t>
            </a:r>
            <a:r>
              <a:rPr lang="ru-RU" alt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1</a:t>
            </a: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171440" y="1269242"/>
            <a:ext cx="6719705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36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Структура сайта. Основы и типы</a:t>
            </a: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969353" y="2470245"/>
            <a:ext cx="6993127" cy="12692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  <a:tabLst>
                <a:tab pos="0" algn="l"/>
              </a:tabLst>
            </a:pPr>
            <a:r>
              <a:rPr lang="ru-RU" sz="1500" dirty="0">
                <a:solidFill>
                  <a:schemeClr val="bg1"/>
                </a:solidFill>
                <a:latin typeface="Unbounded"/>
              </a:rPr>
              <a:t>Структура сайта – это логическое построение всех страниц и разделов ресурса. Благодаря ей пользователь понимает, где располагаются основные разделы сайта, как перемещаться между страницами или вернуться на главную. Визуально структуру можно представить в виде схемы.</a:t>
            </a:r>
          </a:p>
          <a:p>
            <a:pPr algn="l">
              <a:lnSpc>
                <a:spcPct val="100000"/>
              </a:lnSpc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  <a:p>
            <a:pPr algn="l">
              <a:lnSpc>
                <a:spcPct val="100000"/>
              </a:lnSpc>
              <a:tabLst>
                <a:tab pos="0" algn="l"/>
              </a:tabLst>
            </a:pPr>
            <a:endParaRPr lang="ru-RU" sz="1500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041872" cy="91440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86854" y="569340"/>
            <a:ext cx="7304291" cy="8242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36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Структура сайта. Основы и типы</a:t>
            </a:r>
          </a:p>
        </p:txBody>
      </p:sp>
      <p:sp>
        <p:nvSpPr>
          <p:cNvPr id="358" name="Google Shape;476;p38"/>
          <p:cNvSpPr/>
          <p:nvPr/>
        </p:nvSpPr>
        <p:spPr>
          <a:xfrm>
            <a:off x="3289110" y="4223880"/>
            <a:ext cx="205545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508064" y="429192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F66A7-290B-4716-A9CB-17EB019DD5AF}"/>
              </a:ext>
            </a:extLst>
          </p:cNvPr>
          <p:cNvSpPr txBox="1"/>
          <p:nvPr/>
        </p:nvSpPr>
        <p:spPr>
          <a:xfrm>
            <a:off x="6452627" y="1970519"/>
            <a:ext cx="1740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solidFill>
                  <a:schemeClr val="bg1"/>
                </a:solidFill>
                <a:latin typeface="Unbounded"/>
              </a:rPr>
              <a:t>Матрическая</a:t>
            </a:r>
            <a:endParaRPr lang="en-US" sz="1600" dirty="0">
              <a:solidFill>
                <a:schemeClr val="bg1"/>
              </a:solidFill>
              <a:latin typeface="Unbounde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6D07C7-3D5F-403F-8C4C-EA538DADD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91" y="2541776"/>
            <a:ext cx="2362120" cy="14974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87D2B9-8358-407C-A646-4AE4E31E26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954" y="2571750"/>
            <a:ext cx="2489089" cy="14689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3CA9F0-10D0-4D63-A01F-126512536816}"/>
              </a:ext>
            </a:extLst>
          </p:cNvPr>
          <p:cNvSpPr txBox="1"/>
          <p:nvPr/>
        </p:nvSpPr>
        <p:spPr>
          <a:xfrm>
            <a:off x="3555242" y="2054407"/>
            <a:ext cx="1740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Unbounded"/>
              </a:rPr>
              <a:t>Иерархическая</a:t>
            </a:r>
            <a:endParaRPr lang="en-US" sz="1600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236BE-855A-4773-A7FB-BA7D2B420B82}"/>
              </a:ext>
            </a:extLst>
          </p:cNvPr>
          <p:cNvSpPr txBox="1"/>
          <p:nvPr/>
        </p:nvSpPr>
        <p:spPr>
          <a:xfrm>
            <a:off x="900752" y="2054408"/>
            <a:ext cx="174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Unbounded"/>
              </a:rPr>
              <a:t>Линейная</a:t>
            </a:r>
            <a:endParaRPr lang="en-US" dirty="0">
              <a:solidFill>
                <a:schemeClr val="bg1"/>
              </a:solidFill>
              <a:latin typeface="Unbounded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EED32DE-5E15-4378-94E0-AC6635C65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3" y="2571750"/>
            <a:ext cx="2566955" cy="1467450"/>
          </a:xfrm>
          <a:prstGeom prst="rect">
            <a:avLst/>
          </a:prstGeom>
        </p:spPr>
      </p:pic>
      <p:grpSp>
        <p:nvGrpSpPr>
          <p:cNvPr id="27" name="Google Shape;478;p38">
            <a:extLst>
              <a:ext uri="{FF2B5EF4-FFF2-40B4-BE49-F238E27FC236}">
                <a16:creationId xmlns:a16="http://schemas.microsoft.com/office/drawing/2014/main" id="{A110ABA0-31E7-45DC-8F02-B0873D5DADF7}"/>
              </a:ext>
            </a:extLst>
          </p:cNvPr>
          <p:cNvGrpSpPr/>
          <p:nvPr/>
        </p:nvGrpSpPr>
        <p:grpSpPr>
          <a:xfrm rot="5622021">
            <a:off x="1573584" y="1471115"/>
            <a:ext cx="366308" cy="278651"/>
            <a:chOff x="316080" y="478800"/>
            <a:chExt cx="1159200" cy="793080"/>
          </a:xfrm>
        </p:grpSpPr>
        <p:cxnSp>
          <p:nvCxnSpPr>
            <p:cNvPr id="28" name="Google Shape;479;p38">
              <a:extLst>
                <a:ext uri="{FF2B5EF4-FFF2-40B4-BE49-F238E27FC236}">
                  <a16:creationId xmlns:a16="http://schemas.microsoft.com/office/drawing/2014/main" id="{BDA8D661-9D16-41F2-8C11-5F6B83E8E02E}"/>
                </a:ext>
              </a:extLst>
            </p:cNvPr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9" name="Google Shape;480;p38">
              <a:extLst>
                <a:ext uri="{FF2B5EF4-FFF2-40B4-BE49-F238E27FC236}">
                  <a16:creationId xmlns:a16="http://schemas.microsoft.com/office/drawing/2014/main" id="{857C0514-E0BC-4666-B0D7-296386ED6B6C}"/>
                </a:ext>
              </a:extLst>
            </p:cNvPr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0" name="Google Shape;481;p38">
              <a:extLst>
                <a:ext uri="{FF2B5EF4-FFF2-40B4-BE49-F238E27FC236}">
                  <a16:creationId xmlns:a16="http://schemas.microsoft.com/office/drawing/2014/main" id="{90F19881-993A-4B09-B4D8-812283CFBCE8}"/>
                </a:ext>
              </a:extLst>
            </p:cNvPr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31" name="Google Shape;478;p38">
            <a:extLst>
              <a:ext uri="{FF2B5EF4-FFF2-40B4-BE49-F238E27FC236}">
                <a16:creationId xmlns:a16="http://schemas.microsoft.com/office/drawing/2014/main" id="{7A78D0AC-BF50-4956-939B-6EA64E8147D9}"/>
              </a:ext>
            </a:extLst>
          </p:cNvPr>
          <p:cNvGrpSpPr/>
          <p:nvPr/>
        </p:nvGrpSpPr>
        <p:grpSpPr>
          <a:xfrm rot="3368241">
            <a:off x="4133680" y="1481927"/>
            <a:ext cx="366308" cy="278651"/>
            <a:chOff x="316080" y="478800"/>
            <a:chExt cx="1159200" cy="793080"/>
          </a:xfrm>
        </p:grpSpPr>
        <p:cxnSp>
          <p:nvCxnSpPr>
            <p:cNvPr id="32" name="Google Shape;479;p38">
              <a:extLst>
                <a:ext uri="{FF2B5EF4-FFF2-40B4-BE49-F238E27FC236}">
                  <a16:creationId xmlns:a16="http://schemas.microsoft.com/office/drawing/2014/main" id="{64F4C14C-4AE5-439D-9756-B1B95C9CB36E}"/>
                </a:ext>
              </a:extLst>
            </p:cNvPr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" name="Google Shape;480;p38">
              <a:extLst>
                <a:ext uri="{FF2B5EF4-FFF2-40B4-BE49-F238E27FC236}">
                  <a16:creationId xmlns:a16="http://schemas.microsoft.com/office/drawing/2014/main" id="{C7AB875C-CED4-4112-A367-D8C1EB8A6919}"/>
                </a:ext>
              </a:extLst>
            </p:cNvPr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" name="Google Shape;481;p38">
              <a:extLst>
                <a:ext uri="{FF2B5EF4-FFF2-40B4-BE49-F238E27FC236}">
                  <a16:creationId xmlns:a16="http://schemas.microsoft.com/office/drawing/2014/main" id="{90744F15-D20D-4D7E-A569-A13DA00350CD}"/>
                </a:ext>
              </a:extLst>
            </p:cNvPr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35" name="Google Shape;478;p38">
            <a:extLst>
              <a:ext uri="{FF2B5EF4-FFF2-40B4-BE49-F238E27FC236}">
                <a16:creationId xmlns:a16="http://schemas.microsoft.com/office/drawing/2014/main" id="{9E8832D3-8655-49A5-B906-2BF5941B7EC8}"/>
              </a:ext>
            </a:extLst>
          </p:cNvPr>
          <p:cNvGrpSpPr/>
          <p:nvPr/>
        </p:nvGrpSpPr>
        <p:grpSpPr>
          <a:xfrm rot="1623265">
            <a:off x="6653191" y="1455609"/>
            <a:ext cx="366308" cy="278651"/>
            <a:chOff x="316080" y="478800"/>
            <a:chExt cx="1159200" cy="793080"/>
          </a:xfrm>
        </p:grpSpPr>
        <p:cxnSp>
          <p:nvCxnSpPr>
            <p:cNvPr id="36" name="Google Shape;479;p38">
              <a:extLst>
                <a:ext uri="{FF2B5EF4-FFF2-40B4-BE49-F238E27FC236}">
                  <a16:creationId xmlns:a16="http://schemas.microsoft.com/office/drawing/2014/main" id="{7D62A800-00FF-4D4C-83B3-9EC2356FEE34}"/>
                </a:ext>
              </a:extLst>
            </p:cNvPr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" name="Google Shape;480;p38">
              <a:extLst>
                <a:ext uri="{FF2B5EF4-FFF2-40B4-BE49-F238E27FC236}">
                  <a16:creationId xmlns:a16="http://schemas.microsoft.com/office/drawing/2014/main" id="{E48EB234-D542-4584-8326-D9790F17B402}"/>
                </a:ext>
              </a:extLst>
            </p:cNvPr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" name="Google Shape;481;p38">
              <a:extLst>
                <a:ext uri="{FF2B5EF4-FFF2-40B4-BE49-F238E27FC236}">
                  <a16:creationId xmlns:a16="http://schemas.microsoft.com/office/drawing/2014/main" id="{6E6E965C-1D73-422F-A0E3-D906801A6607}"/>
                </a:ext>
              </a:extLst>
            </p:cNvPr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  <p:extLst>
      <p:ext uri="{BB962C8B-B14F-4D97-AF65-F5344CB8AC3E}">
        <p14:creationId xmlns:p14="http://schemas.microsoft.com/office/powerpoint/2010/main" val="148497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A55DE-C533-4D65-942C-9B4733202B38}"/>
              </a:ext>
            </a:extLst>
          </p:cNvPr>
          <p:cNvSpPr txBox="1"/>
          <p:nvPr/>
        </p:nvSpPr>
        <p:spPr>
          <a:xfrm>
            <a:off x="955344" y="1554413"/>
            <a:ext cx="644856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Unbounded"/>
              </a:rPr>
              <a:t>От структуры сайта зависят следующие показатели: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 </a:t>
            </a:r>
          </a:p>
          <a:p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Unbounded"/>
              </a:rPr>
              <a:t>Скорость индексации ресурса в </a:t>
            </a:r>
            <a:r>
              <a:rPr lang="ru-RU" sz="1400" b="1" dirty="0" err="1">
                <a:solidFill>
                  <a:schemeClr val="bg1"/>
                </a:solidFill>
                <a:latin typeface="Unbounded"/>
              </a:rPr>
              <a:t>Yandex</a:t>
            </a:r>
            <a:r>
              <a:rPr lang="ru-RU" sz="1400" b="1" dirty="0">
                <a:solidFill>
                  <a:schemeClr val="bg1"/>
                </a:solidFill>
                <a:latin typeface="Unbounded"/>
              </a:rPr>
              <a:t> и </a:t>
            </a:r>
            <a:r>
              <a:rPr lang="ru-RU" sz="1400" b="1" dirty="0" err="1">
                <a:solidFill>
                  <a:schemeClr val="bg1"/>
                </a:solidFill>
                <a:latin typeface="Unbounded"/>
              </a:rPr>
              <a:t>Google</a:t>
            </a:r>
            <a:r>
              <a:rPr lang="ru-RU" sz="1400" b="1" dirty="0">
                <a:solidFill>
                  <a:schemeClr val="bg1"/>
                </a:solidFill>
                <a:latin typeface="Unbounded"/>
              </a:rPr>
              <a:t>.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 Сайты с четкой и понятной структурой эффективнее сканируются поисковыми роботами и быстрее ранжируются. 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Unbounded"/>
              </a:rPr>
              <a:t>Распределение ссылочной массы.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 Грамотно построенная структура позволяет корректно распределить внутренний вес по страницам сайта. 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bg1"/>
              </a:solidFill>
              <a:latin typeface="Unbounded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bg1"/>
                </a:solidFill>
                <a:latin typeface="Unbounded"/>
              </a:rPr>
              <a:t>Улучшение поведенческих факторов.</a:t>
            </a:r>
            <a:r>
              <a:rPr lang="ru-RU" sz="1400" dirty="0">
                <a:solidFill>
                  <a:schemeClr val="bg1"/>
                </a:solidFill>
                <a:latin typeface="Unbounded"/>
              </a:rPr>
              <a:t> От удобства структуры зависит поведение пользователей внутри веб-сайта и время нахождения на нем. 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E0D55BAF-7363-425A-81DC-3DD9460F505F}"/>
              </a:ext>
            </a:extLst>
          </p:cNvPr>
          <p:cNvSpPr txBox="1">
            <a:spLocks/>
          </p:cNvSpPr>
          <p:nvPr/>
        </p:nvSpPr>
        <p:spPr>
          <a:xfrm>
            <a:off x="566383" y="559558"/>
            <a:ext cx="6819796" cy="6141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altLang="en-GB" sz="3600" b="1" kern="0" spc="-1" dirty="0">
                <a:solidFill>
                  <a:schemeClr val="lt1"/>
                </a:solidFill>
                <a:latin typeface="Unbounded"/>
                <a:ea typeface="Unbounded"/>
              </a:rPr>
              <a:t>Структура сайта. Основы и типы</a:t>
            </a:r>
          </a:p>
        </p:txBody>
      </p:sp>
    </p:spTree>
    <p:extLst>
      <p:ext uri="{BB962C8B-B14F-4D97-AF65-F5344CB8AC3E}">
        <p14:creationId xmlns:p14="http://schemas.microsoft.com/office/powerpoint/2010/main" val="382294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428840" y="2362320"/>
            <a:ext cx="6286320" cy="138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000" b="1" spc="-1" dirty="0">
                <a:solidFill>
                  <a:schemeClr val="lt1"/>
                </a:solidFill>
                <a:latin typeface="Unbounded"/>
                <a:ea typeface="Unbounded"/>
              </a:rPr>
              <a:t>Дизайн сайта. Основные тенденции</a:t>
            </a:r>
            <a:endParaRPr lang="fr-FR" sz="40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title"/>
          </p:nvPr>
        </p:nvSpPr>
        <p:spPr>
          <a:xfrm>
            <a:off x="3733920" y="771480"/>
            <a:ext cx="1676160" cy="13806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533870" y="1227493"/>
            <a:ext cx="4161790" cy="33599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5000"/>
          </a:bodyPr>
          <a:lstStyle/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Многочисленные исследования показали, что дизайн и оформление сайта оказывают значительное влияние на восприятие пользователей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altLang="ru-RU" sz="1400" spc="-1" dirty="0">
                <a:solidFill>
                  <a:schemeClr val="lt1"/>
                </a:solidFill>
                <a:latin typeface="Actor"/>
                <a:ea typeface="Actor"/>
              </a:rPr>
              <a:t>Дизайн – первое на что обращают внимание пользователи</a:t>
            </a:r>
            <a:endParaRPr lang="ru-RU" altLang="ru-RU" sz="14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  <a:p>
            <a:pPr marL="285750" indent="-28575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Первое впечатление о сайте и компании в целом посетитель делает после первых секунд пребывания на странице</a:t>
            </a:r>
          </a:p>
          <a:p>
            <a:pPr marL="285750" indent="-28575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altLang="ru-RU" sz="1400" spc="-1" dirty="0">
                <a:solidFill>
                  <a:schemeClr val="lt1"/>
                </a:solidFill>
                <a:latin typeface="Actor"/>
                <a:ea typeface="Actor"/>
              </a:rPr>
              <a:t>А</a:t>
            </a:r>
            <a:r>
              <a:rPr lang="ru-RU" altLang="ru-RU" sz="1400" b="0" strike="noStrike" spc="-1" dirty="0">
                <a:solidFill>
                  <a:schemeClr val="lt1"/>
                </a:solidFill>
                <a:latin typeface="Actor"/>
                <a:ea typeface="Actor"/>
              </a:rPr>
              <a:t>ккуратная типографика, высококачественные фотографии и удобная навигация значительно повышают уровень доверия посетителей к сайту</a:t>
            </a: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533870" y="2766765"/>
            <a:ext cx="4161960" cy="1133280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>
              <a:lnSpc>
                <a:spcPct val="100000"/>
              </a:lnSpc>
              <a:spcAft>
                <a:spcPts val="1600"/>
              </a:spcAft>
              <a:buNone/>
              <a:tabLst>
                <a:tab pos="0" algn="l"/>
              </a:tabLst>
            </a:pPr>
            <a:endParaRPr lang="en-US" altLang="ru-RU" sz="1200" b="0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F2A392-6633-4DBB-8212-531AD4C3C1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44" y="1539018"/>
            <a:ext cx="3577316" cy="233121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655DE6C1-4644-4345-B6A4-EEC4FC196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всего за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50 миллисекунд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14240" y="1584895"/>
            <a:ext cx="3577433" cy="5187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9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хорошего сайта:</a:t>
            </a:r>
            <a:endParaRPr lang="fr-FR" sz="29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714240" y="2136312"/>
            <a:ext cx="3526920" cy="22354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8196"/>
          </a:bodyPr>
          <a:lstStyle/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b="0" strike="noStrike" spc="-1" dirty="0">
                <a:solidFill>
                  <a:schemeClr val="lt1"/>
                </a:solidFill>
                <a:latin typeface="Actor"/>
              </a:rPr>
              <a:t>Скорость загрузки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spc="-1" dirty="0">
                <a:solidFill>
                  <a:schemeClr val="lt1"/>
                </a:solidFill>
                <a:latin typeface="Actor"/>
              </a:rPr>
              <a:t>Адаптивность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spc="-1" dirty="0">
                <a:solidFill>
                  <a:schemeClr val="lt1"/>
                </a:solidFill>
                <a:latin typeface="Actor"/>
              </a:rPr>
              <a:t>Удобный и интуитивно понятный интерфейс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spc="-1" dirty="0">
                <a:solidFill>
                  <a:schemeClr val="lt1"/>
                </a:solidFill>
                <a:latin typeface="Actor"/>
              </a:rPr>
              <a:t>Соответствие дизайна тематике сайта 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spc="-1" dirty="0">
                <a:solidFill>
                  <a:schemeClr val="lt1"/>
                </a:solidFill>
                <a:latin typeface="Actor"/>
              </a:rPr>
              <a:t>Доступность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  <a:buFont typeface="+mj-lt"/>
              <a:buAutoNum type="arabicPeriod"/>
              <a:tabLst>
                <a:tab pos="0" algn="l"/>
              </a:tabLst>
            </a:pPr>
            <a:endParaRPr lang="en-US" sz="14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FBA80F6D-59A2-4EE5-B5D4-98C21B28747E}"/>
              </a:ext>
            </a:extLst>
          </p:cNvPr>
          <p:cNvSpPr txBox="1">
            <a:spLocks/>
          </p:cNvSpPr>
          <p:nvPr/>
        </p:nvSpPr>
        <p:spPr>
          <a:xfrm>
            <a:off x="4745536" y="1584895"/>
            <a:ext cx="3010178" cy="5187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 lnSpcReduction="20000"/>
          </a:bodyPr>
          <a:lstStyle/>
          <a:p>
            <a:pPr>
              <a:tabLst>
                <a:tab pos="0" algn="l"/>
              </a:tabLst>
            </a:pPr>
            <a:r>
              <a:rPr lang="ru-RU" sz="2900" b="1" kern="0" spc="-1" dirty="0">
                <a:solidFill>
                  <a:schemeClr val="lt1"/>
                </a:solidFill>
                <a:latin typeface="Unbounded"/>
                <a:ea typeface="Unbounded"/>
              </a:rPr>
              <a:t>плохого сайта:</a:t>
            </a:r>
            <a:endParaRPr lang="fr-FR" sz="2900" kern="0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02ACD4E7-E1F1-4D76-A322-D77EE3BE4F8C}"/>
              </a:ext>
            </a:extLst>
          </p:cNvPr>
          <p:cNvSpPr txBox="1">
            <a:spLocks/>
          </p:cNvSpPr>
          <p:nvPr/>
        </p:nvSpPr>
        <p:spPr>
          <a:xfrm>
            <a:off x="4595762" y="2108960"/>
            <a:ext cx="3239972" cy="2262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8196" lnSpcReduction="20000"/>
          </a:bodyPr>
          <a:lstStyle/>
          <a:p>
            <a:pPr marL="342900" indent="-34290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Обилие рекламы, лишние всплывающие окна</a:t>
            </a:r>
          </a:p>
          <a:p>
            <a:pPr marL="342900" indent="-34290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Неудобная навигация</a:t>
            </a:r>
          </a:p>
          <a:p>
            <a:pPr marL="342900" indent="-34290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Большое количество </a:t>
            </a:r>
            <a:r>
              <a:rPr lang="ru-RU" sz="1400" kern="0" spc="-1" dirty="0" err="1">
                <a:solidFill>
                  <a:schemeClr val="lt1"/>
                </a:solidFill>
                <a:latin typeface="Actor"/>
              </a:rPr>
              <a:t>анимаций</a:t>
            </a: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, отвлекающих от главной информации </a:t>
            </a:r>
          </a:p>
          <a:p>
            <a:pPr marL="342900" indent="-34290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Несоответствие дизайна  ЦА</a:t>
            </a:r>
          </a:p>
          <a:p>
            <a:pPr marL="342900" indent="-342900">
              <a:spcAft>
                <a:spcPts val="1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400" kern="0" spc="-1" dirty="0">
                <a:solidFill>
                  <a:schemeClr val="lt1"/>
                </a:solidFill>
                <a:latin typeface="Actor"/>
              </a:rPr>
              <a:t>Плохая читабельность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  <a:tabLst>
                <a:tab pos="0" algn="l"/>
              </a:tabLst>
            </a:pPr>
            <a:endParaRPr lang="en-US" sz="1400" kern="0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1E38F6-8409-4D50-B942-C4B886B53891}"/>
              </a:ext>
            </a:extLst>
          </p:cNvPr>
          <p:cNvSpPr txBox="1"/>
          <p:nvPr/>
        </p:nvSpPr>
        <p:spPr>
          <a:xfrm>
            <a:off x="2743200" y="634073"/>
            <a:ext cx="2616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Unbounded"/>
              </a:rPr>
              <a:t>Признаки</a:t>
            </a:r>
            <a:endParaRPr lang="en-US" sz="3200" dirty="0">
              <a:solidFill>
                <a:schemeClr val="bg1"/>
              </a:solidFill>
              <a:latin typeface="Unbounded"/>
            </a:endParaRPr>
          </a:p>
        </p:txBody>
      </p:sp>
      <p:grpSp>
        <p:nvGrpSpPr>
          <p:cNvPr id="16" name="Google Shape;622;p49">
            <a:extLst>
              <a:ext uri="{FF2B5EF4-FFF2-40B4-BE49-F238E27FC236}">
                <a16:creationId xmlns:a16="http://schemas.microsoft.com/office/drawing/2014/main" id="{7E71FFAF-1536-4F8B-B681-07AE02C641F9}"/>
              </a:ext>
            </a:extLst>
          </p:cNvPr>
          <p:cNvGrpSpPr/>
          <p:nvPr/>
        </p:nvGrpSpPr>
        <p:grpSpPr>
          <a:xfrm rot="18029802">
            <a:off x="2366592" y="1194062"/>
            <a:ext cx="462800" cy="273210"/>
            <a:chOff x="4115880" y="4065480"/>
            <a:chExt cx="1159200" cy="793080"/>
          </a:xfrm>
        </p:grpSpPr>
        <p:cxnSp>
          <p:nvCxnSpPr>
            <p:cNvPr id="17" name="Google Shape;623;p49">
              <a:extLst>
                <a:ext uri="{FF2B5EF4-FFF2-40B4-BE49-F238E27FC236}">
                  <a16:creationId xmlns:a16="http://schemas.microsoft.com/office/drawing/2014/main" id="{B142F254-90E5-4FD1-8295-927E7C3D9882}"/>
                </a:ext>
              </a:extLst>
            </p:cNvPr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8" name="Google Shape;624;p49">
              <a:extLst>
                <a:ext uri="{FF2B5EF4-FFF2-40B4-BE49-F238E27FC236}">
                  <a16:creationId xmlns:a16="http://schemas.microsoft.com/office/drawing/2014/main" id="{184C153B-558E-4350-9F69-95DB8AEC1202}"/>
                </a:ext>
              </a:extLst>
            </p:cNvPr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19" name="Google Shape;625;p49">
              <a:extLst>
                <a:ext uri="{FF2B5EF4-FFF2-40B4-BE49-F238E27FC236}">
                  <a16:creationId xmlns:a16="http://schemas.microsoft.com/office/drawing/2014/main" id="{957CA01D-7A1F-4B93-B8BA-BAADFA972595}"/>
                </a:ext>
              </a:extLst>
            </p:cNvPr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20" name="Google Shape;622;p49">
            <a:extLst>
              <a:ext uri="{FF2B5EF4-FFF2-40B4-BE49-F238E27FC236}">
                <a16:creationId xmlns:a16="http://schemas.microsoft.com/office/drawing/2014/main" id="{77EB8163-C5F3-4D08-89D8-E1C26DCD7B94}"/>
              </a:ext>
            </a:extLst>
          </p:cNvPr>
          <p:cNvGrpSpPr/>
          <p:nvPr/>
        </p:nvGrpSpPr>
        <p:grpSpPr>
          <a:xfrm rot="11437197">
            <a:off x="5071472" y="1194441"/>
            <a:ext cx="462800" cy="273210"/>
            <a:chOff x="4115880" y="4065480"/>
            <a:chExt cx="1159200" cy="793080"/>
          </a:xfrm>
        </p:grpSpPr>
        <p:cxnSp>
          <p:nvCxnSpPr>
            <p:cNvPr id="21" name="Google Shape;623;p49">
              <a:extLst>
                <a:ext uri="{FF2B5EF4-FFF2-40B4-BE49-F238E27FC236}">
                  <a16:creationId xmlns:a16="http://schemas.microsoft.com/office/drawing/2014/main" id="{AB7492A4-7949-4F1B-9A69-390114F70199}"/>
                </a:ext>
              </a:extLst>
            </p:cNvPr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2" name="Google Shape;624;p49">
              <a:extLst>
                <a:ext uri="{FF2B5EF4-FFF2-40B4-BE49-F238E27FC236}">
                  <a16:creationId xmlns:a16="http://schemas.microsoft.com/office/drawing/2014/main" id="{41ABC75C-6181-456C-9EEF-12253EA0FEFD}"/>
                </a:ext>
              </a:extLst>
            </p:cNvPr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3" name="Google Shape;625;p49">
              <a:extLst>
                <a:ext uri="{FF2B5EF4-FFF2-40B4-BE49-F238E27FC236}">
                  <a16:creationId xmlns:a16="http://schemas.microsoft.com/office/drawing/2014/main" id="{4828C334-7ACC-4A59-98C6-042E510A9672}"/>
                </a:ext>
              </a:extLst>
            </p:cNvPr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grpSp>
        <p:nvGrpSpPr>
          <p:cNvPr id="9" name="Group 8"/>
          <p:cNvGrpSpPr/>
          <p:nvPr/>
        </p:nvGrpSpPr>
        <p:grpSpPr>
          <a:xfrm>
            <a:off x="4683365" y="1555147"/>
            <a:ext cx="1951990" cy="2668832"/>
            <a:chOff x="960" y="3030"/>
            <a:chExt cx="3074" cy="1880"/>
          </a:xfrm>
        </p:grpSpPr>
        <p:sp>
          <p:nvSpPr>
            <p:cNvPr id="2" name="Text Box 1"/>
            <p:cNvSpPr txBox="1"/>
            <p:nvPr/>
          </p:nvSpPr>
          <p:spPr>
            <a:xfrm>
              <a:off x="963" y="3030"/>
              <a:ext cx="3071" cy="5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Интерлиньяж и межстрочный интервал: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0" y="3674"/>
              <a:ext cx="2732" cy="12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Интерлиньяж рассчитывается как 120% от размера шрифта</a:t>
              </a:r>
            </a:p>
            <a:p>
              <a:pPr marL="285750" indent="-285750" algn="l">
                <a:buFontTx/>
                <a:buChar char="-"/>
              </a:pPr>
              <a:r>
                <a:rPr lang="ru-RU" altLang="en-US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Межстрочный интервал должен быть на 2-5 </a:t>
              </a:r>
              <a:r>
                <a:rPr lang="ru-RU" altLang="en-US" sz="1200" b="0" i="0" dirty="0" err="1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пунтков</a:t>
              </a:r>
              <a:r>
                <a:rPr lang="ru-RU" altLang="en-US" sz="1200" b="0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выше, чем размер шрифта</a:t>
              </a:r>
              <a:endParaRPr lang="en-US" altLang="en-US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19226" y="1995170"/>
            <a:ext cx="1806576" cy="2303328"/>
            <a:chOff x="963" y="3030"/>
            <a:chExt cx="3071" cy="3333"/>
          </a:xfrm>
        </p:grpSpPr>
        <p:sp>
          <p:nvSpPr>
            <p:cNvPr id="12" name="Text Box 11"/>
            <p:cNvSpPr txBox="1"/>
            <p:nvPr/>
          </p:nvSpPr>
          <p:spPr>
            <a:xfrm>
              <a:off x="963" y="3030"/>
              <a:ext cx="3071" cy="8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Контрастность и выравнивание:</a:t>
              </a:r>
              <a:endParaRPr lang="en-US" altLang="en-US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076" y="3824"/>
              <a:ext cx="2732" cy="2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Коэффициент контраста должен быть не менее 4.5:1</a:t>
              </a:r>
            </a:p>
            <a:p>
              <a:pPr marL="171450" indent="-171450" algn="l">
                <a:buFontTx/>
                <a:buChar char="-"/>
              </a:pPr>
              <a:r>
                <a:rPr lang="ru-RU" altLang="en-US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При выравнивании текста стоит учитывать особенности языка</a:t>
              </a:r>
              <a:endParaRPr lang="en-US" altLang="en-US" sz="120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  <a:p>
              <a:pPr marL="171450" indent="-171450" algn="l">
                <a:buFontTx/>
                <a:buChar char="-"/>
              </a:pPr>
              <a:endParaRPr lang="en-US" altLang="en-US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44475" y="1995170"/>
            <a:ext cx="1950085" cy="2073910"/>
            <a:chOff x="963" y="3030"/>
            <a:chExt cx="3071" cy="3266"/>
          </a:xfrm>
        </p:grpSpPr>
        <p:sp>
          <p:nvSpPr>
            <p:cNvPr id="15" name="Text Box 14"/>
            <p:cNvSpPr txBox="1"/>
            <p:nvPr/>
          </p:nvSpPr>
          <p:spPr>
            <a:xfrm>
              <a:off x="963" y="3030"/>
              <a:ext cx="3071" cy="531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ru-RU" altLang="zh-CN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Типографика:</a:t>
              </a:r>
              <a:endParaRPr lang="en-US" altLang="zh-CN" sz="1600" b="1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076" y="3824"/>
              <a:ext cx="2732" cy="24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Грамотно подобранные шрифты</a:t>
              </a:r>
            </a:p>
            <a:p>
              <a:pPr marL="285750" indent="-2857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Соответствие общей стилистики, тональности</a:t>
              </a:r>
            </a:p>
            <a:p>
              <a:pPr marL="285750" indent="-2857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Учет исторического периода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39340" y="1575171"/>
            <a:ext cx="2094230" cy="1996148"/>
            <a:chOff x="965" y="3030"/>
            <a:chExt cx="3298" cy="2594"/>
          </a:xfrm>
        </p:grpSpPr>
        <p:sp>
          <p:nvSpPr>
            <p:cNvPr id="18" name="Text Box 17"/>
            <p:cNvSpPr txBox="1"/>
            <p:nvPr/>
          </p:nvSpPr>
          <p:spPr>
            <a:xfrm>
              <a:off x="965" y="3030"/>
              <a:ext cx="3298" cy="921"/>
            </a:xfrm>
            <a:prstGeom prst="rect">
              <a:avLst/>
            </a:prstGeom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marL="0" indent="0" algn="l"/>
              <a:r>
                <a:rPr lang="ru-RU" altLang="en-US" sz="1600" b="1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Размерность шрифта (Кегль):</a:t>
              </a:r>
              <a:r>
                <a:rPr lang="en-US" altLang="en-US" sz="1600" b="1" i="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 </a:t>
              </a:r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076" y="3824"/>
              <a:ext cx="2732" cy="18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Оптимальная размерность 14-16 </a:t>
              </a:r>
              <a:r>
                <a:rPr lang="en-US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px</a:t>
              </a:r>
              <a:endParaRPr lang="ru-RU" altLang="zh-CN" sz="120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  <a:p>
              <a:pPr marL="171450" indent="-171450" algn="l">
                <a:buFontTx/>
                <a:buChar char="-"/>
              </a:pPr>
              <a:r>
                <a:rPr lang="ru-RU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Размеры для разных типов текста рассчитываются по формуле: </a:t>
              </a:r>
              <a:r>
                <a:rPr lang="en-US" altLang="zh-CN" sz="1200" dirty="0">
                  <a:solidFill>
                    <a:srgbClr val="FFFFFF"/>
                  </a:solidFill>
                  <a:latin typeface="Atkinson Hyperlegible"/>
                  <a:ea typeface="Atkinson Hyperlegible"/>
                </a:rPr>
                <a:t>X * 1,2 = N</a:t>
              </a:r>
              <a:endParaRPr lang="en-US" altLang="zh-CN" sz="1200" b="0" i="0" dirty="0">
                <a:solidFill>
                  <a:srgbClr val="FFFFFF"/>
                </a:solidFill>
                <a:latin typeface="Atkinson Hyperlegible"/>
                <a:ea typeface="Atkinson Hyperlegible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DBE645E-3561-4B1C-816A-EC33F4E9CB5B}"/>
              </a:ext>
            </a:extLst>
          </p:cNvPr>
          <p:cNvSpPr txBox="1"/>
          <p:nvPr/>
        </p:nvSpPr>
        <p:spPr>
          <a:xfrm>
            <a:off x="2409826" y="634073"/>
            <a:ext cx="4039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Unbounded"/>
              </a:rPr>
              <a:t>Стандарты в дизайне</a:t>
            </a:r>
            <a:endParaRPr lang="en-US" sz="3200" dirty="0">
              <a:solidFill>
                <a:schemeClr val="bg1"/>
              </a:solidFill>
              <a:latin typeface="Unb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346</Words>
  <Application>Microsoft Office PowerPoint</Application>
  <PresentationFormat>Экран (16:9)</PresentationFormat>
  <Paragraphs>53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32</vt:i4>
      </vt:variant>
      <vt:variant>
        <vt:lpstr>Заголовки слайдов</vt:lpstr>
      </vt:variant>
      <vt:variant>
        <vt:i4>9</vt:i4>
      </vt:variant>
    </vt:vector>
  </HeadingPairs>
  <TitlesOfParts>
    <vt:vector size="50" baseType="lpstr">
      <vt:lpstr>Actor</vt:lpstr>
      <vt:lpstr>Arial</vt:lpstr>
      <vt:lpstr>Arial Unicode MS</vt:lpstr>
      <vt:lpstr>Atkinson Hyperlegible</vt:lpstr>
      <vt:lpstr>Calibri</vt:lpstr>
      <vt:lpstr>OpenSymbol</vt:lpstr>
      <vt:lpstr>Symbol</vt:lpstr>
      <vt:lpstr>Unbounded</vt:lpstr>
      <vt:lpstr>Wingdings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1_My Presentation Template</vt:lpstr>
      <vt:lpstr>Интернет-маркетинг: Структура и дизайн сайта</vt:lpstr>
      <vt:lpstr>Почему сайт – это больше, чем просто веб-страница?</vt:lpstr>
      <vt:lpstr>Структура сайта. Основы и типы</vt:lpstr>
      <vt:lpstr>Структура сайта. Основы и типы</vt:lpstr>
      <vt:lpstr>Презентация PowerPoint</vt:lpstr>
      <vt:lpstr>Дизайн сайта. Основные тенденции</vt:lpstr>
      <vt:lpstr>Презентация PowerPoint</vt:lpstr>
      <vt:lpstr>хорошего сайта: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Продвижение в соцсетях</dc:title>
  <dc:creator>Natalia and the kids</dc:creator>
  <cp:lastModifiedBy>Natalia Knyshuk</cp:lastModifiedBy>
  <cp:revision>5</cp:revision>
  <dcterms:created xsi:type="dcterms:W3CDTF">2025-05-02T23:08:05Z</dcterms:created>
  <dcterms:modified xsi:type="dcterms:W3CDTF">2025-05-03T13:13:25Z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48C9A8EE70C30E2E55501568F5B1F0BF_43</vt:lpwstr>
  </property>
  <property fmtid="{D5CDD505-2E9C-101B-9397-08002B2CF9AE}" pid="4" name="KSOProductBuildVer">
    <vt:lpwstr>1033-6.11.0.8615</vt:lpwstr>
  </property>
</Properties>
</file>