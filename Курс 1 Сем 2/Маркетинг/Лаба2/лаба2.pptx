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8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5" r:id="rId9"/>
    <p:sldId id="261" r:id="rId10"/>
    <p:sldId id="262" r:id="rId11"/>
    <p:sldId id="263" r:id="rId12"/>
  </p:sldIdLst>
  <p:sldSz cx="14630400" cy="8229600"/>
  <p:notesSz cx="8229600" cy="14630400"/>
  <p:embeddedFontLst>
    <p:embeddedFont>
      <p:font typeface="Prata" panose="00000500000000000000" pitchFamily="34" charset="0"/>
      <p:regular r:id="rId16"/>
    </p:embeddedFont>
    <p:embeddedFont>
      <p:font typeface="Prata" panose="00000500000000000000" pitchFamily="34" charset="-122"/>
      <p:regular r:id="rId17"/>
    </p:embeddedFont>
    <p:embeddedFont>
      <p:font typeface="Prata" panose="00000500000000000000" pitchFamily="34" charset="-120"/>
      <p:regular r:id="rId18"/>
    </p:embeddedFont>
    <p:embeddedFont>
      <p:font typeface="Raleway" pitchFamily="34" charset="0"/>
      <p:regular r:id="rId19"/>
    </p:embeddedFont>
    <p:embeddedFont>
      <p:font typeface="Raleway" pitchFamily="34" charset="-122"/>
      <p:regular r:id="rId20"/>
    </p:embeddedFont>
    <p:embeddedFont>
      <p:font typeface="Raleway" pitchFamily="34" charset="-12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5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21.png"/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94861"/>
            <a:ext cx="7556421" cy="2126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Основы интернет-маркетинга: сегментация и позиционирование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261360"/>
            <a:ext cx="7556421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Интернет-маркетинг требует глубокого понимания целевой аудитории и стратегического позиционирования продукта. Эффективная маркетинговая стратегия начинается с правильной сегментации аудитории и заканчивается точным позиционированием товара или услуги на рынке.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331023"/>
            <a:ext cx="7556421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 этой презентации мы рассмотрим ключевые подходы к сегментации целевой аудитории, методы маркетинговых исследований, алгоритмы описания целевой аудитории и стратегии позиционирования продукта в цифровой среде.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2484755" y="7719060"/>
            <a:ext cx="3035300" cy="3968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ru-RU" altLang="en-US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b</a:t>
            </a:r>
            <a:r>
              <a:rPr lang="en-US" altLang="ru-RU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y </a:t>
            </a:r>
            <a:r>
              <a:rPr lang="en-US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Tim Qwees</a:t>
            </a:r>
            <a:r>
              <a:rPr lang="ru-RU" altLang="en-US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 </a:t>
            </a:r>
            <a:r>
              <a:rPr lang="en-US" altLang="ru-RU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Technology</a:t>
            </a:r>
            <a:endParaRPr lang="en-US" altLang="ru-RU" b="1" dirty="0">
              <a:solidFill>
                <a:srgbClr val="CFCBBF"/>
              </a:solidFill>
              <a:latin typeface="Raleway Bold" pitchFamily="34" charset="0"/>
              <a:ea typeface="Raleway Bold" pitchFamily="34" charset="-122"/>
              <a:cs typeface="Raleway Bold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7944" y="879515"/>
            <a:ext cx="7748111" cy="12461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Маркетинговые подходы к сегментации аудитории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97944" y="2649022"/>
            <a:ext cx="448628" cy="448628"/>
          </a:xfrm>
          <a:prstGeom prst="roundRect">
            <a:avLst>
              <a:gd name="adj" fmla="val 6668"/>
            </a:avLst>
          </a:prstGeom>
          <a:solidFill>
            <a:srgbClr val="3A3B3C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16" y="2686407"/>
            <a:ext cx="299085" cy="3738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45883" y="2649022"/>
            <a:ext cx="3102054" cy="3115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FCBB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Разделение на сегменты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1345883" y="3080147"/>
            <a:ext cx="3126462" cy="1276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Деление аудитории на меньшие группы по характеристикам для создания таргетированных стратегий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4671655" y="2649022"/>
            <a:ext cx="448628" cy="448628"/>
          </a:xfrm>
          <a:prstGeom prst="roundRect">
            <a:avLst>
              <a:gd name="adj" fmla="val 6668"/>
            </a:avLst>
          </a:prstGeom>
          <a:solidFill>
            <a:srgbClr val="3A3B3C"/>
          </a:solidFill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427" y="2686407"/>
            <a:ext cx="299085" cy="3738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19593" y="2649022"/>
            <a:ext cx="3126462" cy="6231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FCBB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Демографические критерии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5319593" y="3391733"/>
            <a:ext cx="3126462" cy="9572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Возраст, пол, доход, образование и другие объективные показатели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697944" y="4780121"/>
            <a:ext cx="448628" cy="448628"/>
          </a:xfrm>
          <a:prstGeom prst="roundRect">
            <a:avLst>
              <a:gd name="adj" fmla="val 6668"/>
            </a:avLst>
          </a:prstGeom>
          <a:solidFill>
            <a:srgbClr val="3A3B3C"/>
          </a:solidFill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16" y="4817507"/>
            <a:ext cx="299085" cy="3738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45883" y="4780121"/>
            <a:ext cx="3221474" cy="3115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FCBB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Поведенческие критерии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1345883" y="5211247"/>
            <a:ext cx="7100173" cy="638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Анализ покупательского поведения, частоты использования продукта и лояльности к бренду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697944" y="6073735"/>
            <a:ext cx="7748111" cy="1276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Маркетинговый подход к сегментации основан на разделении общей аудитории на более мелкие группы по схожим характеристикам. Это позволяет создавать более персонализированные и эффективные маркетинговые кампании, которые точнее отвечают потребностям каждого сегмента.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2025-04-17 13.11.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29765" cy="823023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9610" y="848320"/>
            <a:ext cx="13128546" cy="6156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Психологические подходы к сегментации аудитории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173" y="1857970"/>
            <a:ext cx="2186345" cy="113514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816" y="2393037"/>
            <a:ext cx="277058" cy="3463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92447" y="2054900"/>
            <a:ext cx="3143012" cy="3078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Эмоциональные отклики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5292447" y="2480905"/>
            <a:ext cx="4151590" cy="315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Анализ эмоциональных реакций на продукт</a:t>
            </a:r>
            <a:endParaRPr lang="en-US" sz="1550" dirty="0"/>
          </a:p>
        </p:txBody>
      </p:sp>
      <p:sp>
        <p:nvSpPr>
          <p:cNvPr id="7" name="Shape 3"/>
          <p:cNvSpPr/>
          <p:nvPr/>
        </p:nvSpPr>
        <p:spPr>
          <a:xfrm>
            <a:off x="5144691" y="3008114"/>
            <a:ext cx="8746927" cy="11430"/>
          </a:xfrm>
          <a:prstGeom prst="roundRect">
            <a:avLst>
              <a:gd name="adj" fmla="val 258583"/>
            </a:avLst>
          </a:prstGeom>
          <a:solidFill>
            <a:srgbClr val="535455"/>
          </a:solidFill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941" y="3042285"/>
            <a:ext cx="4372808" cy="113514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816" y="3436620"/>
            <a:ext cx="277058" cy="34635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85679" y="3239214"/>
            <a:ext cx="2462927" cy="3078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Стиль жизни</a:t>
            </a:r>
            <a:endParaRPr lang="en-US" sz="1900" dirty="0"/>
          </a:p>
        </p:txBody>
      </p:sp>
      <p:sp>
        <p:nvSpPr>
          <p:cNvPr id="11" name="Text 5"/>
          <p:cNvSpPr/>
          <p:nvPr/>
        </p:nvSpPr>
        <p:spPr>
          <a:xfrm>
            <a:off x="6385679" y="3665220"/>
            <a:ext cx="4797862" cy="315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Изучение образа жизни и привычек потребителей</a:t>
            </a:r>
            <a:endParaRPr lang="en-US" sz="1550" dirty="0"/>
          </a:p>
        </p:txBody>
      </p:sp>
      <p:sp>
        <p:nvSpPr>
          <p:cNvPr id="12" name="Shape 6"/>
          <p:cNvSpPr/>
          <p:nvPr/>
        </p:nvSpPr>
        <p:spPr>
          <a:xfrm>
            <a:off x="6237923" y="4192429"/>
            <a:ext cx="7653695" cy="11430"/>
          </a:xfrm>
          <a:prstGeom prst="roundRect">
            <a:avLst>
              <a:gd name="adj" fmla="val 258583"/>
            </a:avLst>
          </a:prstGeom>
          <a:solidFill>
            <a:srgbClr val="535455"/>
          </a:solidFill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709" y="4226600"/>
            <a:ext cx="6559272" cy="113514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3697" y="4620935"/>
            <a:ext cx="277058" cy="34635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478911" y="4423529"/>
            <a:ext cx="2868811" cy="3078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Ценности и убеждения</a:t>
            </a:r>
            <a:endParaRPr lang="en-US" sz="1900" dirty="0"/>
          </a:p>
        </p:txBody>
      </p:sp>
      <p:sp>
        <p:nvSpPr>
          <p:cNvPr id="16" name="Text 8"/>
          <p:cNvSpPr/>
          <p:nvPr/>
        </p:nvSpPr>
        <p:spPr>
          <a:xfrm>
            <a:off x="7478911" y="4849535"/>
            <a:ext cx="4455200" cy="315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Понимание глубинных мотиваций и принципов</a:t>
            </a:r>
            <a:endParaRPr lang="en-US" sz="1550" dirty="0"/>
          </a:p>
        </p:txBody>
      </p:sp>
      <p:sp>
        <p:nvSpPr>
          <p:cNvPr id="17" name="Text 9"/>
          <p:cNvSpPr/>
          <p:nvPr/>
        </p:nvSpPr>
        <p:spPr>
          <a:xfrm>
            <a:off x="689610" y="5583317"/>
            <a:ext cx="13251180" cy="9458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Психологический подход к сегментации фокусируется на понимании глубинных мотиваций, потребностей и эмоциональных откликов потребителей. Использование психографических данных позволяет создать более точный портрет потребителя и предсказать его реакцию на различные маркетинговые стимулы.</a:t>
            </a:r>
            <a:endParaRPr lang="en-US" sz="1550" dirty="0"/>
          </a:p>
        </p:txBody>
      </p:sp>
      <p:sp>
        <p:nvSpPr>
          <p:cNvPr id="18" name="Text 10"/>
          <p:cNvSpPr/>
          <p:nvPr/>
        </p:nvSpPr>
        <p:spPr>
          <a:xfrm>
            <a:off x="689610" y="6750725"/>
            <a:ext cx="13251180" cy="6305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Этот подход особенно ценен для разработки эмоционально резонирующих маркетинговых сообщений, которые затрагивают не только рациональные, но и эмоциональные аспекты принятия решений.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2025-04-17 13.11.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29765" cy="823023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36865" y="528042"/>
            <a:ext cx="11798975" cy="5686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Методы составления портрета посетителя ресурса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152" y="2907863"/>
            <a:ext cx="8013978" cy="801397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012" y="5572661"/>
            <a:ext cx="307062" cy="38385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8152" y="2907863"/>
            <a:ext cx="8013978" cy="801397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1406" y="3946267"/>
            <a:ext cx="307062" cy="383858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8152" y="2907863"/>
            <a:ext cx="8013978" cy="8013978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1575" y="3946267"/>
            <a:ext cx="307062" cy="383858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152" y="2907863"/>
            <a:ext cx="8013978" cy="8013978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7968" y="5572661"/>
            <a:ext cx="307062" cy="383858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636865" y="7119461"/>
            <a:ext cx="13356669" cy="5819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Составление точного портрета посетителя ресурса требует комплексного подхода и использования различных методов сбора и анализа данных. Комбинирование количественных данных из веб-аналитики с качественными данными из опросов позволяет создать наиболее полную картину.</a:t>
            </a:r>
            <a:endParaRPr lang="en-US" sz="1400" dirty="0"/>
          </a:p>
        </p:txBody>
      </p:sp>
      <p:sp>
        <p:nvSpPr>
          <p:cNvPr id="12" name="Text 2"/>
          <p:cNvSpPr/>
          <p:nvPr/>
        </p:nvSpPr>
        <p:spPr>
          <a:xfrm>
            <a:off x="1066681" y="2761655"/>
            <a:ext cx="2274689" cy="284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Веб-аналитика</a:t>
            </a:r>
            <a:endParaRPr lang="en-US" sz="1750" dirty="0"/>
          </a:p>
        </p:txBody>
      </p:sp>
      <p:sp>
        <p:nvSpPr>
          <p:cNvPr id="13" name="Text 3"/>
          <p:cNvSpPr/>
          <p:nvPr/>
        </p:nvSpPr>
        <p:spPr>
          <a:xfrm>
            <a:off x="636865" y="3155156"/>
            <a:ext cx="3134439" cy="8729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Использование инструментов типа Google Analytics для анализа поведения на сайте</a:t>
            </a:r>
            <a:endParaRPr lang="en-US" sz="1400" dirty="0"/>
          </a:p>
        </p:txBody>
      </p:sp>
      <p:sp>
        <p:nvSpPr>
          <p:cNvPr id="14" name="Text 4"/>
          <p:cNvSpPr/>
          <p:nvPr/>
        </p:nvSpPr>
        <p:spPr>
          <a:xfrm>
            <a:off x="4451390" y="1460540"/>
            <a:ext cx="2320052" cy="284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Опросы и интервью</a:t>
            </a:r>
            <a:endParaRPr lang="en-US" sz="1750" dirty="0"/>
          </a:p>
        </p:txBody>
      </p:sp>
      <p:sp>
        <p:nvSpPr>
          <p:cNvPr id="15" name="Text 5"/>
          <p:cNvSpPr/>
          <p:nvPr/>
        </p:nvSpPr>
        <p:spPr>
          <a:xfrm>
            <a:off x="4044196" y="1854041"/>
            <a:ext cx="3134558" cy="8729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Прямой сбор данных от пользователей для понимания их потребностей</a:t>
            </a:r>
            <a:endParaRPr lang="en-US" sz="1400" dirty="0"/>
          </a:p>
        </p:txBody>
      </p:sp>
      <p:sp>
        <p:nvSpPr>
          <p:cNvPr id="16" name="Text 6"/>
          <p:cNvSpPr/>
          <p:nvPr/>
        </p:nvSpPr>
        <p:spPr>
          <a:xfrm>
            <a:off x="7693104" y="1751528"/>
            <a:ext cx="2651403" cy="284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Поведенческий анализ</a:t>
            </a:r>
            <a:endParaRPr lang="en-US" sz="1750" dirty="0"/>
          </a:p>
        </p:txBody>
      </p:sp>
      <p:sp>
        <p:nvSpPr>
          <p:cNvPr id="17" name="Text 7"/>
          <p:cNvSpPr/>
          <p:nvPr/>
        </p:nvSpPr>
        <p:spPr>
          <a:xfrm>
            <a:off x="7451646" y="2145030"/>
            <a:ext cx="3134439" cy="5819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Изучение действий пользователей на сайте и в процессе покупки</a:t>
            </a:r>
            <a:endParaRPr lang="en-US" sz="1400" dirty="0"/>
          </a:p>
        </p:txBody>
      </p:sp>
      <p:sp>
        <p:nvSpPr>
          <p:cNvPr id="18" name="Text 8"/>
          <p:cNvSpPr/>
          <p:nvPr/>
        </p:nvSpPr>
        <p:spPr>
          <a:xfrm>
            <a:off x="10935414" y="3052643"/>
            <a:ext cx="2981682" cy="284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Демографический анализ</a:t>
            </a:r>
            <a:endParaRPr lang="en-US" sz="1750" dirty="0"/>
          </a:p>
        </p:txBody>
      </p:sp>
      <p:sp>
        <p:nvSpPr>
          <p:cNvPr id="19" name="Text 9"/>
          <p:cNvSpPr/>
          <p:nvPr/>
        </p:nvSpPr>
        <p:spPr>
          <a:xfrm>
            <a:off x="10858976" y="3446145"/>
            <a:ext cx="3134558" cy="5819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Сбор и анализ объективных характеристик аудитории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2025-04-17 13.11.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29765" cy="823023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36865" y="528042"/>
            <a:ext cx="11798975" cy="5686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ru-RU" altLang="en-US" sz="35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Целевая аудитория</a:t>
            </a:r>
            <a:r>
              <a:rPr lang="en-US" altLang="ru-RU" sz="35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 </a:t>
            </a:r>
            <a:endParaRPr lang="en-US" altLang="ru-RU" sz="3550" dirty="0">
              <a:solidFill>
                <a:srgbClr val="F2E782"/>
              </a:solidFill>
              <a:latin typeface="Prata" panose="00000500000000000000" pitchFamily="34" charset="0"/>
              <a:ea typeface="Prata" panose="00000500000000000000" pitchFamily="34" charset="-122"/>
              <a:cs typeface="Prata" panose="00000500000000000000" pitchFamily="34" charset="-12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242" y="2982158"/>
            <a:ext cx="8013978" cy="801397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80000">
            <a:off x="2981762" y="2777688"/>
            <a:ext cx="8013978" cy="8013978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962" y="2951678"/>
            <a:ext cx="8013978" cy="8013978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636865" y="7119461"/>
            <a:ext cx="13356669" cy="5819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Составление точного портрета посетителя ресурса требует комплексного подхода и использования различных методов сбора и анализа данных. Комбинирование количественных данных из веб-аналитики с качественными данными из опросов позволяет создать наиболее полную картину.</a:t>
            </a:r>
            <a:endParaRPr lang="en-US" sz="1400" dirty="0"/>
          </a:p>
        </p:txBody>
      </p:sp>
      <p:sp>
        <p:nvSpPr>
          <p:cNvPr id="12" name="Text 2"/>
          <p:cNvSpPr/>
          <p:nvPr/>
        </p:nvSpPr>
        <p:spPr>
          <a:xfrm>
            <a:off x="1066681" y="2221270"/>
            <a:ext cx="2274689" cy="284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ru-RU" altLang="en-US" sz="17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Артем</a:t>
            </a:r>
            <a:endParaRPr lang="ru-RU" altLang="en-US" sz="1750" dirty="0">
              <a:solidFill>
                <a:srgbClr val="F2E782"/>
              </a:solidFill>
              <a:latin typeface="Prata" panose="00000500000000000000" pitchFamily="34" charset="0"/>
              <a:ea typeface="Prata" panose="00000500000000000000" pitchFamily="34" charset="-122"/>
              <a:cs typeface="Prata" panose="00000500000000000000" pitchFamily="34" charset="-120"/>
            </a:endParaRPr>
          </a:p>
        </p:txBody>
      </p:sp>
      <p:sp>
        <p:nvSpPr>
          <p:cNvPr id="13" name="Text 3"/>
          <p:cNvSpPr/>
          <p:nvPr/>
        </p:nvSpPr>
        <p:spPr>
          <a:xfrm>
            <a:off x="372745" y="2818130"/>
            <a:ext cx="4346575" cy="1173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ru-RU" altLang="en-US" sz="140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  <a:sym typeface="+mn-ea"/>
              </a:rPr>
              <a:t>Портерт</a:t>
            </a:r>
            <a:r>
              <a:rPr lang="en-US" altLang="ru-RU" sz="1400" dirty="0">
                <a:solidFill>
                  <a:schemeClr val="bg1"/>
                </a:solidFill>
              </a:rPr>
              <a:t>: (</a:t>
            </a:r>
            <a:r>
              <a:rPr lang="ru-RU" altLang="en-US" sz="1400" dirty="0">
                <a:solidFill>
                  <a:schemeClr val="bg1"/>
                </a:solidFill>
              </a:rPr>
              <a:t>Молодой чеовек</a:t>
            </a:r>
            <a:r>
              <a:rPr lang="en-US" altLang="ru-RU" sz="1400" dirty="0">
                <a:solidFill>
                  <a:schemeClr val="bg1"/>
                </a:solidFill>
              </a:rPr>
              <a:t> </a:t>
            </a:r>
            <a:r>
              <a:rPr lang="ru-RU" altLang="en-US" sz="1400" dirty="0">
                <a:solidFill>
                  <a:schemeClr val="bg1"/>
                </a:solidFill>
              </a:rPr>
              <a:t>в деловом костьюме</a:t>
            </a:r>
            <a:r>
              <a:rPr lang="en-US" altLang="ru-RU" sz="1400" dirty="0">
                <a:solidFill>
                  <a:schemeClr val="bg1"/>
                </a:solidFill>
              </a:rPr>
              <a:t>)</a:t>
            </a:r>
            <a:endParaRPr lang="en-US" altLang="ru-RU" sz="1400" dirty="0">
              <a:solidFill>
                <a:schemeClr val="bg1"/>
              </a:solidFill>
            </a:endParaRPr>
          </a:p>
          <a:p>
            <a:pPr marL="0" indent="0" algn="ctr">
              <a:lnSpc>
                <a:spcPts val="2250"/>
              </a:lnSpc>
              <a:buNone/>
            </a:pPr>
            <a:r>
              <a:rPr lang="ru-RU" altLang="en-US" sz="140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  <a:sym typeface="+mn-ea"/>
              </a:rPr>
              <a:t>Сфера</a:t>
            </a:r>
            <a:r>
              <a:rPr lang="en-US" altLang="ru-RU" sz="1400" dirty="0">
                <a:solidFill>
                  <a:schemeClr val="bg1"/>
                </a:solidFill>
              </a:rPr>
              <a:t>: (</a:t>
            </a:r>
            <a:r>
              <a:rPr lang="ru-RU" altLang="en-US" sz="1400" dirty="0">
                <a:solidFill>
                  <a:schemeClr val="bg1"/>
                </a:solidFill>
              </a:rPr>
              <a:t>предприниматель/бизнесмен</a:t>
            </a:r>
            <a:r>
              <a:rPr lang="en-US" altLang="ru-RU" sz="1400" dirty="0">
                <a:solidFill>
                  <a:schemeClr val="bg1"/>
                </a:solidFill>
              </a:rPr>
              <a:t>).</a:t>
            </a:r>
            <a:endParaRPr lang="en-US" altLang="ru-RU" sz="1400" dirty="0">
              <a:solidFill>
                <a:schemeClr val="bg1"/>
              </a:solidFill>
            </a:endParaRPr>
          </a:p>
          <a:p>
            <a:pPr marL="0" indent="0" algn="ctr">
              <a:lnSpc>
                <a:spcPts val="2250"/>
              </a:lnSpc>
              <a:buNone/>
            </a:pPr>
            <a:r>
              <a:rPr lang="ru-RU" altLang="en-US" sz="140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  <a:sym typeface="+mn-ea"/>
              </a:rPr>
              <a:t>Ценности</a:t>
            </a:r>
            <a:r>
              <a:rPr lang="en-US" altLang="ru-RU" sz="1400" dirty="0">
                <a:solidFill>
                  <a:schemeClr val="bg1"/>
                </a:solidFill>
              </a:rPr>
              <a:t>: </a:t>
            </a:r>
            <a:r>
              <a:rPr lang="ru-RU" altLang="en-US" sz="1400" dirty="0">
                <a:solidFill>
                  <a:schemeClr val="bg1"/>
                </a:solidFill>
              </a:rPr>
              <a:t>ценит время</a:t>
            </a:r>
            <a:r>
              <a:rPr lang="en-US" altLang="ru-RU" sz="1400" dirty="0">
                <a:solidFill>
                  <a:schemeClr val="bg1"/>
                </a:solidFill>
              </a:rPr>
              <a:t>.</a:t>
            </a:r>
            <a:endParaRPr lang="en-US" altLang="ru-RU" sz="1400" dirty="0">
              <a:solidFill>
                <a:schemeClr val="bg1"/>
              </a:solidFill>
            </a:endParaRPr>
          </a:p>
          <a:p>
            <a:pPr marL="0" indent="0" algn="ctr">
              <a:lnSpc>
                <a:spcPts val="2250"/>
              </a:lnSpc>
              <a:buNone/>
            </a:pPr>
            <a:r>
              <a:rPr lang="ru-RU" altLang="en-US" sz="140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  <a:sym typeface="+mn-ea"/>
              </a:rPr>
              <a:t>Доход</a:t>
            </a:r>
            <a:r>
              <a:rPr lang="en-US" altLang="ru-RU" sz="1400" dirty="0">
                <a:solidFill>
                  <a:schemeClr val="bg1"/>
                </a:solidFill>
              </a:rPr>
              <a:t>: 300,000.</a:t>
            </a:r>
            <a:endParaRPr lang="en-US" altLang="ru-RU" sz="1400" dirty="0">
              <a:solidFill>
                <a:schemeClr val="bg1"/>
              </a:solidFill>
            </a:endParaRPr>
          </a:p>
        </p:txBody>
      </p:sp>
      <p:sp>
        <p:nvSpPr>
          <p:cNvPr id="14" name="Text 4"/>
          <p:cNvSpPr/>
          <p:nvPr/>
        </p:nvSpPr>
        <p:spPr>
          <a:xfrm>
            <a:off x="5915065" y="953810"/>
            <a:ext cx="2320052" cy="284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ru-RU" altLang="en-US" sz="17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Саша</a:t>
            </a:r>
            <a:endParaRPr lang="ru-RU" altLang="en-US" sz="1750" dirty="0">
              <a:solidFill>
                <a:srgbClr val="F2E782"/>
              </a:solidFill>
              <a:latin typeface="Prata" panose="00000500000000000000" pitchFamily="34" charset="0"/>
              <a:ea typeface="Prata" panose="00000500000000000000" pitchFamily="34" charset="-122"/>
              <a:cs typeface="Prata" panose="00000500000000000000" pitchFamily="34" charset="-120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0720784" y="2436693"/>
            <a:ext cx="2651403" cy="284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ru-RU" altLang="en-US" sz="17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Алина</a:t>
            </a:r>
            <a:endParaRPr lang="ru-RU" altLang="en-US" sz="1750" dirty="0">
              <a:solidFill>
                <a:srgbClr val="F2E782"/>
              </a:solidFill>
              <a:latin typeface="Prata" panose="00000500000000000000" pitchFamily="34" charset="0"/>
              <a:ea typeface="Prata" panose="00000500000000000000" pitchFamily="34" charset="-122"/>
              <a:cs typeface="Prata" panose="00000500000000000000" pitchFamily="34" charset="-120"/>
            </a:endParaRPr>
          </a:p>
        </p:txBody>
      </p:sp>
      <p:sp>
        <p:nvSpPr>
          <p:cNvPr id="21" name="Text 3"/>
          <p:cNvSpPr/>
          <p:nvPr/>
        </p:nvSpPr>
        <p:spPr>
          <a:xfrm>
            <a:off x="4901565" y="1379220"/>
            <a:ext cx="4346575" cy="117348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ctr">
              <a:lnSpc>
                <a:spcPts val="2250"/>
              </a:lnSpc>
              <a:buNone/>
            </a:pPr>
            <a:r>
              <a:rPr lang="ru-RU" altLang="en-US" sz="140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  <a:sym typeface="+mn-ea"/>
              </a:rPr>
              <a:t>Портерт</a:t>
            </a:r>
            <a:r>
              <a:rPr lang="en-US" altLang="ru-RU" sz="1400" dirty="0">
                <a:solidFill>
                  <a:schemeClr val="bg1"/>
                </a:solidFill>
              </a:rPr>
              <a:t>: (</a:t>
            </a:r>
            <a:r>
              <a:rPr lang="ru-RU" altLang="en-US" sz="1400" dirty="0">
                <a:solidFill>
                  <a:schemeClr val="bg1"/>
                </a:solidFill>
              </a:rPr>
              <a:t>Музчина в голубой футболке</a:t>
            </a:r>
            <a:r>
              <a:rPr lang="en-US" altLang="ru-RU" sz="1400" dirty="0">
                <a:solidFill>
                  <a:schemeClr val="bg1"/>
                </a:solidFill>
              </a:rPr>
              <a:t>)</a:t>
            </a:r>
            <a:endParaRPr lang="en-US" altLang="ru-RU" sz="1400" dirty="0">
              <a:solidFill>
                <a:schemeClr val="bg1"/>
              </a:solidFill>
            </a:endParaRPr>
          </a:p>
          <a:p>
            <a:pPr marL="0" indent="0" algn="ctr">
              <a:lnSpc>
                <a:spcPts val="2250"/>
              </a:lnSpc>
              <a:buNone/>
            </a:pPr>
            <a:r>
              <a:rPr lang="ru-RU" altLang="en-US" sz="140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  <a:sym typeface="+mn-ea"/>
              </a:rPr>
              <a:t>Сфера</a:t>
            </a:r>
            <a:r>
              <a:rPr lang="en-US" altLang="ru-RU" sz="1400" dirty="0">
                <a:solidFill>
                  <a:schemeClr val="bg1"/>
                </a:solidFill>
              </a:rPr>
              <a:t>: (</a:t>
            </a:r>
            <a:r>
              <a:rPr lang="ru-RU" altLang="en-US" sz="1400" dirty="0">
                <a:solidFill>
                  <a:schemeClr val="bg1"/>
                </a:solidFill>
              </a:rPr>
              <a:t>офисный и работник</a:t>
            </a:r>
            <a:r>
              <a:rPr lang="en-US" altLang="ru-RU" sz="1400" dirty="0">
                <a:solidFill>
                  <a:schemeClr val="bg1"/>
                </a:solidFill>
              </a:rPr>
              <a:t>).</a:t>
            </a:r>
            <a:endParaRPr lang="en-US" altLang="ru-RU" sz="1400" dirty="0">
              <a:solidFill>
                <a:schemeClr val="bg1"/>
              </a:solidFill>
            </a:endParaRPr>
          </a:p>
          <a:p>
            <a:pPr marL="0" indent="0" algn="ctr">
              <a:lnSpc>
                <a:spcPts val="2250"/>
              </a:lnSpc>
              <a:buNone/>
            </a:pPr>
            <a:r>
              <a:rPr lang="ru-RU" altLang="en-US" sz="140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  <a:sym typeface="+mn-ea"/>
              </a:rPr>
              <a:t>Ценности</a:t>
            </a:r>
            <a:r>
              <a:rPr lang="en-US" altLang="ru-RU" sz="1400" dirty="0">
                <a:solidFill>
                  <a:schemeClr val="bg1"/>
                </a:solidFill>
              </a:rPr>
              <a:t>: </a:t>
            </a:r>
            <a:r>
              <a:rPr lang="ru-RU" altLang="en-US" sz="1400" dirty="0">
                <a:solidFill>
                  <a:schemeClr val="bg1"/>
                </a:solidFill>
              </a:rPr>
              <a:t>карьера/семья/фин</a:t>
            </a:r>
            <a:r>
              <a:rPr lang="en-US" altLang="ru-RU" sz="1400" dirty="0">
                <a:solidFill>
                  <a:schemeClr val="bg1"/>
                </a:solidFill>
              </a:rPr>
              <a:t>.</a:t>
            </a:r>
            <a:r>
              <a:rPr lang="ru-RU" altLang="en-US" sz="1400" dirty="0">
                <a:solidFill>
                  <a:schemeClr val="bg1"/>
                </a:solidFill>
              </a:rPr>
              <a:t>стабилность</a:t>
            </a:r>
            <a:r>
              <a:rPr lang="en-US" altLang="ru-RU" sz="1400" dirty="0">
                <a:solidFill>
                  <a:schemeClr val="bg1"/>
                </a:solidFill>
              </a:rPr>
              <a:t>.</a:t>
            </a:r>
            <a:endParaRPr lang="en-US" altLang="ru-RU" sz="1400" dirty="0">
              <a:solidFill>
                <a:schemeClr val="bg1"/>
              </a:solidFill>
            </a:endParaRPr>
          </a:p>
          <a:p>
            <a:pPr marL="0" indent="0" algn="ctr">
              <a:lnSpc>
                <a:spcPts val="2250"/>
              </a:lnSpc>
              <a:buNone/>
            </a:pPr>
            <a:r>
              <a:rPr lang="ru-RU" altLang="en-US" sz="140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  <a:sym typeface="+mn-ea"/>
              </a:rPr>
              <a:t>Доход</a:t>
            </a:r>
            <a:r>
              <a:rPr lang="en-US" altLang="ru-RU" sz="1400" dirty="0">
                <a:solidFill>
                  <a:schemeClr val="bg1"/>
                </a:solidFill>
              </a:rPr>
              <a:t>: 170,000.</a:t>
            </a:r>
            <a:endParaRPr lang="en-US" altLang="ru-RU" sz="1400" dirty="0">
              <a:solidFill>
                <a:schemeClr val="bg1"/>
              </a:solidFill>
            </a:endParaRPr>
          </a:p>
        </p:txBody>
      </p:sp>
      <p:sp>
        <p:nvSpPr>
          <p:cNvPr id="22" name="Text 3"/>
          <p:cNvSpPr/>
          <p:nvPr/>
        </p:nvSpPr>
        <p:spPr>
          <a:xfrm>
            <a:off x="9872980" y="2835910"/>
            <a:ext cx="4346575" cy="1173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ru-RU" altLang="en-US" sz="140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  <a:sym typeface="+mn-ea"/>
              </a:rPr>
              <a:t>Портерт</a:t>
            </a:r>
            <a:r>
              <a:rPr lang="en-US" altLang="ru-RU" sz="1400" dirty="0">
                <a:solidFill>
                  <a:schemeClr val="bg1"/>
                </a:solidFill>
              </a:rPr>
              <a:t>: (</a:t>
            </a:r>
            <a:r>
              <a:rPr lang="ru-RU" altLang="en-US" sz="1400" dirty="0">
                <a:solidFill>
                  <a:schemeClr val="bg1"/>
                </a:solidFill>
              </a:rPr>
              <a:t>Девушка в пальто</a:t>
            </a:r>
            <a:r>
              <a:rPr lang="en-US" altLang="ru-RU" sz="1400" dirty="0">
                <a:solidFill>
                  <a:schemeClr val="bg1"/>
                </a:solidFill>
              </a:rPr>
              <a:t>)</a:t>
            </a:r>
            <a:endParaRPr lang="en-US" altLang="ru-RU" sz="1400" dirty="0">
              <a:solidFill>
                <a:schemeClr val="bg1"/>
              </a:solidFill>
            </a:endParaRPr>
          </a:p>
          <a:p>
            <a:pPr marL="0" indent="0" algn="ctr">
              <a:lnSpc>
                <a:spcPts val="2250"/>
              </a:lnSpc>
              <a:buNone/>
            </a:pPr>
            <a:r>
              <a:rPr lang="ru-RU" altLang="en-US" sz="140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  <a:sym typeface="+mn-ea"/>
              </a:rPr>
              <a:t>Сфера</a:t>
            </a:r>
            <a:r>
              <a:rPr lang="en-US" altLang="ru-RU" sz="1400" dirty="0">
                <a:solidFill>
                  <a:schemeClr val="bg1"/>
                </a:solidFill>
              </a:rPr>
              <a:t>: (</a:t>
            </a:r>
            <a:r>
              <a:rPr lang="ru-RU" altLang="en-US" sz="1400" dirty="0">
                <a:solidFill>
                  <a:schemeClr val="bg1"/>
                </a:solidFill>
              </a:rPr>
              <a:t>Сотрудница парфюмерного магазина</a:t>
            </a:r>
            <a:r>
              <a:rPr lang="en-US" altLang="ru-RU" sz="1400" dirty="0">
                <a:solidFill>
                  <a:schemeClr val="bg1"/>
                </a:solidFill>
              </a:rPr>
              <a:t>).</a:t>
            </a:r>
            <a:endParaRPr lang="en-US" altLang="ru-RU" sz="1400" dirty="0">
              <a:solidFill>
                <a:schemeClr val="bg1"/>
              </a:solidFill>
            </a:endParaRPr>
          </a:p>
          <a:p>
            <a:pPr marL="0" indent="0" algn="ctr">
              <a:lnSpc>
                <a:spcPts val="2250"/>
              </a:lnSpc>
              <a:buNone/>
            </a:pPr>
            <a:r>
              <a:rPr lang="ru-RU" altLang="en-US" sz="140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  <a:sym typeface="+mn-ea"/>
              </a:rPr>
              <a:t>Ценности</a:t>
            </a:r>
            <a:r>
              <a:rPr lang="en-US" altLang="ru-RU" sz="1400" dirty="0">
                <a:solidFill>
                  <a:schemeClr val="bg1"/>
                </a:solidFill>
              </a:rPr>
              <a:t>: </a:t>
            </a:r>
            <a:r>
              <a:rPr lang="ru-RU" altLang="en-US" sz="1400" dirty="0">
                <a:solidFill>
                  <a:schemeClr val="bg1"/>
                </a:solidFill>
              </a:rPr>
              <a:t>красота</a:t>
            </a:r>
            <a:r>
              <a:rPr lang="en-US" altLang="ru-RU" sz="1400" dirty="0">
                <a:solidFill>
                  <a:schemeClr val="bg1"/>
                </a:solidFill>
              </a:rPr>
              <a:t>, </a:t>
            </a:r>
            <a:r>
              <a:rPr lang="ru-RU" altLang="en-US" sz="1400" dirty="0">
                <a:solidFill>
                  <a:schemeClr val="bg1"/>
                </a:solidFill>
              </a:rPr>
              <a:t>мода</a:t>
            </a:r>
            <a:r>
              <a:rPr lang="en-US" altLang="ru-RU" sz="1400" dirty="0">
                <a:solidFill>
                  <a:schemeClr val="bg1"/>
                </a:solidFill>
              </a:rPr>
              <a:t>.</a:t>
            </a:r>
            <a:endParaRPr lang="en-US" altLang="ru-RU" sz="1400" dirty="0">
              <a:solidFill>
                <a:schemeClr val="bg1"/>
              </a:solidFill>
            </a:endParaRPr>
          </a:p>
          <a:p>
            <a:pPr marL="0" indent="0" algn="ctr">
              <a:lnSpc>
                <a:spcPts val="2250"/>
              </a:lnSpc>
              <a:buNone/>
            </a:pPr>
            <a:r>
              <a:rPr lang="ru-RU" altLang="en-US" sz="140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  <a:sym typeface="+mn-ea"/>
              </a:rPr>
              <a:t>Доход</a:t>
            </a:r>
            <a:r>
              <a:rPr lang="en-US" altLang="ru-RU" sz="1400" dirty="0">
                <a:solidFill>
                  <a:schemeClr val="bg1"/>
                </a:solidFill>
              </a:rPr>
              <a:t>: </a:t>
            </a:r>
            <a:r>
              <a:rPr lang="ru-RU" altLang="en-US" sz="1400" dirty="0">
                <a:solidFill>
                  <a:schemeClr val="bg1"/>
                </a:solidFill>
              </a:rPr>
              <a:t>120</a:t>
            </a:r>
            <a:r>
              <a:rPr lang="en-US" altLang="ru-RU" sz="1400" dirty="0">
                <a:solidFill>
                  <a:schemeClr val="bg1"/>
                </a:solidFill>
              </a:rPr>
              <a:t>,000.</a:t>
            </a:r>
            <a:endParaRPr lang="en-US" altLang="ru-RU" sz="1400" dirty="0">
              <a:solidFill>
                <a:schemeClr val="bg1"/>
              </a:solidFill>
            </a:endParaRPr>
          </a:p>
        </p:txBody>
      </p:sp>
      <p:sp>
        <p:nvSpPr>
          <p:cNvPr id="23" name="Text 4"/>
          <p:cNvSpPr/>
          <p:nvPr/>
        </p:nvSpPr>
        <p:spPr>
          <a:xfrm>
            <a:off x="5865535" y="6240185"/>
            <a:ext cx="2320052" cy="284321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ts val="2200"/>
              </a:lnSpc>
              <a:buNone/>
            </a:pPr>
            <a:r>
              <a:rPr lang="ru-RU" altLang="en-US" sz="17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Описание целевой аудиториии</a:t>
            </a:r>
            <a:endParaRPr lang="ru-RU" altLang="en-US" sz="1750" dirty="0">
              <a:solidFill>
                <a:srgbClr val="F2E782"/>
              </a:solidFill>
              <a:latin typeface="Prata" panose="00000500000000000000" pitchFamily="34" charset="0"/>
              <a:ea typeface="Prata" panose="00000500000000000000" pitchFamily="34" charset="-122"/>
              <a:cs typeface="Prata" panose="00000500000000000000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2025-04-17 13.11.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29765" cy="823023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82241" y="965240"/>
            <a:ext cx="13015793" cy="6984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Методы и типы маркетинговых исследований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2241" y="2222302"/>
            <a:ext cx="3165277" cy="3492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Методы исследований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82241" y="2794992"/>
            <a:ext cx="6260306" cy="357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Опросы и анкетирование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2241" y="3230761"/>
            <a:ext cx="6260306" cy="357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Фокус-группы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2241" y="3666530"/>
            <a:ext cx="6260306" cy="357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Наблюдение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82241" y="4102298"/>
            <a:ext cx="6260306" cy="357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Анализ вторичных данных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82241" y="4538067"/>
            <a:ext cx="6260306" cy="357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Онлайн-аналитика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5473" y="2222302"/>
            <a:ext cx="2796659" cy="3492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Типы исследований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7595473" y="2794992"/>
            <a:ext cx="6260306" cy="357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Количественные исследования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5473" y="3230761"/>
            <a:ext cx="6260306" cy="357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Качественные исследования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5473" y="3666530"/>
            <a:ext cx="6260306" cy="357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Вторичные исследования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5473" y="4102298"/>
            <a:ext cx="6260306" cy="357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Дескриптивные исследования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82241" y="5225177"/>
            <a:ext cx="13065919" cy="10726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Маркетинговые исследования являются фундаментом для принятия стратегических решений. Они позволяют собрать необходимую информацию о рынке, конкурентах и потребителях, что помогает снизить риски при запуске новых продуктов или при корректировке маркетинговой стратегии.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82241" y="6549152"/>
            <a:ext cx="13065919" cy="7150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Выбор метода исследования зависит от конкретных целей, бюджета и временных ограничений. Часто наиболее эффективным является комбинирование различных методов для получения наиболее полной картины.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2025-04-17 13.11.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29765" cy="8230235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193" y="850583"/>
            <a:ext cx="7963614" cy="10539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Алгоритм описания целевой аудитории</a:t>
            </a:r>
            <a:endParaRPr lang="en-US" sz="3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93" y="2157413"/>
            <a:ext cx="843082" cy="12409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86163" y="2326005"/>
            <a:ext cx="2611160" cy="2633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Сбор данных о клиентах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686163" y="2690455"/>
            <a:ext cx="6867644" cy="5393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Использование различных источников для сбора информации о существующих и потенциальных клиентах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93" y="3398401"/>
            <a:ext cx="843082" cy="10117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86163" y="3566993"/>
            <a:ext cx="2395180" cy="2633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Анализ и сегментация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1686163" y="3931444"/>
            <a:ext cx="6867644" cy="269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Выделение групп со схожими характеристиками на основе собранных данных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193" y="4410194"/>
            <a:ext cx="843082" cy="12409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86163" y="4578787"/>
            <a:ext cx="4106347" cy="2633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Создание профиля целевой аудитории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1686163" y="4943237"/>
            <a:ext cx="6867644" cy="5393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Формирование детального описания каждого сегмента, включая демографические, психографические и поведенческие характеристики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590193" y="5840849"/>
            <a:ext cx="7963614" cy="809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Точное описание целевой аудитории является ключевым элементом успешной маркетинговой стратегии. Алгоритм описания включает в себя сбор данных из различных источников, их анализ и сегментацию, а также создание детальных профилей для каждого сегмента.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590193" y="6839545"/>
            <a:ext cx="7963614" cy="5393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Чем более детальным и точным будет описание целевой аудитории, тем эффективнее будут маркетинговые коммуникации и тем выше будет конверсия маркетинговых кампаний.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2025-04-17 13.11.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29765" cy="823023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25924" y="700683"/>
            <a:ext cx="13178552" cy="12961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F2E782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Инструменты анализа конкурентов и целевые действия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5924" y="2411611"/>
            <a:ext cx="4254579" cy="2991564"/>
          </a:xfrm>
          <a:prstGeom prst="roundRect">
            <a:avLst>
              <a:gd name="adj" fmla="val 1040"/>
            </a:avLst>
          </a:prstGeom>
          <a:solidFill>
            <a:srgbClr val="3A3B3C"/>
          </a:solidFill>
        </p:spPr>
      </p:sp>
      <p:sp>
        <p:nvSpPr>
          <p:cNvPr id="4" name="Text 2"/>
          <p:cNvSpPr/>
          <p:nvPr/>
        </p:nvSpPr>
        <p:spPr>
          <a:xfrm>
            <a:off x="933331" y="2619018"/>
            <a:ext cx="3839766" cy="648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Инструменты анализа конкурентов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33331" y="3391614"/>
            <a:ext cx="3839766" cy="6636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SEMrush и SimilarWeb для анализа трафика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3331" y="4127778"/>
            <a:ext cx="3839766" cy="6636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BuzzSumo для анализа социальных сетей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3331" y="4863941"/>
            <a:ext cx="3839766" cy="3318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SEO-анализ конкурентных сайтов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87910" y="2411611"/>
            <a:ext cx="4254579" cy="2991564"/>
          </a:xfrm>
          <a:prstGeom prst="roundRect">
            <a:avLst>
              <a:gd name="adj" fmla="val 1040"/>
            </a:avLst>
          </a:prstGeom>
          <a:solidFill>
            <a:srgbClr val="3A3B3C"/>
          </a:solidFill>
        </p:spPr>
      </p:sp>
      <p:sp>
        <p:nvSpPr>
          <p:cNvPr id="9" name="Text 7"/>
          <p:cNvSpPr/>
          <p:nvPr/>
        </p:nvSpPr>
        <p:spPr>
          <a:xfrm>
            <a:off x="5395317" y="2619018"/>
            <a:ext cx="3839766" cy="648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Значение анализа конкурентов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95317" y="3391614"/>
            <a:ext cx="3839766" cy="13273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Помогает выявить лучшие практики, пробелы на рынке и возможности для дифференциации, создавая конкурентоспособные предложения.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49897" y="2411611"/>
            <a:ext cx="4254579" cy="2991564"/>
          </a:xfrm>
          <a:prstGeom prst="roundRect">
            <a:avLst>
              <a:gd name="adj" fmla="val 1040"/>
            </a:avLst>
          </a:prstGeom>
          <a:solidFill>
            <a:srgbClr val="3A3B3C"/>
          </a:solidFill>
        </p:spPr>
      </p:sp>
      <p:sp>
        <p:nvSpPr>
          <p:cNvPr id="12" name="Text 10"/>
          <p:cNvSpPr/>
          <p:nvPr/>
        </p:nvSpPr>
        <p:spPr>
          <a:xfrm>
            <a:off x="9857303" y="2619018"/>
            <a:ext cx="3839766" cy="648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Формирование целевого действия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857303" y="3391614"/>
            <a:ext cx="3839766" cy="16591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Определение желаемого действия от пользователя (покупка, подписка) и создание структуры сайта для мотивации совершения этого действия.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5924" y="5636419"/>
            <a:ext cx="13178552" cy="6636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Анализ конкурентов позволяет выявить их сильные и слабые стороны, что помогает в разработке собственной стратегии. Современные инструменты веб-аналитики предоставляют богатые возможности для сбора и анализа данных о конкурентах.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5924" y="6533317"/>
            <a:ext cx="13178552" cy="9954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Формирование требуемого целевого действия является конечной целью маркетинговой стратегии. Это включает в себя определение желаемого действия от пользователя и создание всех условий для того, чтобы мотивировать его на совершение этого действия.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5680</Words>
  <Application>WPS Spreadsheets</Application>
  <PresentationFormat>On-screen Show (16:9)</PresentationFormat>
  <Paragraphs>157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33" baseType="lpstr">
      <vt:lpstr>Arial</vt:lpstr>
      <vt:lpstr>SimSun</vt:lpstr>
      <vt:lpstr>Wingdings</vt:lpstr>
      <vt:lpstr>Prata</vt:lpstr>
      <vt:lpstr>Prata</vt:lpstr>
      <vt:lpstr>Prata</vt:lpstr>
      <vt:lpstr>Raleway</vt:lpstr>
      <vt:lpstr>Raleway</vt:lpstr>
      <vt:lpstr>Raleway</vt:lpstr>
      <vt:lpstr>Raleway Medium</vt:lpstr>
      <vt:lpstr>苹方-简</vt:lpstr>
      <vt:lpstr>Raleway Medium</vt:lpstr>
      <vt:lpstr>Raleway Medium</vt:lpstr>
      <vt:lpstr>Raleway Bold</vt:lpstr>
      <vt:lpstr>Raleway Bold</vt:lpstr>
      <vt:lpstr>Raleway Bold</vt:lpstr>
      <vt:lpstr>Calibri</vt:lpstr>
      <vt:lpstr>Helvetica Neue</vt:lpstr>
      <vt:lpstr>Microsoft YaHei</vt:lpstr>
      <vt:lpstr>汉仪旗黑</vt:lpstr>
      <vt:lpstr>Arial Unicode MS</vt:lpstr>
      <vt:lpstr>宋体-简</vt:lpstr>
      <vt:lpstr>汉仪书宋二KW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timqwees</cp:lastModifiedBy>
  <cp:revision>6</cp:revision>
  <dcterms:created xsi:type="dcterms:W3CDTF">2025-04-17T10:46:17Z</dcterms:created>
  <dcterms:modified xsi:type="dcterms:W3CDTF">2025-04-17T10:46:17Z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8C9A514E400E00E693D40068080408B8_43</vt:lpwstr>
  </property>
  <property fmtid="{D5CDD505-2E9C-101B-9397-08002B2CF9AE}" pid="3" name="KSOProductBuildVer">
    <vt:lpwstr>1033-6.11.0.8615</vt:lpwstr>
  </property>
</Properties>
</file>