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2A"/>
    <a:srgbClr val="8AFF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7CD7E6-8748-4201-844E-B7EB253760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111F305-AB62-46A1-8738-D2FDA6792D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99149E-FBCA-4E15-9170-3425DBA26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2E316-54AF-408B-99CB-787A8FA3CBA3}" type="datetimeFigureOut">
              <a:rPr lang="ru-RU" smtClean="0"/>
              <a:t>19.12.2024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ECD3D0E-15E1-4349-AABB-7C8A85F86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DFC01C3-DC94-4B9A-B061-715146A74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EB41B-8F2D-4681-A0D5-6F49476AE6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0021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D5AE8E-88E4-4AAB-86C4-3E025D9D8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9C59873-325B-4D61-A8B9-9CF25F4DC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52EF8D-9C16-42F3-A5AA-4B4F87744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2E316-54AF-408B-99CB-787A8FA3CBA3}" type="datetimeFigureOut">
              <a:rPr lang="ru-RU" smtClean="0"/>
              <a:t>19.12.2024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BBE47B4-CA55-4D9D-AAD7-0BBF8F47B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C67144E-28F5-4998-ADAE-B7EFD2FE1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EB41B-8F2D-4681-A0D5-6F49476AE6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3208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57A21E-9114-44D4-ADD7-D894FF191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9F7BF06-3168-4257-9FB0-148599AF1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8114CEF-F3AB-4544-8BC8-A07FB50FA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2E316-54AF-408B-99CB-787A8FA3CBA3}" type="datetimeFigureOut">
              <a:rPr lang="ru-RU" smtClean="0"/>
              <a:t>19.12.2024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292294A-3054-4465-9E9D-0748DC741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74B62D1-6652-480C-95EC-45CECCD3E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EB41B-8F2D-4681-A0D5-6F49476AE6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5457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E7A8D5-FCC1-4309-B57B-1219A7196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CD5DB7D-3B71-448B-A123-35FEACDE88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631B142-BD5C-4B68-97CA-345C99C610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FFF2533-0157-4EDE-9BBA-483C68BD1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2E316-54AF-408B-99CB-787A8FA3CBA3}" type="datetimeFigureOut">
              <a:rPr lang="ru-RU" smtClean="0"/>
              <a:t>19.12.2024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0C49815-A23D-446B-A6AA-B2A850BAC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BFB9FF7-A670-40F9-B2E4-10770A48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EB41B-8F2D-4681-A0D5-6F49476AE6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5054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237777-8851-4610-B510-1CC2F28FA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F7D6D06-2BDD-41FF-8E61-D247AB7B53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35404FF-BD3E-457C-932C-44CAF7799E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F5C8B1E-1E67-4519-94FB-797E2A6D88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FFE6BA8-4C59-409C-9F32-00DF518026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E42F0BF-3090-4879-BA66-23EC762F9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2E316-54AF-408B-99CB-787A8FA3CBA3}" type="datetimeFigureOut">
              <a:rPr lang="ru-RU" smtClean="0"/>
              <a:t>19.12.2024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6D8BAA0-A013-4063-B336-0F7E8137F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4DB2B7E-073F-464F-BA7B-EB1FC9703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EB41B-8F2D-4681-A0D5-6F49476AE6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1104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4ACEB9-4E11-4A6E-AE1F-9534F3BB4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E54EFDD-CBA5-4CEE-B93F-856CA1AD2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2E316-54AF-408B-99CB-787A8FA3CBA3}" type="datetimeFigureOut">
              <a:rPr lang="ru-RU" smtClean="0"/>
              <a:t>19.12.2024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ED3DDC7-1F17-46B5-B3E1-4CD606618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D80E945-0D78-4789-8FF6-273F957D1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EB41B-8F2D-4681-A0D5-6F49476AE6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2598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42F75B7-17B8-4A19-9E86-7DFE89A5A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2E316-54AF-408B-99CB-787A8FA3CBA3}" type="datetimeFigureOut">
              <a:rPr lang="ru-RU" smtClean="0"/>
              <a:t>19.12.2024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87E8F99-E4A6-480B-8256-7FCE2EAD5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9AD59EA-1432-4484-84F7-3BA55DE01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EB41B-8F2D-4681-A0D5-6F49476AE6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9963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7E6814-8B97-47A7-87DC-B12E3D3B9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8BF2263-8E9A-4047-813F-82A2200329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6402A81-8EA8-4D48-89F4-3869B05D07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863058B-3479-496E-B618-AD03149A4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2E316-54AF-408B-99CB-787A8FA3CBA3}" type="datetimeFigureOut">
              <a:rPr lang="ru-RU" smtClean="0"/>
              <a:t>19.12.2024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4A823CD-5E66-48FE-B176-7CAB4CA27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F67179F-5799-4437-873F-5D17A8A83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EB41B-8F2D-4681-A0D5-6F49476AE6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4842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8E41C0-154A-4043-BEBE-4C39F8B19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6B1628A-AC15-4F4F-84B5-4AB59BC9FB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A869BF6-70EC-4BF1-8611-01BEADB029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39D049F-427E-4890-88F1-C39E13E1E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2E316-54AF-408B-99CB-787A8FA3CBA3}" type="datetimeFigureOut">
              <a:rPr lang="ru-RU" smtClean="0"/>
              <a:t>19.12.2024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9F44AC8-D67C-4FB9-A3F8-53E6CEAC0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40C4B4E-1BE4-443C-A120-2E70B1BF8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EB41B-8F2D-4681-A0D5-6F49476AE6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6714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FAB7B6-03E3-4EFB-BCDD-26A86D9BD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09CE8EF-0973-4FD9-8C41-48FC438D74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A94CFE3-E4E6-4230-879C-929ED0100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2E316-54AF-408B-99CB-787A8FA3CBA3}" type="datetimeFigureOut">
              <a:rPr lang="ru-RU" smtClean="0"/>
              <a:t>19.12.2024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04E8CF2-10F4-4983-9692-3D71859F7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0FF46C8-F428-47BE-AE64-E96B5326D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EB41B-8F2D-4681-A0D5-6F49476AE6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669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E1DB8BC-4FBF-4354-AE43-79039EC348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1634764-185D-417A-B153-5A174CB945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1C5E9C7-6CD4-4EBE-97E5-5161D6750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2E316-54AF-408B-99CB-787A8FA3CBA3}" type="datetimeFigureOut">
              <a:rPr lang="ru-RU" smtClean="0"/>
              <a:t>19.12.2024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E97D220-E82D-42FB-835F-B6694A2B7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C55AF98-2D4C-4C40-BDBC-0866B9F1B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EB41B-8F2D-4681-A0D5-6F49476AE6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1118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8A6E04-F5DE-4B7C-87C5-21685C9A9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0E85770-640E-44E8-943F-AC8D239E17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DFAFF13-3609-430F-88C4-8959BBB7DB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82E316-54AF-408B-99CB-787A8FA3CBA3}" type="datetimeFigureOut">
              <a:rPr lang="ru-RU" smtClean="0"/>
              <a:t>19.12.2024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6B72E01-BEED-421F-90B7-C60EBAEE60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62F17A-35DC-42C8-BB20-09EEC8FF92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DEB41B-8F2D-4681-A0D5-6F49476AE6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2513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2877F3-A3AA-4592-B871-70C431C08B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82522"/>
            <a:ext cx="9144000" cy="1746478"/>
          </a:xfrm>
        </p:spPr>
        <p:txBody>
          <a:bodyPr/>
          <a:lstStyle/>
          <a:p>
            <a:r>
              <a:rPr lang="ru-RU" dirty="0"/>
              <a:t>Кривые второго порядка</a:t>
            </a:r>
            <a:br>
              <a:rPr lang="ru-RU" dirty="0"/>
            </a:br>
            <a:r>
              <a:rPr lang="ru-RU" dirty="0"/>
              <a:t>Эллипс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F66421-FF27-4AF4-B8B0-8401D6699364}"/>
              </a:ext>
            </a:extLst>
          </p:cNvPr>
          <p:cNvSpPr txBox="1"/>
          <p:nvPr/>
        </p:nvSpPr>
        <p:spPr>
          <a:xfrm>
            <a:off x="7910821" y="4898732"/>
            <a:ext cx="3120703" cy="107721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ru-RU" sz="1600" dirty="0"/>
              <a:t>Выполнили:</a:t>
            </a:r>
          </a:p>
          <a:p>
            <a:r>
              <a:rPr lang="ru-RU" sz="1600" dirty="0" err="1"/>
              <a:t>Каматали</a:t>
            </a:r>
            <a:r>
              <a:rPr lang="ru-RU" sz="1600" dirty="0"/>
              <a:t> Алина </a:t>
            </a:r>
            <a:r>
              <a:rPr lang="ru-RU" sz="1600" dirty="0" err="1"/>
              <a:t>Аароновна</a:t>
            </a:r>
            <a:endParaRPr lang="ru-RU" sz="1600" dirty="0"/>
          </a:p>
          <a:p>
            <a:r>
              <a:rPr lang="ru-RU" sz="1600" dirty="0"/>
              <a:t>Романов Александр Дмитриевич</a:t>
            </a:r>
          </a:p>
          <a:p>
            <a:r>
              <a:rPr lang="ru-RU" sz="1600" dirty="0"/>
              <a:t>Группа: 241-321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5CBE90-715A-44D9-88B5-FA69C1DC5DCF}"/>
              </a:ext>
            </a:extLst>
          </p:cNvPr>
          <p:cNvSpPr txBox="1"/>
          <p:nvPr/>
        </p:nvSpPr>
        <p:spPr>
          <a:xfrm>
            <a:off x="1160476" y="4898732"/>
            <a:ext cx="3973585" cy="107721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ru-RU" sz="1600" dirty="0"/>
              <a:t>Направление:</a:t>
            </a:r>
          </a:p>
          <a:p>
            <a:r>
              <a:rPr lang="ru-RU" sz="1600" dirty="0"/>
              <a:t>Информатика и вычислительная техника</a:t>
            </a:r>
          </a:p>
          <a:p>
            <a:r>
              <a:rPr lang="ru-RU" sz="1600" dirty="0"/>
              <a:t>Профиль: </a:t>
            </a:r>
          </a:p>
          <a:p>
            <a:r>
              <a:rPr lang="ru-RU" sz="1600" dirty="0"/>
              <a:t>Веб-технологии</a:t>
            </a:r>
          </a:p>
        </p:txBody>
      </p:sp>
    </p:spTree>
    <p:extLst>
      <p:ext uri="{BB962C8B-B14F-4D97-AF65-F5344CB8AC3E}">
        <p14:creationId xmlns:p14="http://schemas.microsoft.com/office/powerpoint/2010/main" val="134795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F8F7DB-D21D-457D-B537-D7FFDC131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3974" y="444672"/>
            <a:ext cx="2704052" cy="884835"/>
          </a:xfrm>
        </p:spPr>
        <p:txBody>
          <a:bodyPr/>
          <a:lstStyle/>
          <a:p>
            <a:pPr algn="ctr"/>
            <a:r>
              <a:rPr lang="ru-RU" dirty="0"/>
              <a:t>Кривые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7AACD11-7FD4-4C23-9C2B-0F9FE7DDA101}"/>
                  </a:ext>
                </a:extLst>
              </p:cNvPr>
              <p:cNvSpPr txBox="1"/>
              <p:nvPr/>
            </p:nvSpPr>
            <p:spPr>
              <a:xfrm>
                <a:off x="1879227" y="2256639"/>
                <a:ext cx="301164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2800" dirty="0"/>
                  <a:t>Первого порядка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𝑏𝑦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ru-RU" sz="20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7AACD11-7FD4-4C23-9C2B-0F9FE7DDA1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9227" y="2256639"/>
                <a:ext cx="3011648" cy="830997"/>
              </a:xfrm>
              <a:prstGeom prst="rect">
                <a:avLst/>
              </a:prstGeom>
              <a:blipFill>
                <a:blip r:embed="rId2"/>
                <a:stretch>
                  <a:fillRect t="-6569" b="-583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00C6140-7399-41E8-AC86-2DC1D397A1E2}"/>
                  </a:ext>
                </a:extLst>
              </p:cNvPr>
              <p:cNvSpPr txBox="1"/>
              <p:nvPr/>
            </p:nvSpPr>
            <p:spPr>
              <a:xfrm>
                <a:off x="6330933" y="2364360"/>
                <a:ext cx="494375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2800" dirty="0"/>
                  <a:t>Второго порядка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ru-RU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𝑏𝑥𝑦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 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𝑐𝑦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𝑒𝑦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ru-RU" sz="20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00C6140-7399-41E8-AC86-2DC1D397A1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0933" y="2364360"/>
                <a:ext cx="4943752" cy="830997"/>
              </a:xfrm>
              <a:prstGeom prst="rect">
                <a:avLst/>
              </a:prstGeom>
              <a:blipFill>
                <a:blip r:embed="rId3"/>
                <a:stretch>
                  <a:fillRect t="-7353" b="-661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237D2B5D-8E3B-4F91-855C-7E316FBE0707}"/>
              </a:ext>
            </a:extLst>
          </p:cNvPr>
          <p:cNvSpPr txBox="1"/>
          <p:nvPr/>
        </p:nvSpPr>
        <p:spPr>
          <a:xfrm>
            <a:off x="8140837" y="4899603"/>
            <a:ext cx="13322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Гипербола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A18940-2E7C-42E5-B7AA-7EE9085487E5}"/>
              </a:ext>
            </a:extLst>
          </p:cNvPr>
          <p:cNvSpPr txBox="1"/>
          <p:nvPr/>
        </p:nvSpPr>
        <p:spPr>
          <a:xfrm>
            <a:off x="10312773" y="4899603"/>
            <a:ext cx="963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Эллипс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A5F174-3216-4D7E-ABB0-25453CC6998F}"/>
              </a:ext>
            </a:extLst>
          </p:cNvPr>
          <p:cNvSpPr txBox="1"/>
          <p:nvPr/>
        </p:nvSpPr>
        <p:spPr>
          <a:xfrm>
            <a:off x="6055206" y="4899603"/>
            <a:ext cx="12459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Парабола</a:t>
            </a:r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FD368860-77FC-417E-B1DE-287EF0368AC9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flipH="1">
            <a:off x="6678166" y="3195357"/>
            <a:ext cx="2124643" cy="17042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A6EFF350-FEBD-4F32-A908-6CC29A8E59DD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8802809" y="3195357"/>
            <a:ext cx="4140" cy="17042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7AC86DF1-216F-4E90-B11C-3BEB3C399117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>
            <a:off x="8802809" y="3195357"/>
            <a:ext cx="1991859" cy="17042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84C8D059-CAFC-4D35-90DB-429E3CEB4C48}"/>
              </a:ext>
            </a:extLst>
          </p:cNvPr>
          <p:cNvCxnSpPr>
            <a:cxnSpLocks/>
            <a:stCxn id="2" idx="2"/>
            <a:endCxn id="5" idx="0"/>
          </p:cNvCxnSpPr>
          <p:nvPr/>
        </p:nvCxnSpPr>
        <p:spPr>
          <a:xfrm>
            <a:off x="6096000" y="1329507"/>
            <a:ext cx="2706809" cy="10348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FA2AA416-8BCA-43FF-9822-630B739AF35E}"/>
              </a:ext>
            </a:extLst>
          </p:cNvPr>
          <p:cNvCxnSpPr>
            <a:stCxn id="2" idx="2"/>
            <a:endCxn id="4" idx="0"/>
          </p:cNvCxnSpPr>
          <p:nvPr/>
        </p:nvCxnSpPr>
        <p:spPr>
          <a:xfrm flipH="1">
            <a:off x="3385051" y="1329507"/>
            <a:ext cx="2710949" cy="9271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F995FC7-47CD-478A-847B-FA19AB616869}"/>
              </a:ext>
            </a:extLst>
          </p:cNvPr>
          <p:cNvSpPr txBox="1"/>
          <p:nvPr/>
        </p:nvSpPr>
        <p:spPr>
          <a:xfrm>
            <a:off x="2848686" y="4899603"/>
            <a:ext cx="10689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Прямые</a:t>
            </a:r>
          </a:p>
        </p:txBody>
      </p: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F7F62FA5-1DEE-4B5D-9808-70F376898349}"/>
              </a:ext>
            </a:extLst>
          </p:cNvPr>
          <p:cNvCxnSpPr>
            <a:cxnSpLocks/>
            <a:stCxn id="4" idx="2"/>
            <a:endCxn id="19" idx="0"/>
          </p:cNvCxnSpPr>
          <p:nvPr/>
        </p:nvCxnSpPr>
        <p:spPr>
          <a:xfrm flipH="1">
            <a:off x="3383173" y="3087636"/>
            <a:ext cx="1878" cy="18119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7795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E229BF-20C9-466C-AB1E-9543E243D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4129"/>
          </a:xfrm>
        </p:spPr>
        <p:txBody>
          <a:bodyPr/>
          <a:lstStyle/>
          <a:p>
            <a:pPr algn="ctr"/>
            <a:r>
              <a:rPr lang="ru-RU" dirty="0"/>
              <a:t>Эллипс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C1656BFF-15C4-4067-BE13-F67993840AF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09254"/>
                <a:ext cx="6747089" cy="493215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dirty="0"/>
                  <a:t>Эллипс — это замкнутая кривая, в которой сумма расстояний от любой точки на кривой до двух фиксированных точек, называемых фокусами, остаётся постоянной. </a:t>
                </a:r>
              </a:p>
              <a:p>
                <a:pPr marL="0" indent="0">
                  <a:buNone/>
                </a:pPr>
                <a:r>
                  <a:rPr lang="ru-RU" dirty="0"/>
                  <a:t>Также эллипс можно определить как коническое сечение. (Рисунок 1)</a:t>
                </a:r>
              </a:p>
              <a:p>
                <a:pPr marL="0" indent="0">
                  <a:buNone/>
                </a:pPr>
                <a:r>
                  <a:rPr lang="ru-RU" dirty="0"/>
                  <a:t>Общее уравнение эллипса: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ru-RU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ru-RU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ru-RU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ru-RU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C1656BFF-15C4-4067-BE13-F67993840A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09254"/>
                <a:ext cx="6747089" cy="4932155"/>
              </a:xfrm>
              <a:blipFill>
                <a:blip r:embed="rId2"/>
                <a:stretch>
                  <a:fillRect l="-1899" t="-2101" r="-153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E3F3937-12B4-48E6-B491-E339364214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7566" y="2325218"/>
            <a:ext cx="3446234" cy="3318596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A1D4E49-10B3-491D-A4FE-03200D84B048}"/>
              </a:ext>
            </a:extLst>
          </p:cNvPr>
          <p:cNvSpPr/>
          <p:nvPr/>
        </p:nvSpPr>
        <p:spPr>
          <a:xfrm>
            <a:off x="9207905" y="5643814"/>
            <a:ext cx="13468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(Рисунок 1) </a:t>
            </a:r>
          </a:p>
        </p:txBody>
      </p:sp>
    </p:spTree>
    <p:extLst>
      <p:ext uri="{BB962C8B-B14F-4D97-AF65-F5344CB8AC3E}">
        <p14:creationId xmlns:p14="http://schemas.microsoft.com/office/powerpoint/2010/main" val="1675208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69D4F2-E63D-4328-871E-049D614FC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852"/>
            <a:ext cx="10515600" cy="912779"/>
          </a:xfrm>
        </p:spPr>
        <p:txBody>
          <a:bodyPr/>
          <a:lstStyle/>
          <a:p>
            <a:pPr algn="ctr"/>
            <a:r>
              <a:rPr lang="ru-RU" dirty="0"/>
              <a:t>Эллипс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7A092BA-2E15-4086-908B-D877208BAD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17513" y="1901730"/>
            <a:ext cx="1293944" cy="344408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D7B9B3A-AFB2-4A3A-968A-074D22A25F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30349" y="1590547"/>
            <a:ext cx="3813160" cy="143260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948E119-3A24-4F9A-9571-BE6E8ED5CDC9}"/>
                  </a:ext>
                </a:extLst>
              </p:cNvPr>
              <p:cNvSpPr txBox="1"/>
              <p:nvPr/>
            </p:nvSpPr>
            <p:spPr>
              <a:xfrm>
                <a:off x="838200" y="1294630"/>
                <a:ext cx="4992149" cy="28035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400" dirty="0"/>
                  <a:t>Если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 smtClean="0"/>
                        </m:ctrlPr>
                      </m:sSubPr>
                      <m:e>
                        <m:r>
                          <a:rPr lang="en-US" sz="2400" b="0" i="1" smtClean="0"/>
                          <m:t>𝑥</m:t>
                        </m:r>
                      </m:e>
                      <m:sub>
                        <m:r>
                          <a:rPr lang="en-US" sz="2400" b="0" i="1" smtClean="0"/>
                          <m:t>0</m:t>
                        </m:r>
                      </m:sub>
                    </m:sSub>
                  </m:oMath>
                </a14:m>
                <a:r>
                  <a:rPr lang="ru-RU" sz="2400" dirty="0"/>
                  <a:t>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 smtClean="0"/>
                        </m:ctrlPr>
                      </m:sSubPr>
                      <m:e>
                        <m:r>
                          <a:rPr lang="en-US" sz="2400" b="0" i="1" smtClean="0"/>
                          <m:t>𝑦</m:t>
                        </m:r>
                      </m:e>
                      <m:sub>
                        <m:r>
                          <a:rPr lang="en-US" sz="2400" b="0" i="1" smtClean="0"/>
                          <m:t>0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равны нулю, то уравнение становится каноническим (центр эллипса совпадает с началом координат) и имеет вид: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ru-RU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ru-RU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8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ru-RU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ru-RU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800" i="1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948E119-3A24-4F9A-9571-BE6E8ED5CD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294630"/>
                <a:ext cx="4992149" cy="2803588"/>
              </a:xfrm>
              <a:prstGeom prst="rect">
                <a:avLst/>
              </a:prstGeom>
              <a:blipFill>
                <a:blip r:embed="rId6"/>
                <a:stretch>
                  <a:fillRect l="-1956" t="-173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0EA73298-ABE1-4B32-B074-4D326E46C582}"/>
              </a:ext>
            </a:extLst>
          </p:cNvPr>
          <p:cNvSpPr txBox="1"/>
          <p:nvPr/>
        </p:nvSpPr>
        <p:spPr>
          <a:xfrm>
            <a:off x="838200" y="4265882"/>
            <a:ext cx="86395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У эллипса есть две оси: горизонтальная – </a:t>
            </a:r>
            <a:r>
              <a:rPr lang="en-US" dirty="0"/>
              <a:t>2</a:t>
            </a:r>
            <a:r>
              <a:rPr lang="en-US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  <a:r>
              <a:rPr lang="ru-RU" dirty="0"/>
              <a:t>и вертикальная – </a:t>
            </a:r>
            <a:r>
              <a:rPr lang="en-US" dirty="0"/>
              <a:t>2</a:t>
            </a:r>
            <a:r>
              <a:rPr lang="en-US" dirty="0">
                <a:solidFill>
                  <a:srgbClr val="00FF2A"/>
                </a:solidFill>
              </a:rPr>
              <a:t>b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Если</a:t>
            </a:r>
            <a:r>
              <a:rPr lang="ru-RU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a </a:t>
            </a:r>
            <a:r>
              <a:rPr lang="en-US" dirty="0"/>
              <a:t>&gt; </a:t>
            </a:r>
            <a:r>
              <a:rPr lang="en-US" dirty="0">
                <a:solidFill>
                  <a:srgbClr val="00FF2A"/>
                </a:solidFill>
              </a:rPr>
              <a:t>b</a:t>
            </a:r>
            <a:r>
              <a:rPr lang="ru-RU" dirty="0"/>
              <a:t>, то эллипс называется горизонтально-ориентированным. (Рисунок 2)</a:t>
            </a:r>
          </a:p>
          <a:p>
            <a:endParaRPr lang="ru-RU" dirty="0"/>
          </a:p>
          <a:p>
            <a:r>
              <a:rPr lang="ru-RU" dirty="0"/>
              <a:t>Если </a:t>
            </a:r>
            <a:r>
              <a:rPr lang="en-US" dirty="0">
                <a:solidFill>
                  <a:srgbClr val="00FF2A"/>
                </a:solidFill>
              </a:rPr>
              <a:t>b</a:t>
            </a:r>
            <a:r>
              <a:rPr lang="en-US" dirty="0"/>
              <a:t> &gt; </a:t>
            </a:r>
            <a:r>
              <a:rPr lang="en-US" dirty="0">
                <a:solidFill>
                  <a:srgbClr val="FF0000"/>
                </a:solidFill>
              </a:rPr>
              <a:t>a</a:t>
            </a:r>
            <a:r>
              <a:rPr lang="ru-RU" dirty="0"/>
              <a:t>, то эллипс называется вертикально-ориентированным. (Рисунок 3)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6C96518E-8FD0-4A5E-BA92-729D08513D8E}"/>
              </a:ext>
            </a:extLst>
          </p:cNvPr>
          <p:cNvSpPr/>
          <p:nvPr/>
        </p:nvSpPr>
        <p:spPr>
          <a:xfrm>
            <a:off x="6975824" y="3059668"/>
            <a:ext cx="12939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(Рисунок 2)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04C26A63-8591-4DCF-87F8-E2482F878C5C}"/>
              </a:ext>
            </a:extLst>
          </p:cNvPr>
          <p:cNvSpPr/>
          <p:nvPr/>
        </p:nvSpPr>
        <p:spPr>
          <a:xfrm>
            <a:off x="10133623" y="5447730"/>
            <a:ext cx="12939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(Рисунок 3)</a:t>
            </a:r>
          </a:p>
        </p:txBody>
      </p:sp>
    </p:spTree>
    <p:extLst>
      <p:ext uri="{BB962C8B-B14F-4D97-AF65-F5344CB8AC3E}">
        <p14:creationId xmlns:p14="http://schemas.microsoft.com/office/powerpoint/2010/main" val="1065627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36AD29-D627-410F-AC04-DF74DF457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68724"/>
          </a:xfrm>
        </p:spPr>
        <p:txBody>
          <a:bodyPr/>
          <a:lstStyle/>
          <a:p>
            <a:pPr algn="ctr"/>
            <a:r>
              <a:rPr lang="ru-RU" dirty="0"/>
              <a:t>Характеристики эллипса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B13E4C1-19B3-4AE5-90A9-8584C1B4E786}"/>
                  </a:ext>
                </a:extLst>
              </p:cNvPr>
              <p:cNvSpPr txBox="1"/>
              <p:nvPr/>
            </p:nvSpPr>
            <p:spPr>
              <a:xfrm>
                <a:off x="838200" y="1333850"/>
                <a:ext cx="4789408" cy="45550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ru-RU" sz="2000" dirty="0"/>
                  <a:t>На осях эллипса находятся две точки такие, что расстояние от них до любой точки</a:t>
                </a:r>
                <a:r>
                  <a:rPr lang="en-US" sz="2000" dirty="0"/>
                  <a:t>,</a:t>
                </a:r>
                <a:r>
                  <a:rPr lang="ru-RU" sz="2000" dirty="0"/>
                  <a:t> лежащей на эллипсе</a:t>
                </a:r>
                <a:r>
                  <a:rPr lang="en-US" sz="2000" dirty="0"/>
                  <a:t>,</a:t>
                </a:r>
                <a:r>
                  <a:rPr lang="ru-RU" sz="2000" dirty="0"/>
                  <a:t> остаётся неизменным.</a:t>
                </a:r>
              </a:p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2000" dirty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sz="2000" dirty="0"/>
                  <a:t> = </a:t>
                </a:r>
                <a:r>
                  <a:rPr lang="en-US" sz="2000" dirty="0"/>
                  <a:t>const = 2a</a:t>
                </a:r>
                <a:endParaRPr lang="ru-RU" sz="2000" dirty="0"/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ru-RU" sz="2000" dirty="0"/>
                  <a:t>При этом, расстояние между фокусами называется фокальным (фокусным) расстоянием и равно </a:t>
                </a:r>
                <a:r>
                  <a:rPr lang="en-US" sz="2000" dirty="0"/>
                  <a:t>2c</a:t>
                </a:r>
                <a:r>
                  <a:rPr lang="ru-RU" sz="2000" dirty="0"/>
                  <a:t>, где </a:t>
                </a:r>
                <a:r>
                  <a:rPr lang="en-US" sz="2000" dirty="0"/>
                  <a:t>c </a:t>
                </a:r>
                <a:r>
                  <a:rPr lang="ru-RU" sz="2000" dirty="0"/>
                  <a:t>– расстояние от фокуса до центра эллипса. 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ru-RU" sz="2000" dirty="0"/>
                  <a:t>Найти </a:t>
                </a:r>
                <a:r>
                  <a:rPr lang="en-US" sz="2000" dirty="0"/>
                  <a:t>c </a:t>
                </a:r>
                <a:r>
                  <a:rPr lang="ru-RU" sz="2000" dirty="0"/>
                  <a:t>можно по следующим формулам: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ru-RU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с</m:t>
                        </m:r>
                      </m:e>
                      <m:sup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ru-RU" sz="2000" b="0" i="1" smtClean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ru-RU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ru-RU" sz="2000" b="0" i="1" smtClean="0">
                        <a:latin typeface="Cambria Math" panose="02040503050406030204" pitchFamily="18" charset="0"/>
                      </a:rPr>
                      <m:t> − </m:t>
                    </m:r>
                    <m:sSup>
                      <m:sSupPr>
                        <m:ctrlPr>
                          <a:rPr lang="ru-RU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ru-RU" sz="20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sz="2000" dirty="0"/>
                  <a:t> при </a:t>
                </a:r>
                <a:r>
                  <a:rPr lang="en-US" sz="2000" dirty="0"/>
                  <a:t>a &gt; b</a:t>
                </a:r>
                <a:r>
                  <a:rPr lang="ru-RU" sz="2000" dirty="0"/>
                  <a:t>.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ru-RU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с</m:t>
                        </m:r>
                      </m:e>
                      <m:sup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ru-RU" sz="2000" b="0" i="1" smtClean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ru-RU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ru-RU" sz="2000" b="0" i="1" smtClean="0">
                        <a:latin typeface="Cambria Math" panose="02040503050406030204" pitchFamily="18" charset="0"/>
                      </a:rPr>
                      <m:t> − </m:t>
                    </m:r>
                    <m:sSup>
                      <m:sSupPr>
                        <m:ctrlPr>
                          <a:rPr lang="ru-RU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ru-RU" sz="20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sz="2000" dirty="0"/>
                  <a:t> при </a:t>
                </a:r>
                <a:r>
                  <a:rPr lang="en-US" sz="2000" dirty="0"/>
                  <a:t>b &gt; a</a:t>
                </a:r>
                <a:r>
                  <a:rPr lang="ru-RU" sz="2000" dirty="0"/>
                  <a:t>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B13E4C1-19B3-4AE5-90A9-8584C1B4E7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333850"/>
                <a:ext cx="4789408" cy="4555093"/>
              </a:xfrm>
              <a:prstGeom prst="rect">
                <a:avLst/>
              </a:prstGeom>
              <a:blipFill>
                <a:blip r:embed="rId2"/>
                <a:stretch>
                  <a:fillRect l="-1401" t="-803" r="-127" b="-147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408926C0-C72D-437C-BD28-4FB0CF14F3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2299" y="1876999"/>
            <a:ext cx="5655235" cy="3104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674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DB7A5E-120D-4509-AB3B-0A0824009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6780"/>
          </a:xfrm>
        </p:spPr>
        <p:txBody>
          <a:bodyPr/>
          <a:lstStyle/>
          <a:p>
            <a:pPr algn="ctr"/>
            <a:r>
              <a:rPr lang="ru-RU" dirty="0"/>
              <a:t>Характеристики эллипса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7CD7BBB-FBA3-4538-93FA-0FCE18DB20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3774" y="1976696"/>
            <a:ext cx="5291956" cy="290460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F0382E6-E320-446E-A5D2-A1F8155978EB}"/>
                  </a:ext>
                </a:extLst>
              </p:cNvPr>
              <p:cNvSpPr txBox="1"/>
              <p:nvPr/>
            </p:nvSpPr>
            <p:spPr>
              <a:xfrm>
                <a:off x="838200" y="1291905"/>
                <a:ext cx="5956183" cy="49090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ru-RU" sz="2000" dirty="0"/>
                  <a:t>Если эллипс имеет центр в начале координат, то координаты фокусов можно найти как: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;0</m:t>
                        </m:r>
                      </m:e>
                    </m:d>
                  </m:oMath>
                </a14:m>
                <a:r>
                  <a:rPr lang="ru-RU" sz="2000" b="0" dirty="0">
                    <a:ea typeface="Cambria Math" panose="02040503050406030204" pitchFamily="18" charset="0"/>
                  </a:rPr>
                  <a:t> - если эллипс горизонтально-ориентированный.</a:t>
                </a:r>
                <a:endParaRPr lang="en-US" sz="2000" b="0" dirty="0">
                  <a:ea typeface="Cambria Math" panose="02040503050406030204" pitchFamily="18" charset="0"/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lang="ru-RU" sz="2000" b="0" dirty="0">
                    <a:ea typeface="Cambria Math" panose="02040503050406030204" pitchFamily="18" charset="0"/>
                  </a:rPr>
                  <a:t> - если эллипс </a:t>
                </a:r>
                <a:r>
                  <a:rPr lang="ru-RU" sz="2000" dirty="0">
                    <a:ea typeface="Cambria Math" panose="02040503050406030204" pitchFamily="18" charset="0"/>
                  </a:rPr>
                  <a:t>вертик</a:t>
                </a:r>
                <a:r>
                  <a:rPr lang="ru-RU" sz="2000" b="0" dirty="0">
                    <a:ea typeface="Cambria Math" panose="02040503050406030204" pitchFamily="18" charset="0"/>
                  </a:rPr>
                  <a:t>ально-ориентированный.</a:t>
                </a:r>
                <a:endParaRPr lang="en-US" sz="2000" b="0" dirty="0">
                  <a:ea typeface="Cambria Math" panose="02040503050406030204" pitchFamily="18" charset="0"/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ru-RU" sz="2000" dirty="0"/>
                  <a:t>Если эллипс имеет центр НЕ в начале координат, то координаты фокусов можно найти как: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2000" b="0" dirty="0">
                    <a:ea typeface="Cambria Math" panose="02040503050406030204" pitchFamily="18" charset="0"/>
                  </a:rPr>
                  <a:t> - если эллипс горизонтально-ориентированный.</a:t>
                </a:r>
                <a:endParaRPr lang="en-US" sz="2000" b="0" dirty="0">
                  <a:ea typeface="Cambria Math" panose="02040503050406030204" pitchFamily="18" charset="0"/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lang="ru-RU" sz="2000" b="0" dirty="0">
                    <a:ea typeface="Cambria Math" panose="02040503050406030204" pitchFamily="18" charset="0"/>
                  </a:rPr>
                  <a:t> - если эллипс </a:t>
                </a:r>
                <a:r>
                  <a:rPr lang="ru-RU" sz="2000" dirty="0">
                    <a:ea typeface="Cambria Math" panose="02040503050406030204" pitchFamily="18" charset="0"/>
                  </a:rPr>
                  <a:t>вертик</a:t>
                </a:r>
                <a:r>
                  <a:rPr lang="ru-RU" sz="2000" b="0" dirty="0">
                    <a:ea typeface="Cambria Math" panose="02040503050406030204" pitchFamily="18" charset="0"/>
                  </a:rPr>
                  <a:t>ально-ориентированный.</a:t>
                </a:r>
                <a:endParaRPr lang="en-US" sz="2000" b="0" dirty="0">
                  <a:ea typeface="Cambria Math" panose="02040503050406030204" pitchFamily="18" charset="0"/>
                </a:endParaRPr>
              </a:p>
              <a:p>
                <a:endParaRPr lang="ru-RU" sz="2000" b="1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F0382E6-E320-446E-A5D2-A1F8155978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291905"/>
                <a:ext cx="5956183" cy="4909036"/>
              </a:xfrm>
              <a:prstGeom prst="rect">
                <a:avLst/>
              </a:prstGeom>
              <a:blipFill>
                <a:blip r:embed="rId3"/>
                <a:stretch>
                  <a:fillRect l="-1126" t="-74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5862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3960CD-0EA5-48B9-8DA7-DA6789C08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1613"/>
          </a:xfrm>
        </p:spPr>
        <p:txBody>
          <a:bodyPr/>
          <a:lstStyle/>
          <a:p>
            <a:pPr algn="ctr"/>
            <a:r>
              <a:rPr lang="ru-RU" dirty="0"/>
              <a:t>Характеристики эллипса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DD5E4516-D316-4793-AB2D-915F821E34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1088" y="1381007"/>
                <a:ext cx="6057552" cy="4919125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lnSpc>
                    <a:spcPct val="120000"/>
                  </a:lnSpc>
                  <a:spcBef>
                    <a:spcPts val="1200"/>
                  </a:spcBef>
                  <a:buNone/>
                </a:pPr>
                <a:r>
                  <a:rPr lang="ru-RU" dirty="0"/>
                  <a:t>Эксцентриситет – характеристика эллипса, показывающая его  «сжатость». Он вычисляется по формуле: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12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ru-RU" dirty="0"/>
                  <a:t>, где </a:t>
                </a:r>
                <a:r>
                  <a:rPr lang="en-US" dirty="0"/>
                  <a:t>a </a:t>
                </a:r>
                <a:r>
                  <a:rPr lang="ru-RU" dirty="0"/>
                  <a:t>– б</a:t>
                </a:r>
                <a:r>
                  <a:rPr lang="en-US" dirty="0"/>
                  <a:t>ó</a:t>
                </a:r>
                <a:r>
                  <a:rPr lang="ru-RU" dirty="0" err="1"/>
                  <a:t>льшая</a:t>
                </a:r>
                <a:r>
                  <a:rPr lang="ru-RU" dirty="0"/>
                  <a:t> полуось, </a:t>
                </a:r>
                <a:r>
                  <a:rPr lang="en-US" dirty="0"/>
                  <a:t>c </a:t>
                </a:r>
                <a:r>
                  <a:rPr lang="ru-RU" dirty="0"/>
                  <a:t>– </a:t>
                </a:r>
                <a:r>
                  <a:rPr lang="ru-RU" dirty="0" err="1"/>
                  <a:t>полуфокусное</a:t>
                </a:r>
                <a:r>
                  <a:rPr lang="ru-RU" dirty="0"/>
                  <a:t> расстояние.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1200"/>
                  </a:spcBef>
                  <a:buNone/>
                </a:pPr>
                <a:r>
                  <a:rPr lang="ru-RU" dirty="0"/>
                  <a:t>Директрисы эллипса – прямые, параллельные малой оси и стоящие от неё на расстоянии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lang="ru-RU" dirty="0"/>
                  <a:t>.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1200"/>
                  </a:spcBef>
                  <a:buNone/>
                </a:pPr>
                <a:r>
                  <a:rPr lang="ru-RU" dirty="0"/>
                  <a:t>Если взять расстояние от произвольной точки на эллипсе до директрисы и расстояние до фокуса , то следующее отношение будет величиной постоянной: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12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ru-RU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ru-RU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𝑐𝑜𝑛𝑠𝑡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DD5E4516-D316-4793-AB2D-915F821E34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1088" y="1381007"/>
                <a:ext cx="6057552" cy="4919125"/>
              </a:xfrm>
              <a:blipFill>
                <a:blip r:embed="rId2"/>
                <a:stretch>
                  <a:fillRect l="-1006" t="-744" r="-9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A55282A4-F780-4668-A6A8-01285E158C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1075" y="2066348"/>
            <a:ext cx="4965280" cy="2725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022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830E38-3CAD-4B05-910E-762F46A10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7786" y="331570"/>
            <a:ext cx="9656428" cy="1119726"/>
          </a:xfrm>
        </p:spPr>
        <p:txBody>
          <a:bodyPr/>
          <a:lstStyle/>
          <a:p>
            <a:pPr algn="ctr"/>
            <a:r>
              <a:rPr lang="ru-RU" dirty="0"/>
              <a:t>Приведение уравнений к общему виду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D18FB05-8D00-4244-981F-560B9B4BBC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11061" y="1451296"/>
                <a:ext cx="4865614" cy="4454555"/>
              </a:xfrm>
            </p:spPr>
            <p:txBody>
              <a:bodyPr numCol="2"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ru-RU" sz="2400" b="0" i="1" dirty="0"/>
                  <a:t>Рассмотрим уравнение и приведём его к общему виду: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9</m:t>
                      </m:r>
                      <m:sSup>
                        <m:sSupPr>
                          <m:ctrlPr>
                            <a:rPr lang="en-US" sz="2400" b="0" i="1" smtClean="0"/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+4</m:t>
                      </m:r>
                      <m:sSup>
                        <m:sSupPr>
                          <m:ctrlPr>
                            <a:rPr lang="en-US" sz="2400" b="0" i="1" smtClean="0"/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−54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−32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+109=0</m:t>
                      </m:r>
                    </m:oMath>
                  </m:oMathPara>
                </a14:m>
                <a:endParaRPr lang="ru-RU" sz="2400" b="0" i="1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9</m:t>
                    </m:r>
                    <m:sSup>
                      <m:sSupPr>
                        <m:ctrlPr>
                          <a:rPr lang="en-US" sz="2400" b="0" i="1" smtClean="0"/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−3)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+4</m:t>
                    </m:r>
                    <m:sSup>
                      <m:sSupPr>
                        <m:ctrlPr>
                          <a:rPr lang="en-US" sz="2400" b="0" i="1" smtClean="0"/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−4)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i="1" dirty="0"/>
                  <a:t> = 36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/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b="0" i="1" smtClean="0"/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−3)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400" b="0" i="1" smtClean="0"/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b="0" i="1" smtClean="0"/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b="0" i="1" smtClean="0"/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−4)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400" b="0" i="1" smtClean="0"/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400" i="1" dirty="0"/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D18FB05-8D00-4244-981F-560B9B4BBC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1061" y="1451296"/>
                <a:ext cx="4865614" cy="4454555"/>
              </a:xfrm>
              <a:blipFill>
                <a:blip r:embed="rId2"/>
                <a:stretch>
                  <a:fillRect l="-187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Прямоугольник 3">
                <a:extLst>
                  <a:ext uri="{FF2B5EF4-FFF2-40B4-BE49-F238E27FC236}">
                    <a16:creationId xmlns:a16="http://schemas.microsoft.com/office/drawing/2014/main" id="{D8CA326E-BF0F-461F-A816-DDF99F4A428C}"/>
                  </a:ext>
                </a:extLst>
              </p:cNvPr>
              <p:cNvSpPr/>
              <p:nvPr/>
            </p:nvSpPr>
            <p:spPr>
              <a:xfrm>
                <a:off x="5721292" y="1451296"/>
                <a:ext cx="6059647" cy="465730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ru-RU" sz="2400" i="1" dirty="0"/>
                  <a:t>Найдём характеристики эллипса: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i="1" dirty="0"/>
                  <a:t> = </a:t>
                </a:r>
                <a:r>
                  <a:rPr lang="ru-RU" sz="2400" i="1" dirty="0"/>
                  <a:t>3,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i="1" dirty="0"/>
                  <a:t> = 4, a = 2, b = 3</a:t>
                </a:r>
                <a:r>
                  <a:rPr lang="ru-RU" sz="2400" i="1" dirty="0"/>
                  <a:t>, </a:t>
                </a:r>
                <a:r>
                  <a:rPr lang="en-US" sz="2400" i="1" dirty="0"/>
                  <a:t>b &gt; a</a:t>
                </a:r>
                <a:r>
                  <a:rPr lang="ru-RU" sz="2400" i="1" dirty="0"/>
                  <a:t>.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с</m:t>
                        </m:r>
                      </m:e>
                      <m:sup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ru-RU" sz="2400" i="1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ru-RU" sz="2400" i="1">
                        <a:latin typeface="Cambria Math" panose="02040503050406030204" pitchFamily="18" charset="0"/>
                      </a:rPr>
                      <m:t> − </m:t>
                    </m:r>
                    <m:sSup>
                      <m:sSup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i="1" dirty="0"/>
                  <a:t> =</a:t>
                </a:r>
                <a:r>
                  <a:rPr lang="ru-RU" sz="2400" i="1" dirty="0"/>
                  <a:t> 5, </a:t>
                </a:r>
                <a:r>
                  <a:rPr lang="en-US" sz="2400" i="1" dirty="0"/>
                  <a:t>c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lang="ru-RU" sz="2400" i="1" dirty="0"/>
                  <a:t> – </a:t>
                </a:r>
                <a:r>
                  <a:rPr lang="ru-RU" sz="2400" i="1" dirty="0" err="1"/>
                  <a:t>полуфокусное</a:t>
                </a:r>
                <a:r>
                  <a:rPr lang="ru-RU" sz="2400" i="1" dirty="0"/>
                  <a:t> расстояние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2400" i="1" dirty="0">
                    <a:latin typeface="Calibri Math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3;</m:t>
                        </m:r>
                        <m:r>
                          <m:rPr>
                            <m:nor/>
                          </m:rPr>
                          <a:rPr lang="en-US" sz="2400" i="1" dirty="0">
                            <a:latin typeface="Calibri Math"/>
                          </a:rPr>
                          <m:t>4 </m:t>
                        </m:r>
                        <m:r>
                          <m:rPr>
                            <m:nor/>
                          </m:rPr>
                          <a:rPr lang="en-US" sz="2400" i="1" dirty="0">
                            <a:latin typeface="Calibri Math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US" sz="2400" i="1" dirty="0">
                            <a:latin typeface="Calibri Math"/>
                          </a:rPr>
                          <m:t> </m:t>
                        </m:r>
                        <m:rad>
                          <m:radPr>
                            <m:deg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3;</m:t>
                        </m:r>
                        <m:r>
                          <m:rPr>
                            <m:nor/>
                          </m:rPr>
                          <a:rPr lang="en-US" sz="2400" i="1" dirty="0">
                            <a:latin typeface="Calibri Math"/>
                          </a:rPr>
                          <m:t>4 − </m:t>
                        </m:r>
                        <m:rad>
                          <m:radPr>
                            <m:deg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e>
                    </m:d>
                  </m:oMath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US" sz="2400" i="1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ru-RU" sz="2400" i="1" dirty="0"/>
                  <a:t> – эксцентриситет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y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lang="en-US" sz="2400" i="1" dirty="0"/>
                  <a:t> = </a:t>
                </a:r>
                <a:r>
                  <a:rPr lang="ru-RU" sz="2400" i="1" dirty="0"/>
                  <a:t>4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lang="en-US" sz="2400" i="1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lang="ru-RU" sz="2400" i="1" dirty="0"/>
                  <a:t> – директрисы</a:t>
                </a:r>
              </a:p>
            </p:txBody>
          </p:sp>
        </mc:Choice>
        <mc:Fallback>
          <p:sp>
            <p:nvSpPr>
              <p:cNvPr id="4" name="Прямоугольник 3">
                <a:extLst>
                  <a:ext uri="{FF2B5EF4-FFF2-40B4-BE49-F238E27FC236}">
                    <a16:creationId xmlns:a16="http://schemas.microsoft.com/office/drawing/2014/main" id="{D8CA326E-BF0F-461F-A816-DDF99F4A42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1292" y="1451296"/>
                <a:ext cx="6059647" cy="4657301"/>
              </a:xfrm>
              <a:prstGeom prst="rect">
                <a:avLst/>
              </a:prstGeom>
              <a:blipFill>
                <a:blip r:embed="rId3"/>
                <a:stretch>
                  <a:fillRect l="-161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86425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72403D-ECBB-4C0F-AC0B-CCDEC3188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6000" dirty="0"/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78193651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525</Words>
  <Application>Microsoft Office PowerPoint</Application>
  <PresentationFormat>Широкоэкранный</PresentationFormat>
  <Paragraphs>66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Calibri Math</vt:lpstr>
      <vt:lpstr>Cambria Math</vt:lpstr>
      <vt:lpstr>Тема Office</vt:lpstr>
      <vt:lpstr>Кривые второго порядка Эллипс</vt:lpstr>
      <vt:lpstr>Кривые</vt:lpstr>
      <vt:lpstr>Эллипс</vt:lpstr>
      <vt:lpstr>Эллипс</vt:lpstr>
      <vt:lpstr>Характеристики эллипса</vt:lpstr>
      <vt:lpstr>Характеристики эллипса</vt:lpstr>
      <vt:lpstr>Характеристики эллипса</vt:lpstr>
      <vt:lpstr>Приведение уравнений к общему виду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Кривые второго порядка Эллипс</dc:title>
  <dc:creator>Александр Романов</dc:creator>
  <cp:lastModifiedBy>Александр Романов</cp:lastModifiedBy>
  <cp:revision>26</cp:revision>
  <dcterms:created xsi:type="dcterms:W3CDTF">2024-12-19T19:30:24Z</dcterms:created>
  <dcterms:modified xsi:type="dcterms:W3CDTF">2024-12-19T22:40:00Z</dcterms:modified>
</cp:coreProperties>
</file>