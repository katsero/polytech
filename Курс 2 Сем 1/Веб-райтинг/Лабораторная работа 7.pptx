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0"/>
  </p:notesMasterIdLst>
  <p:sldIdLst>
    <p:sldId id="256" r:id="rId2"/>
    <p:sldId id="257" r:id="rId3"/>
    <p:sldId id="274" r:id="rId4"/>
    <p:sldId id="275" r:id="rId5"/>
    <p:sldId id="276" r:id="rId6"/>
    <p:sldId id="272" r:id="rId7"/>
    <p:sldId id="273" r:id="rId8"/>
    <p:sldId id="258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ambria" panose="02040503050406030204" pitchFamily="18" charset="0"/>
      <p:regular r:id="rId15"/>
      <p:bold r:id="rId16"/>
      <p:italic r:id="rId17"/>
      <p:boldItalic r:id="rId18"/>
    </p:embeddedFont>
    <p:embeddedFont>
      <p:font typeface="Gilroy Bold" panose="00000800000000000000" charset="-52"/>
      <p:bold r:id="rId19"/>
    </p:embeddedFont>
    <p:embeddedFont>
      <p:font typeface="Gilroy Medium" panose="00000600000000000000" charset="-52"/>
      <p:regular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40" autoAdjust="0"/>
    <p:restoredTop sz="86398"/>
  </p:normalViewPr>
  <p:slideViewPr>
    <p:cSldViewPr snapToGrid="0">
      <p:cViewPr varScale="1">
        <p:scale>
          <a:sx n="74" d="100"/>
          <a:sy n="74" d="100"/>
        </p:scale>
        <p:origin x="662" y="43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375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4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983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371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571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390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30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09.12.2025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09.12.2025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09.12.2025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09.12.2025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09.12.2025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09.12.2025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09.12.2025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09.12.2025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Веб-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райтинг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227901" y="2742486"/>
            <a:ext cx="11887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343A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Лабораторная работа №7</a:t>
            </a:r>
            <a:br>
              <a:rPr lang="ru-RU" sz="3200" b="1" dirty="0">
                <a:solidFill>
                  <a:srgbClr val="343A4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3200" b="0" i="0" u="none" strike="noStrike" dirty="0">
                <a:solidFill>
                  <a:srgbClr val="343A40"/>
                </a:solidFill>
                <a:effectLst/>
                <a:latin typeface="DefaultFont"/>
              </a:rPr>
              <a:t>Работа с моделями рекламных текстов</a:t>
            </a:r>
            <a:endParaRPr lang="ru-RU" sz="3200" b="1" dirty="0">
              <a:solidFill>
                <a:srgbClr val="343A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B07A8-5874-4960-88C5-A950692869E2}"/>
              </a:ext>
            </a:extLst>
          </p:cNvPr>
          <p:cNvSpPr txBox="1"/>
          <p:nvPr/>
        </p:nvSpPr>
        <p:spPr>
          <a:xfrm>
            <a:off x="5766957" y="5273189"/>
            <a:ext cx="62030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Андронов Денис Андреевич 241-321, </a:t>
            </a:r>
          </a:p>
          <a:p>
            <a:pPr algn="r">
              <a:lnSpc>
                <a:spcPts val="2000"/>
              </a:lnSpc>
            </a:pPr>
            <a:r>
              <a:rPr lang="ru-RU" dirty="0">
                <a:effectLst/>
                <a:latin typeface="Helvetica Neue" panose="02000503000000020004" pitchFamily="2" charset="0"/>
              </a:rPr>
              <a:t>Романов Александр Дмитриевич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  <a:p>
            <a:pPr algn="r">
              <a:lnSpc>
                <a:spcPts val="2000"/>
              </a:lnSpc>
            </a:pPr>
            <a:r>
              <a:rPr lang="ru-RU" dirty="0" err="1">
                <a:effectLst/>
                <a:latin typeface="Helvetica Neue" panose="02000503000000020004" pitchFamily="2" charset="0"/>
              </a:rPr>
              <a:t>Каматали</a:t>
            </a:r>
            <a:r>
              <a:rPr lang="ru-RU" dirty="0">
                <a:effectLst/>
                <a:latin typeface="Helvetica Neue" panose="02000503000000020004" pitchFamily="2" charset="0"/>
              </a:rPr>
              <a:t> Алина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Аароновна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1845733"/>
            <a:ext cx="94640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Цель</a:t>
            </a:r>
            <a:r>
              <a:rPr lang="ru-RU" sz="24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: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ru-RU" sz="2400" b="0" i="0" u="none" strike="noStrike" dirty="0">
                <a:solidFill>
                  <a:srgbClr val="343A4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Изучение правил и особенностей работы с манипулятивными приемами и языковой игрой как эффективными элементами рекламного текста. Разработка эффективного продающего манипулирующего рекламного текста.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Постановка цели и основной задачи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3</a:t>
            </a:fld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534694" y="533284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Логотип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WebFlow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с правкой на цвет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A4A3FD-5603-4399-A2CC-719CB9FB1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67" y="1787319"/>
            <a:ext cx="4858188" cy="361765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B8B380B-ED95-4009-8E8B-F950C1DE3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733" y="3833543"/>
            <a:ext cx="5095811" cy="221632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21D68E7-4EF1-4D04-BD4F-04A4CE9455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722" y="1421679"/>
            <a:ext cx="4858186" cy="20073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B23349-A751-4E52-9046-DF576D9F70E5}"/>
              </a:ext>
            </a:extLst>
          </p:cNvPr>
          <p:cNvSpPr txBox="1"/>
          <p:nvPr/>
        </p:nvSpPr>
        <p:spPr>
          <a:xfrm>
            <a:off x="7815948" y="3248768"/>
            <a:ext cx="20673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До/После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74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4</a:t>
            </a:fld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457810" y="629412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Слоган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CB0231-7AA9-7B7B-AD12-05EC79B8BC11}"/>
              </a:ext>
            </a:extLst>
          </p:cNvPr>
          <p:cNvSpPr txBox="1"/>
          <p:nvPr/>
        </p:nvSpPr>
        <p:spPr>
          <a:xfrm>
            <a:off x="457200" y="1414388"/>
            <a:ext cx="8764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 err="1"/>
              <a:t>WebFlow</a:t>
            </a:r>
            <a:r>
              <a:rPr lang="ru-RU" sz="3600" dirty="0"/>
              <a:t>: поток идей — поток клиентов!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156869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5</a:t>
            </a:fld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457810" y="629412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Л</a:t>
            </a:r>
            <a:r>
              <a:rPr lang="ru-RU" sz="3200" dirty="0" err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учший</a:t>
            </a:r>
            <a:r>
              <a:rPr lang="ru-RU" sz="32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рекламный текст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A776E1E-AA6E-4924-8A1A-C32669BF038B}"/>
              </a:ext>
            </a:extLst>
          </p:cNvPr>
          <p:cNvSpPr/>
          <p:nvPr/>
        </p:nvSpPr>
        <p:spPr>
          <a:xfrm>
            <a:off x="554182" y="1444868"/>
            <a:ext cx="874568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quote-cjk-patch"/>
              </a:rPr>
              <a:t>Зачин</a:t>
            </a:r>
            <a:r>
              <a:rPr lang="ru-RU" dirty="0">
                <a:latin typeface="quote-cjk-patch"/>
              </a:rPr>
              <a:t>: Ваш </a:t>
            </a:r>
            <a:r>
              <a:rPr lang="ru-RU" u="sng" dirty="0">
                <a:latin typeface="quote-cjk-patch"/>
              </a:rPr>
              <a:t>сайт всё ещё «спит» </a:t>
            </a:r>
            <a:r>
              <a:rPr lang="ru-RU" dirty="0">
                <a:latin typeface="quote-cjk-patch"/>
              </a:rPr>
              <a:t>и </a:t>
            </a:r>
            <a:r>
              <a:rPr lang="ru-RU" u="sng" dirty="0">
                <a:latin typeface="quote-cjk-patch"/>
              </a:rPr>
              <a:t>не видит 80% клиентов</a:t>
            </a:r>
            <a:r>
              <a:rPr lang="ru-RU" dirty="0">
                <a:latin typeface="quote-cjk-patch"/>
              </a:rPr>
              <a:t>?</a:t>
            </a:r>
          </a:p>
          <a:p>
            <a:endParaRPr lang="ru-RU" dirty="0">
              <a:latin typeface="quote-cjk-patch"/>
            </a:endParaRPr>
          </a:p>
          <a:p>
            <a:r>
              <a:rPr lang="ru-RU" b="1" dirty="0">
                <a:latin typeface="quote-cjk-patch"/>
              </a:rPr>
              <a:t>Основной текст: </a:t>
            </a:r>
            <a:r>
              <a:rPr lang="ru-RU" dirty="0">
                <a:latin typeface="quote-cjk-patch"/>
              </a:rPr>
              <a:t>Большинство сайтов </a:t>
            </a:r>
            <a:r>
              <a:rPr lang="ru-RU" u="sng" dirty="0">
                <a:latin typeface="quote-cjk-patch"/>
              </a:rPr>
              <a:t>страдают цифровой слепотой: они не видят пользователей смартфонов, не чувствуют их спешки</a:t>
            </a:r>
            <a:r>
              <a:rPr lang="ru-RU" dirty="0">
                <a:latin typeface="quote-cjk-patch"/>
              </a:rPr>
              <a:t>. Результат — потеря 30% аудитории из-за </a:t>
            </a:r>
            <a:r>
              <a:rPr lang="ru-RU" dirty="0" err="1">
                <a:latin typeface="quote-cjk-patch"/>
              </a:rPr>
              <a:t>неадаптивности</a:t>
            </a:r>
            <a:r>
              <a:rPr lang="ru-RU" dirty="0">
                <a:latin typeface="quote-cjk-patch"/>
              </a:rPr>
              <a:t> и плохого </a:t>
            </a:r>
            <a:r>
              <a:rPr lang="en-US" dirty="0">
                <a:latin typeface="quote-cjk-patch"/>
              </a:rPr>
              <a:t>UX </a:t>
            </a:r>
            <a:r>
              <a:rPr lang="ru-RU" dirty="0">
                <a:latin typeface="quote-cjk-patch"/>
              </a:rPr>
              <a:t>(и это данные исследований). </a:t>
            </a:r>
            <a:r>
              <a:rPr lang="ru-RU" dirty="0" err="1">
                <a:latin typeface="quote-cjk-patch"/>
              </a:rPr>
              <a:t>WebFlow</a:t>
            </a:r>
            <a:r>
              <a:rPr lang="ru-RU" dirty="0">
                <a:latin typeface="quote-cjk-patch"/>
              </a:rPr>
              <a:t> даёт сайтам зрение и эмпатию. Мы создаём цифровых хамелеонов — платформы с </a:t>
            </a:r>
            <a:r>
              <a:rPr lang="ru-RU" u="sng" dirty="0">
                <a:latin typeface="quote-cjk-patch"/>
              </a:rPr>
              <a:t>кристальной чистотой кода</a:t>
            </a:r>
            <a:r>
              <a:rPr lang="ru-RU" dirty="0">
                <a:latin typeface="quote-cjk-patch"/>
              </a:rPr>
              <a:t>, которые ощущают, кто перед экраном, и меняются: становятся быстрыми для телефона, уютными для планшета, впечатляющим и детальным для компьютера.</a:t>
            </a:r>
          </a:p>
          <a:p>
            <a:r>
              <a:rPr lang="ru-RU" dirty="0">
                <a:latin typeface="quote-cjk-patch"/>
              </a:rPr>
              <a:t>Это не просто разработка. Это </a:t>
            </a:r>
            <a:r>
              <a:rPr lang="ru-RU" u="sng" dirty="0">
                <a:latin typeface="quote-cjk-patch"/>
              </a:rPr>
              <a:t>миниатюризация времени и сложности</a:t>
            </a:r>
            <a:r>
              <a:rPr lang="ru-RU" dirty="0">
                <a:latin typeface="quote-cjk-patch"/>
              </a:rPr>
              <a:t>: мы собрали идеальный конструктор из готовых модулей для вашего быстрого старта. Вы представляете, как ваши конкуренты, уже работая с нами, 25</a:t>
            </a:r>
            <a:r>
              <a:rPr lang="en-US" dirty="0">
                <a:latin typeface="quote-cjk-patch"/>
              </a:rPr>
              <a:t>/</a:t>
            </a:r>
            <a:r>
              <a:rPr lang="ru-RU" dirty="0">
                <a:latin typeface="quote-cjk-patch"/>
              </a:rPr>
              <a:t>7</a:t>
            </a:r>
            <a:r>
              <a:rPr lang="en-US" dirty="0">
                <a:latin typeface="quote-cjk-patch"/>
              </a:rPr>
              <a:t> </a:t>
            </a:r>
            <a:r>
              <a:rPr lang="ru-RU" dirty="0">
                <a:latin typeface="quote-cjk-patch"/>
              </a:rPr>
              <a:t>увеличивают свои продажи, пока вы откладываете решение?</a:t>
            </a:r>
          </a:p>
        </p:txBody>
      </p:sp>
    </p:spTree>
    <p:extLst>
      <p:ext uri="{BB962C8B-B14F-4D97-AF65-F5344CB8AC3E}">
        <p14:creationId xmlns:p14="http://schemas.microsoft.com/office/powerpoint/2010/main" val="694253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A9BEA4F9-213F-38E5-0944-C803757EA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1548245"/>
            <a:ext cx="10339614" cy="51977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  <a:latin typeface="Gilroy Medium" panose="00000600000000000000" charset="-52"/>
                <a:cs typeface="Calibri" panose="020F0502020204030204" pitchFamily="34" charset="0"/>
              </a:rPr>
              <a:t>Веб-студия </a:t>
            </a:r>
            <a:r>
              <a:rPr lang="en-US" sz="1600" dirty="0" err="1">
                <a:solidFill>
                  <a:schemeClr val="tx1"/>
                </a:solidFill>
                <a:latin typeface="Gilroy Medium" panose="00000600000000000000" charset="-52"/>
                <a:cs typeface="Calibri" panose="020F0502020204030204" pitchFamily="34" charset="0"/>
              </a:rPr>
              <a:t>WebFlow</a:t>
            </a:r>
            <a:endParaRPr lang="en-US" sz="1600" dirty="0">
              <a:solidFill>
                <a:schemeClr val="tx1"/>
              </a:solidFill>
              <a:latin typeface="Gilroy Medium" panose="00000600000000000000" charset="-52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  <a:latin typeface="Gilroy Medium" panose="00000600000000000000" charset="-52"/>
                <a:cs typeface="Calibri" panose="020F0502020204030204" pitchFamily="34" charset="0"/>
              </a:rPr>
              <a:t>Слоган: “</a:t>
            </a:r>
            <a:r>
              <a:rPr lang="ru-RU" sz="1600" dirty="0" err="1">
                <a:solidFill>
                  <a:schemeClr val="tx1"/>
                </a:solidFill>
                <a:latin typeface="Gilroy Medium" panose="00000600000000000000" charset="-52"/>
                <a:cs typeface="Calibri" panose="020F0502020204030204" pitchFamily="34" charset="0"/>
              </a:rPr>
              <a:t>WebFlow</a:t>
            </a:r>
            <a:r>
              <a:rPr lang="ru-RU" sz="1600" dirty="0">
                <a:solidFill>
                  <a:schemeClr val="tx1"/>
                </a:solidFill>
                <a:latin typeface="Gilroy Medium" panose="00000600000000000000" charset="-52"/>
                <a:cs typeface="Calibri" panose="020F0502020204030204" pitchFamily="34" charset="0"/>
              </a:rPr>
              <a:t>: поток идей — поток клиентов!”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  <a:latin typeface="Gilroy Medium" panose="00000600000000000000" charset="-52"/>
                <a:cs typeface="Calibri" panose="020F0502020204030204" pitchFamily="34" charset="0"/>
              </a:rPr>
              <a:t>Заголовок: Современные сайты для вашего бизнеса — просто!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  <a:latin typeface="Gilroy Medium" panose="00000600000000000000" charset="-52"/>
                <a:cs typeface="Calibri" panose="020F0502020204030204" pitchFamily="34" charset="0"/>
              </a:rPr>
              <a:t>Тезис: </a:t>
            </a:r>
            <a:r>
              <a:rPr lang="en-US" sz="1600" dirty="0" err="1">
                <a:solidFill>
                  <a:schemeClr val="tx1"/>
                </a:solidFill>
                <a:latin typeface="Gilroy Medium" panose="00000600000000000000" charset="-52"/>
                <a:cs typeface="Calibri" panose="020F0502020204030204" pitchFamily="34" charset="0"/>
              </a:rPr>
              <a:t>WebFlow</a:t>
            </a:r>
            <a:r>
              <a:rPr lang="en-US" sz="1600" dirty="0">
                <a:solidFill>
                  <a:schemeClr val="tx1"/>
                </a:solidFill>
                <a:latin typeface="Gilroy Medium" panose="00000600000000000000" charset="-52"/>
                <a:cs typeface="Calibri" panose="020F0502020204030204" pitchFamily="34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Gilroy Medium" panose="00000600000000000000" charset="-52"/>
                <a:cs typeface="Calibri" panose="020F0502020204030204" pitchFamily="34" charset="0"/>
              </a:rPr>
              <a:t>создает уникальные и функциональные сайты, которые помогут вашему бизнесу расти.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  <a:latin typeface="Gilroy Medium" panose="00000600000000000000" charset="-52"/>
                <a:cs typeface="Calibri" panose="020F0502020204030204" pitchFamily="34" charset="0"/>
              </a:rPr>
              <a:t>Аргументы:</a:t>
            </a:r>
          </a:p>
          <a:p>
            <a: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  <a:t>Идеальный пользовательский опыт:</a:t>
            </a:r>
            <a:b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</a:br>
            <a: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  <a:t>Мы разрабатываем интерфейсы, которые понятны и удобны каждому клиенту. Ваш сайт не будет “загадкой” — он будет работать как часы, привлекая и удерживая посетителей. (Эмоциональный триггер: “все хотят, чтобы их сайт был простым и приятным”)</a:t>
            </a:r>
          </a:p>
          <a:p>
            <a: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  <a:t>Мощные технологии:</a:t>
            </a:r>
            <a:b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</a:br>
            <a: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  <a:t>Используем самые современные решения, чтобы ваш сайт был быстрым, надежным и масштабируемым. Никаких “зависаний”, только плавная работа — даже при высокой нагрузке. (Аргумент авторитета: “мы используем лучшее из технологий”)</a:t>
            </a:r>
          </a:p>
          <a:p>
            <a: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  <a:t>Привлекательный дизайн:</a:t>
            </a:r>
            <a:b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</a:br>
            <a: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  <a:t>Создаем </a:t>
            </a:r>
            <a:r>
              <a:rPr lang="ru-RU" sz="1400" dirty="0" err="1">
                <a:solidFill>
                  <a:schemeClr val="tx1"/>
                </a:solidFill>
                <a:latin typeface="Gilroy Medium" panose="00000600000000000000" charset="-52"/>
              </a:rPr>
              <a:t>визуал</a:t>
            </a:r>
            <a: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  <a:t>, который выделит вас среди конкурентов. Ваши цвета, стиль, шрифты — всё подчеркнет вашу уникальность. (Визуальный триггер: “вы хотите быть заметными?”)</a:t>
            </a:r>
          </a:p>
          <a:p>
            <a: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  <a:t>SEO-оптимизация:</a:t>
            </a:r>
            <a:b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</a:br>
            <a: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  <a:t>Ваш сайт всегда будет замечен в поисковых системах. Мы настраиваем его так, чтобы он находился там, где ищут ваши клиенты — в </a:t>
            </a:r>
            <a:r>
              <a:rPr lang="ru-RU" sz="1400" dirty="0" err="1">
                <a:solidFill>
                  <a:schemeClr val="tx1"/>
                </a:solidFill>
                <a:latin typeface="Gilroy Medium" panose="00000600000000000000" charset="-52"/>
              </a:rPr>
              <a:t>ТОПе</a:t>
            </a:r>
            <a: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Gilroy Medium" panose="00000600000000000000" charset="-52"/>
              </a:rPr>
              <a:t>Google</a:t>
            </a:r>
            <a:r>
              <a:rPr lang="ru-RU" sz="1400" dirty="0">
                <a:solidFill>
                  <a:schemeClr val="tx1"/>
                </a:solidFill>
                <a:latin typeface="Gilroy Medium" panose="00000600000000000000" charset="-52"/>
              </a:rPr>
              <a:t> и Яндекса. (Практический аргумент: “без SEO — никто не найдет ваш сайт”)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  <a:latin typeface="Gilroy Medium" panose="00000600000000000000" charset="-52"/>
              <a:cs typeface="Calibri" panose="020F050202020403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799139-DCEE-644C-9F09-D5348DBC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899" y="6088566"/>
            <a:ext cx="442686" cy="657401"/>
          </a:xfrm>
        </p:spPr>
        <p:txBody>
          <a:bodyPr/>
          <a:lstStyle/>
          <a:p>
            <a:fld id="{A01BE76D-E181-4177-862E-40D97C82BFEB}" type="slidenum">
              <a:rPr lang="ru-RU" sz="4000" smtClean="0"/>
              <a:t>6</a:t>
            </a:fld>
            <a:endParaRPr lang="ru-RU" sz="4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54DBB5-C310-668F-D13F-DDE474966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322118"/>
            <a:ext cx="9304144" cy="813399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Рекламный текст по традиционной модели «Перевёрнутая пирамида»</a:t>
            </a:r>
          </a:p>
        </p:txBody>
      </p:sp>
    </p:spTree>
    <p:extLst>
      <p:ext uri="{BB962C8B-B14F-4D97-AF65-F5344CB8AC3E}">
        <p14:creationId xmlns:p14="http://schemas.microsoft.com/office/powerpoint/2010/main" val="1450334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799139-DCEE-644C-9F09-D5348DBC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899" y="6088566"/>
            <a:ext cx="442686" cy="657401"/>
          </a:xfrm>
        </p:spPr>
        <p:txBody>
          <a:bodyPr/>
          <a:lstStyle/>
          <a:p>
            <a:fld id="{A01BE76D-E181-4177-862E-40D97C82BFEB}" type="slidenum">
              <a:rPr lang="ru-RU" sz="4000" smtClean="0"/>
              <a:t>7</a:t>
            </a:fld>
            <a:endParaRPr lang="ru-RU" sz="4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54DBB5-C310-668F-D13F-DDE474966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0"/>
            <a:ext cx="9304144" cy="1135517"/>
          </a:xfrm>
        </p:spPr>
        <p:txBody>
          <a:bodyPr/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Р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еклама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-сказка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WebFlow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0763DD3-8BBF-4729-9C2D-AEA9E11F7A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300" y="1135517"/>
            <a:ext cx="10401891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Жили-были в цифровом царстве Мастер-Бизнес и его маленький, но очень амбициозный проект — “Сайт-Мечта”. У него было всё: идея, клиенты, желание расти. Не хватало только одного — хорошего сайта, чтобы весь мир узнал о нем.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Решил Мастер-Бизнес пойти по свету в поисках тех, кто сможет создать сайт его мечты.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Катится Мастер-Бизнес, катится, встречает студию “</a:t>
            </a:r>
            <a:r>
              <a:rPr kumimoji="0" lang="ru-RU" altLang="ru-RU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КликСайт</a:t>
            </a: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”.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—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КликСайт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КликСайт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 сделай мне сайт, чтобы он был красивым, удобным и приносил клиентов!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А </a:t>
            </a:r>
            <a:r>
              <a:rPr kumimoji="0" lang="ru-RU" altLang="ru-RU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КликСайт</a:t>
            </a: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 ему в ответ: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— Мы-то сделаем, только вот шаблон у нас старый, дизайн скучный и работать будет через раз.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Расстроился Мастер-Бизнес, да и покатился дальше.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Катится, катится, встречает студию “</a:t>
            </a:r>
            <a:r>
              <a:rPr kumimoji="0" lang="ru-RU" altLang="ru-RU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Фронтлайн</a:t>
            </a: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”.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—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Фронтлайн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Фронтлайн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 помоги мне, сделай сайт моей мечты!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А </a:t>
            </a:r>
            <a:r>
              <a:rPr kumimoji="0" lang="ru-RU" altLang="ru-RU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Фронтлайн</a:t>
            </a: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 ему отвечает: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— Мы любим технологии, но работать с мелкими заказами не хотим. Крупные компании — вот наша цель!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Опять расстроился Мастер-Бизнес, но руки не опустил.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Катится дальше, и тут перед ним появляется… </a:t>
            </a:r>
            <a:r>
              <a:rPr kumimoji="0" lang="ru-RU" altLang="ru-RU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WebFlow</a:t>
            </a: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.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—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WebFlow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WebFlow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 сделайте мне сайт, чтобы он был уникальным, функциональным и удобным для всех моих клиентов!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Улыбнулась студия </a:t>
            </a:r>
            <a:r>
              <a:rPr kumimoji="0" lang="ru-RU" altLang="ru-RU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WebFlow</a:t>
            </a: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 и говорит: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ru-RU" altLang="ru-RU" sz="1500" dirty="0">
                <a:latin typeface="system-ui"/>
              </a:rPr>
              <a:t>— Мы — </a:t>
            </a:r>
            <a:r>
              <a:rPr lang="ru-RU" altLang="ru-RU" sz="1500" dirty="0" err="1">
                <a:latin typeface="system-ui"/>
              </a:rPr>
              <a:t>WebFlow</a:t>
            </a:r>
            <a:r>
              <a:rPr lang="ru-RU" altLang="ru-RU" sz="1500" dirty="0">
                <a:latin typeface="system-ui"/>
              </a:rPr>
              <a:t>: поток идей — поток клиентов!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 Сделаем тебе сайт, как ты мечтал: современный, быстрый, с ярким дизайном и удобной навигацией. Твой бизнес засияет, как никогда раньше!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Взялись мастера за дело: обновили бренд, подключили современные технологии, сделали адаптивный дизайн, добавили маркетинговые инструменты.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И что же? Готов сайт! Уникальный, как отпечаток пальца, удобный, как мягкий диван, и эффективный, как лучшая реклама.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Теперь Мастер-Бизнес не просто успешен — он стал звездой интернета, а его бизнес растет день ото дня.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И сказке конец, а Мастер-Бизнес с </a:t>
            </a:r>
            <a:r>
              <a:rPr kumimoji="0" lang="ru-RU" altLang="ru-RU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WebFlow</a:t>
            </a:r>
            <a:r>
              <a:rPr kumimoji="0" lang="ru-RU" altLang="ru-RU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 живет долго и счастливо, вдохновляя других на успех!</a:t>
            </a:r>
            <a:endParaRPr kumimoji="0" lang="ru-RU" altLang="ru-RU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8098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268561" y="3044279"/>
            <a:ext cx="96548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0" i="0" u="none" strike="noStrike" dirty="0">
                <a:solidFill>
                  <a:srgbClr val="343A40"/>
                </a:solidFill>
                <a:effectLst/>
                <a:latin typeface="DefaultFont"/>
              </a:rPr>
              <a:t>Работа с моделями рекламных текстов</a:t>
            </a:r>
            <a:endParaRPr lang="ru-RU" sz="2800" b="1" dirty="0">
              <a:solidFill>
                <a:srgbClr val="343A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13023-76F4-C3B7-2ADD-3CB7FBF2CC7A}"/>
              </a:ext>
            </a:extLst>
          </p:cNvPr>
          <p:cNvSpPr txBox="1"/>
          <p:nvPr/>
        </p:nvSpPr>
        <p:spPr>
          <a:xfrm>
            <a:off x="5219279" y="542298"/>
            <a:ext cx="6503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Спасибо за внимание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60C28-E48F-4FD7-B6CA-E28EC1B44BBA}"/>
              </a:ext>
            </a:extLst>
          </p:cNvPr>
          <p:cNvSpPr txBox="1"/>
          <p:nvPr/>
        </p:nvSpPr>
        <p:spPr>
          <a:xfrm>
            <a:off x="5673438" y="4978637"/>
            <a:ext cx="62030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Андронов Денис Андреевич 241-321, </a:t>
            </a:r>
          </a:p>
          <a:p>
            <a:pPr algn="r">
              <a:lnSpc>
                <a:spcPts val="2000"/>
              </a:lnSpc>
            </a:pPr>
            <a:r>
              <a:rPr lang="ru-RU" dirty="0">
                <a:effectLst/>
                <a:latin typeface="Helvetica Neue" panose="02000503000000020004" pitchFamily="2" charset="0"/>
              </a:rPr>
              <a:t>Романов Александр Дмитриевич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  <a:p>
            <a:pPr algn="r">
              <a:lnSpc>
                <a:spcPts val="2000"/>
              </a:lnSpc>
            </a:pPr>
            <a:r>
              <a:rPr lang="ru-RU" dirty="0" err="1">
                <a:effectLst/>
                <a:latin typeface="Helvetica Neue" panose="02000503000000020004" pitchFamily="2" charset="0"/>
              </a:rPr>
              <a:t>Каматали</a:t>
            </a:r>
            <a:r>
              <a:rPr lang="ru-RU" dirty="0">
                <a:effectLst/>
                <a:latin typeface="Helvetica Neue" panose="02000503000000020004" pitchFamily="2" charset="0"/>
              </a:rPr>
              <a:t> Алина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Аароновна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Московский Политех">
    <a:dk1>
      <a:sysClr val="windowText" lastClr="000000"/>
    </a:dk1>
    <a:lt1>
      <a:sysClr val="window" lastClr="FFFFFF"/>
    </a:lt1>
    <a:dk2>
      <a:srgbClr val="171616"/>
    </a:dk2>
    <a:lt2>
      <a:srgbClr val="E7E6E6"/>
    </a:lt2>
    <a:accent1>
      <a:srgbClr val="E61E46"/>
    </a:accent1>
    <a:accent2>
      <a:srgbClr val="1E3E8D"/>
    </a:accent2>
    <a:accent3>
      <a:srgbClr val="A5A5A5"/>
    </a:accent3>
    <a:accent4>
      <a:srgbClr val="60DCCA"/>
    </a:accent4>
    <a:accent5>
      <a:srgbClr val="3478BC"/>
    </a:accent5>
    <a:accent6>
      <a:srgbClr val="E94572"/>
    </a:accent6>
    <a:hlink>
      <a:srgbClr val="3478BC"/>
    </a:hlink>
    <a:folHlink>
      <a:srgbClr val="E945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10711</TotalTime>
  <Words>665</Words>
  <Application>Microsoft Office PowerPoint</Application>
  <PresentationFormat>Широкоэкранный</PresentationFormat>
  <Paragraphs>71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8" baseType="lpstr">
      <vt:lpstr>Cambria</vt:lpstr>
      <vt:lpstr>Calibri</vt:lpstr>
      <vt:lpstr>DefaultFont</vt:lpstr>
      <vt:lpstr>Arial</vt:lpstr>
      <vt:lpstr>quote-cjk-patch</vt:lpstr>
      <vt:lpstr>Helvetica Neue</vt:lpstr>
      <vt:lpstr>Gilroy Bold</vt:lpstr>
      <vt:lpstr>Gilroy Medium</vt:lpstr>
      <vt:lpstr>system-ui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Рекламный текст по традиционной модели «Перевёрнутая пирамида»</vt:lpstr>
      <vt:lpstr>Реклама-сказка WebFlow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Katsero</dc:creator>
  <cp:lastModifiedBy>K</cp:lastModifiedBy>
  <cp:revision>76</cp:revision>
  <dcterms:created xsi:type="dcterms:W3CDTF">2024-05-27T20:04:35Z</dcterms:created>
  <dcterms:modified xsi:type="dcterms:W3CDTF">2025-12-09T08:47:23Z</dcterms:modified>
</cp:coreProperties>
</file>