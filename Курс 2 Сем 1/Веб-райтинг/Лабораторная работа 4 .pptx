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5"/>
  </p:notesMasterIdLst>
  <p:sldIdLst>
    <p:sldId id="256" r:id="rId2"/>
    <p:sldId id="257" r:id="rId3"/>
    <p:sldId id="275" r:id="rId4"/>
    <p:sldId id="276" r:id="rId5"/>
    <p:sldId id="273" r:id="rId6"/>
    <p:sldId id="277" r:id="rId7"/>
    <p:sldId id="280" r:id="rId8"/>
    <p:sldId id="278" r:id="rId9"/>
    <p:sldId id="274" r:id="rId10"/>
    <p:sldId id="272" r:id="rId11"/>
    <p:sldId id="281" r:id="rId12"/>
    <p:sldId id="279" r:id="rId13"/>
    <p:sldId id="258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Gilroy Bold" pitchFamily="2" charset="0"/>
      <p:bold r:id="rId20"/>
    </p:embeddedFont>
    <p:embeddedFont>
      <p:font typeface="Gilroy Medium" pitchFamily="2" charset="0"/>
      <p:regular r:id="rId21"/>
    </p:embeddedFont>
    <p:embeddedFont>
      <p:font typeface="Verdana" panose="020B0604030504040204" pitchFamily="34" charset="0"/>
      <p:regular r:id="rId22"/>
      <p:bold r:id="rId23"/>
      <p:italic r:id="rId24"/>
      <p:boldItalic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1" d="100"/>
          <a:sy n="121" d="100"/>
        </p:scale>
        <p:origin x="144" y="-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25.11.2025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25.11.2025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25.11.2025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25.11.2025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25.11.2025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25.11.2025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25.11.2025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25.11.2025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Веб-</a:t>
            </a: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райтинг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76899" y="2951946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0" i="0" dirty="0">
                <a:solidFill>
                  <a:srgbClr val="343A40"/>
                </a:solidFill>
                <a:effectLst/>
              </a:rPr>
              <a:t>Работа с рекламным текстом</a:t>
            </a:r>
            <a:endParaRPr kumimoji="0" lang="ru-RU" sz="3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5673438" y="4978637"/>
            <a:ext cx="62030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Андронов Денис Андреевич 241-321, </a:t>
            </a:r>
          </a:p>
          <a:p>
            <a:pPr algn="r">
              <a:lnSpc>
                <a:spcPts val="2000"/>
              </a:lnSpc>
            </a:pPr>
            <a:r>
              <a:rPr lang="ru-RU" dirty="0">
                <a:effectLst/>
                <a:latin typeface="Helvetica Neue" panose="02000503000000020004" pitchFamily="2" charset="0"/>
              </a:rPr>
              <a:t>Романов Александр Дмитриевич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  <a:p>
            <a:pPr algn="r">
              <a:lnSpc>
                <a:spcPts val="2000"/>
              </a:lnSpc>
            </a:pPr>
            <a:r>
              <a:rPr lang="ru-RU" dirty="0" err="1">
                <a:effectLst/>
                <a:latin typeface="Helvetica Neue" panose="02000503000000020004" pitchFamily="2" charset="0"/>
              </a:rPr>
              <a:t>Каматали</a:t>
            </a:r>
            <a:r>
              <a:rPr lang="ru-RU" dirty="0">
                <a:effectLst/>
                <a:latin typeface="Helvetica Neue" panose="02000503000000020004" pitchFamily="2" charset="0"/>
              </a:rPr>
              <a:t> Алина 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Аароновна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2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1662032"/>
            <a:ext cx="94640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dirty="0">
                <a:ea typeface="+mj-ea"/>
                <a:cs typeface="+mj-cs"/>
              </a:rPr>
              <a:t>Цель</a:t>
            </a:r>
            <a:r>
              <a:rPr lang="ru-RU" sz="2400" dirty="0">
                <a:ea typeface="+mj-ea"/>
                <a:cs typeface="+mj-cs"/>
              </a:rPr>
              <a:t>: </a:t>
            </a:r>
            <a:r>
              <a:rPr lang="ru-RU" sz="2400" b="0" i="0" dirty="0">
                <a:solidFill>
                  <a:srgbClr val="343A40"/>
                </a:solidFill>
                <a:effectLst/>
              </a:rPr>
              <a:t>Изучение правил и особенностей работы с текстом как основным элементом рекламной кампании. Разработка «работающего» рекламного текста</a:t>
            </a:r>
            <a:br>
              <a:rPr lang="ru-RU" sz="2400" dirty="0"/>
            </a:br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618B80-1455-6C52-1217-55A675942077}"/>
              </a:ext>
            </a:extLst>
          </p:cNvPr>
          <p:cNvSpPr txBox="1"/>
          <p:nvPr/>
        </p:nvSpPr>
        <p:spPr>
          <a:xfrm>
            <a:off x="457200" y="3272383"/>
            <a:ext cx="112407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Gilroy Bold" panose="00000800000000000000" charset="-52"/>
                <a:ea typeface="+mj-ea"/>
                <a:cs typeface="+mj-cs"/>
              </a:rPr>
              <a:t>Основная задача</a:t>
            </a:r>
            <a:r>
              <a:rPr lang="ru-RU" sz="2400" dirty="0">
                <a:latin typeface="Gilroy Bold" panose="00000800000000000000" charset="-52"/>
                <a:ea typeface="+mj-ea"/>
                <a:cs typeface="+mj-cs"/>
              </a:rPr>
              <a:t>: необходимо придумать слоган вашей веб студии с логической аргументацией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326876" y="538629"/>
            <a:ext cx="6535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charset="-52"/>
                <a:ea typeface="+mj-ea"/>
                <a:cs typeface="+mj-cs"/>
              </a:rPr>
              <a:t>Постановка цели и основной задачи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54937548-38F3-30ED-A2B6-9EB3C34B8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863" y="1690688"/>
            <a:ext cx="10281557" cy="364943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ru-RU" dirty="0"/>
          </a:p>
          <a:p>
            <a:pPr>
              <a:buFont typeface="+mj-lt"/>
              <a:buAutoNum type="arabicPeriod"/>
            </a:pPr>
            <a:r>
              <a:rPr lang="ru-RU" b="1" dirty="0"/>
              <a:t>Типографика</a:t>
            </a:r>
            <a:r>
              <a:rPr lang="ru-RU" dirty="0"/>
              <a:t>: Использование крупных, выразительных шрифтов и цветовых акцентов для выделения ключевых слов и создания уникального стиля текста.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Инфографика</a:t>
            </a:r>
            <a:r>
              <a:rPr lang="ru-RU" dirty="0"/>
              <a:t>: Представление данных и текста в виде графиков, диаграмм и иконок, чтобы упростить восприятие и сделать информацию наглядной.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Иллюстрации и изображения</a:t>
            </a:r>
            <a:r>
              <a:rPr lang="ru-RU" dirty="0"/>
              <a:t>: Использование изображений, которые дополняют текст, усиливают эмоциональный эффект и помогают быстрее донести идею.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Цветовые акценты</a:t>
            </a:r>
            <a:r>
              <a:rPr lang="ru-RU" dirty="0"/>
              <a:t>: Применение цвета для выделения ключевых слов или смысловых блоков, чтобы направлять внимание зрителя.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Анимация и видео</a:t>
            </a:r>
            <a:r>
              <a:rPr lang="ru-RU" dirty="0"/>
              <a:t>: Привлечение внимания и создание динамики с помощью коротких анимаций или видеороликов, что делает текст более живым.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Структурирование текста</a:t>
            </a:r>
            <a:r>
              <a:rPr lang="ru-RU" dirty="0"/>
              <a:t>: Использование подзаголовков, списков и разбиения на блоки для удобства чтения и быстрого восприятия информации.</a:t>
            </a:r>
          </a:p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15CE4A8-7AD3-6269-4E5C-5C7AA6B7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3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82B6B7B-1EF9-D6B7-327E-88832E6C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63" y="555171"/>
            <a:ext cx="8877300" cy="1135517"/>
          </a:xfrm>
        </p:spPr>
        <p:txBody>
          <a:bodyPr/>
          <a:lstStyle/>
          <a:p>
            <a:r>
              <a:rPr lang="ru-RU" b="0" i="0" dirty="0">
                <a:solidFill>
                  <a:srgbClr val="343A40"/>
                </a:solidFill>
                <a:effectLst/>
                <a:latin typeface="+mn-lt"/>
              </a:rPr>
              <a:t>Основные способы визуализации рекламного текста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91522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19DFADAE-7066-9FDB-BF92-9AD54CA35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2049237"/>
            <a:ext cx="10281557" cy="3649434"/>
          </a:xfrm>
        </p:spPr>
        <p:txBody>
          <a:bodyPr>
            <a:normAutofit/>
          </a:bodyPr>
          <a:lstStyle/>
          <a:p>
            <a:r>
              <a:rPr lang="ru-RU" sz="1400" b="1" dirty="0"/>
              <a:t>Пластические возможности фонетики</a:t>
            </a:r>
            <a:r>
              <a:rPr lang="ru-RU" sz="1400" dirty="0"/>
              <a:t> — это изменчивость звуков речи, используемая для создания различных эффектов в языке. Включает: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Акцентуация и интонация</a:t>
            </a:r>
            <a:r>
              <a:rPr lang="ru-RU" sz="1400" dirty="0"/>
              <a:t> — изменение акцента или интонации для выделения информации или создания эмоционального окраса.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Промежуточные звуки</a:t>
            </a:r>
            <a:r>
              <a:rPr lang="ru-RU" sz="1400" dirty="0"/>
              <a:t> — ассимиляция и элизия, влияющие на артикуляцию и звучание.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Аллитерация и ассонанс</a:t>
            </a:r>
            <a:r>
              <a:rPr lang="ru-RU" sz="1400" dirty="0"/>
              <a:t> — повторение звуков для создания ритма и выразительности.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Диалектные особенности</a:t>
            </a:r>
            <a:r>
              <a:rPr lang="ru-RU" sz="1400" dirty="0"/>
              <a:t> — вариативность произношения в разных регионах, добавляющая гибкость в языке.</a:t>
            </a:r>
          </a:p>
          <a:p>
            <a:endParaRPr lang="ru-RU" sz="1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B32E9F-4199-B5C1-C856-43357697E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4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EE1C747-8991-E522-181E-CBCEBD74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43A40"/>
                </a:solidFill>
                <a:effectLst/>
                <a:latin typeface="+mn-lt"/>
              </a:rPr>
              <a:t>  Пластические возможности фонетики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7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2A1B2247-7ADE-8DDD-3B00-974B597FF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685" y="1293768"/>
            <a:ext cx="9826375" cy="5335631"/>
          </a:xfrm>
        </p:spPr>
        <p:txBody>
          <a:bodyPr>
            <a:noAutofit/>
          </a:bodyPr>
          <a:lstStyle/>
          <a:p>
            <a:endParaRPr lang="ru-RU" sz="170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Для компании </a:t>
            </a:r>
            <a:r>
              <a:rPr lang="en" sz="1700" b="1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, </a:t>
            </a:r>
            <a:r>
              <a:rPr lang="ru-RU" sz="17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синестетические</a:t>
            </a: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 словосочетания могут передавать её динамичность, современность и ориентацию на создание интуитивного и плавного цифрового опыта. Вот несколько примеров </a:t>
            </a:r>
            <a:r>
              <a:rPr lang="ru-RU" sz="17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синестетических</a:t>
            </a: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 фраз, которые могли бы описывать ощущения от работы с компанией или её услугами:</a:t>
            </a:r>
          </a:p>
          <a:p>
            <a:pPr marL="0" indent="0" algn="l">
              <a:buNone/>
            </a:pPr>
            <a:r>
              <a:rPr lang="ru-RU" sz="17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«Поток визуальной гармонии»</a:t>
            </a: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передаёт плавность, эстетическую целостность и динамику веб-дизайна, где все элементы движутся в унисон.</a:t>
            </a:r>
          </a:p>
          <a:p>
            <a:pPr marL="0" indent="0" algn="l">
              <a:buNone/>
            </a:pPr>
            <a:r>
              <a:rPr lang="ru-RU" sz="17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«Светящаяся лёгкость интерфейса»</a:t>
            </a: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подчёркивает интуитивность, воздушность и яркость взаимодействия, словно навигация парит в цифровом пространстве.</a:t>
            </a:r>
          </a:p>
          <a:p>
            <a:pPr marL="0" indent="0" algn="l">
              <a:buNone/>
            </a:pPr>
            <a:r>
              <a:rPr lang="ru-RU" sz="17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«Тепло цифрового потока»</a:t>
            </a: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создаёт ощущение комфорта, технологической плавности и дружелюбия, с которым пользователь движется по сайту.</a:t>
            </a:r>
          </a:p>
          <a:p>
            <a:pPr marL="0" indent="0" algn="l">
              <a:buNone/>
            </a:pPr>
            <a:r>
              <a:rPr lang="ru-RU" sz="17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«Кристальная чистота кода»</a:t>
            </a: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отражает безупречную точность, ясность и профессионализм технической реализации, лежащей в основе каждого проекта.</a:t>
            </a:r>
          </a:p>
          <a:p>
            <a:pPr marL="0" indent="0" algn="l">
              <a:buNone/>
            </a:pPr>
            <a:r>
              <a:rPr lang="ru-RU" sz="17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«Эхо инновационных решений»</a:t>
            </a: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усиливает образ студии как новатора, где каждое креативное решение находит отклик и создает долгий резонанс.</a:t>
            </a:r>
          </a:p>
          <a:p>
            <a:pPr marL="0" indent="0" algn="l">
              <a:buNone/>
            </a:pP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Эти фразы подчёркивают сочетание передовых технологий, визуальной привлекательности и бесшовного пользовательского опыта, что делает </a:t>
            </a:r>
            <a:r>
              <a:rPr lang="en" sz="1700" b="1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</a:t>
            </a:r>
            <a:r>
              <a:rPr lang="ru-RU" sz="17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современной и динамичной студией, создающей интуитивные и захватывающие веб-пространства, где каждая деталь течёт в едином ритме.</a:t>
            </a:r>
          </a:p>
          <a:p>
            <a:endParaRPr lang="ru-RU" sz="12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9895606-F70F-8C09-4605-34B2011A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5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85B15DC-0742-41BE-F804-0857B5D1B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686" y="483252"/>
            <a:ext cx="8877300" cy="1135517"/>
          </a:xfrm>
        </p:spPr>
        <p:txBody>
          <a:bodyPr/>
          <a:lstStyle/>
          <a:p>
            <a:r>
              <a:rPr lang="ru-RU" dirty="0">
                <a:solidFill>
                  <a:srgbClr val="343A40"/>
                </a:solidFill>
                <a:latin typeface="+mn-lt"/>
              </a:rPr>
              <a:t>С</a:t>
            </a:r>
            <a:r>
              <a:rPr lang="ru-RU" b="0" i="0" dirty="0">
                <a:solidFill>
                  <a:srgbClr val="343A40"/>
                </a:solidFill>
                <a:effectLst/>
                <a:latin typeface="+mn-lt"/>
              </a:rPr>
              <a:t>оздание </a:t>
            </a:r>
            <a:r>
              <a:rPr lang="ru-RU" b="0" i="0" dirty="0" err="1">
                <a:solidFill>
                  <a:srgbClr val="343A40"/>
                </a:solidFill>
                <a:effectLst/>
                <a:latin typeface="+mn-lt"/>
              </a:rPr>
              <a:t>синестетических</a:t>
            </a:r>
            <a:r>
              <a:rPr lang="ru-RU" b="0" i="0" dirty="0">
                <a:solidFill>
                  <a:srgbClr val="343A40"/>
                </a:solidFill>
                <a:effectLst/>
                <a:latin typeface="+mn-lt"/>
              </a:rPr>
              <a:t> словосочетаний;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0390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F323EB02-CA47-7C50-AC04-A29317552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2049237"/>
            <a:ext cx="10281557" cy="3649434"/>
          </a:xfrm>
        </p:spPr>
        <p:txBody>
          <a:bodyPr>
            <a:normAutofit fontScale="47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ru-RU" sz="29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Кто?</a:t>
            </a:r>
            <a:br>
              <a:rPr lang="ru-RU" sz="29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29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Главный герой — предприниматель, который только что открыл новый бизнес в сфере электронной коммерции. Он нуждается в профессиональном веб-сайте для привлечения клиентов и расширения бизнеса.</a:t>
            </a:r>
          </a:p>
          <a:p>
            <a:pPr algn="l">
              <a:buFont typeface="+mj-lt"/>
              <a:buAutoNum type="arabicPeriod"/>
            </a:pPr>
            <a:r>
              <a:rPr lang="ru-RU" sz="29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Что?</a:t>
            </a:r>
            <a:br>
              <a:rPr lang="ru-RU" sz="29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29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Он обращается в веб-студию </a:t>
            </a:r>
            <a:r>
              <a:rPr lang="ru-RU" sz="29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"</a:t>
            </a:r>
            <a:r>
              <a:rPr lang="en" sz="2900" b="1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29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"</a:t>
            </a:r>
            <a:r>
              <a:rPr lang="en" sz="29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</a:t>
            </a:r>
            <a:r>
              <a:rPr lang="ru-RU" sz="29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для создания сайта, который будет отражать уникальность его бренда и удобно работать на всех устройствах.</a:t>
            </a:r>
          </a:p>
          <a:p>
            <a:pPr algn="l">
              <a:buFont typeface="+mj-lt"/>
              <a:buAutoNum type="arabicPeriod"/>
            </a:pPr>
            <a:r>
              <a:rPr lang="ru-RU" sz="29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Где?</a:t>
            </a:r>
            <a:br>
              <a:rPr lang="ru-RU" sz="29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29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Процесс создания сайта происходит в современном офисе студии, где команда веб-разработчиков и дизайнеров работает над проектом, используя передовые технологии и методологии.</a:t>
            </a:r>
          </a:p>
          <a:p>
            <a:pPr algn="l">
              <a:buFont typeface="+mj-lt"/>
              <a:buAutoNum type="arabicPeriod"/>
            </a:pPr>
            <a:r>
              <a:rPr lang="ru-RU" sz="29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Когда?</a:t>
            </a:r>
            <a:br>
              <a:rPr lang="ru-RU" sz="29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29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Это происходит в начале весны, когда предприниматель планирует запустить свой бизнес в самый активный туристический сезон.</a:t>
            </a:r>
          </a:p>
          <a:p>
            <a:pPr algn="l">
              <a:buFont typeface="+mj-lt"/>
              <a:buAutoNum type="arabicPeriod"/>
            </a:pPr>
            <a:r>
              <a:rPr lang="ru-RU" sz="29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Почему?</a:t>
            </a:r>
            <a:br>
              <a:rPr lang="ru-RU" sz="29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29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Он осознает, что качественный веб-сайт с хорошим пользовательским интерфейсом и дизайном — это ключ к успешному запуску бизнеса. Он хочет выделяться среди конкурентов и привлекать внимание целевой аудитории.</a:t>
            </a:r>
          </a:p>
          <a:p>
            <a:pPr algn="l">
              <a:buFont typeface="+mj-lt"/>
              <a:buAutoNum type="arabicPeriod"/>
            </a:pPr>
            <a:r>
              <a:rPr lang="ru-RU" sz="29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Как?</a:t>
            </a:r>
            <a:br>
              <a:rPr lang="ru-RU" sz="29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29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Команда </a:t>
            </a:r>
            <a:r>
              <a:rPr lang="ru-RU" sz="29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"</a:t>
            </a:r>
            <a:r>
              <a:rPr lang="en" sz="2900" b="1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29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"</a:t>
            </a:r>
            <a:r>
              <a:rPr lang="en" sz="29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</a:t>
            </a:r>
            <a:r>
              <a:rPr lang="ru-RU" sz="29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проводит исследование рынка и разрабатывает уникальный дизайн и функционал для сайта. В результате сайт не только красив, но и удобен для пользователей, что способствует росту числа клиентов и повышению продаж.</a:t>
            </a:r>
          </a:p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FA4A39-6B5C-C29B-E3FB-2E95B532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6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CD504EF-3659-D61A-0BDF-88049049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91570"/>
            <a:ext cx="8877300" cy="1135517"/>
          </a:xfrm>
        </p:spPr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343A40"/>
                </a:solidFill>
                <a:effectLst/>
                <a:latin typeface="+mn-lt"/>
              </a:rPr>
              <a:t>Конструирование </a:t>
            </a:r>
            <a:r>
              <a:rPr lang="ru-RU" b="0" i="0" dirty="0" err="1">
                <a:solidFill>
                  <a:srgbClr val="343A40"/>
                </a:solidFill>
                <a:effectLst/>
                <a:latin typeface="+mn-lt"/>
              </a:rPr>
              <a:t>минисюжетов</a:t>
            </a:r>
            <a:r>
              <a:rPr lang="ru-RU" b="0" i="0" dirty="0">
                <a:solidFill>
                  <a:srgbClr val="343A40"/>
                </a:solidFill>
                <a:effectLst/>
                <a:latin typeface="+mn-lt"/>
              </a:rPr>
              <a:t> с использованием контрольных вопросов Чарльза Осборна;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4956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D884C17A-DEF0-E3FE-B462-722997C18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94" y="2049237"/>
            <a:ext cx="10281557" cy="36494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W</a:t>
            </a:r>
            <a:r>
              <a:rPr lang="en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Веб-решения, что вдохновляют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en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E</a:t>
            </a:r>
            <a:r>
              <a:rPr lang="en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Единство стиля и идей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en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B</a:t>
            </a:r>
            <a:r>
              <a:rPr lang="en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Быстрота как философия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en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F</a:t>
            </a:r>
            <a:r>
              <a:rPr lang="en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Функциональность и страсть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en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L</a:t>
            </a:r>
            <a:r>
              <a:rPr lang="en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Легкость взаимодействия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en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O</a:t>
            </a:r>
            <a:r>
              <a:rPr lang="en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Открытость к инновациям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en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W</a:t>
            </a:r>
            <a:r>
              <a:rPr lang="en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Уверенный рост с </a:t>
            </a:r>
            <a:r>
              <a:rPr lang="en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2B0B277-EB75-2BDC-0985-731BE1627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7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0875DC-33EA-BAB5-05FC-F7EA5EB19BB8}"/>
              </a:ext>
            </a:extLst>
          </p:cNvPr>
          <p:cNvSpPr txBox="1"/>
          <p:nvPr/>
        </p:nvSpPr>
        <p:spPr>
          <a:xfrm>
            <a:off x="601894" y="1159329"/>
            <a:ext cx="61336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Medium" panose="00000600000000000000" charset="-52"/>
                <a:ea typeface="+mj-ea"/>
                <a:cs typeface="+mj-cs"/>
              </a:rPr>
              <a:t>Акростих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34371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AD05E05E-C610-4371-8755-60C0435BB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603" y="2160740"/>
            <a:ext cx="10281557" cy="3744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b="1" dirty="0"/>
              <a:t>Типовые приемы фантазирования для конструирования </a:t>
            </a:r>
            <a:r>
              <a:rPr lang="ru-RU" sz="1400" b="1" dirty="0" err="1"/>
              <a:t>минисюжетов</a:t>
            </a:r>
            <a:r>
              <a:rPr lang="ru-RU" sz="1400" b="1" dirty="0"/>
              <a:t>:</a:t>
            </a:r>
          </a:p>
          <a:p>
            <a:pPr marL="0" indent="0">
              <a:buNone/>
            </a:pPr>
            <a:endParaRPr lang="ru-RU" sz="1400" dirty="0"/>
          </a:p>
          <a:p>
            <a:pPr algn="l">
              <a:buFont typeface="+mj-lt"/>
              <a:buAutoNum type="arabicPeriod"/>
            </a:pPr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Персонажи и превращения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герой меняется, преодолевая трудности (например, преобразование устаревшего сайта в современную цифровую платформу через </a:t>
            </a:r>
            <a:r>
              <a:rPr lang="en" sz="14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Что если...?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гипотетическая ситуация, показывающая последствия действий (например, что если бизнес удвоит конверсию после запуска сайта от </a:t>
            </a:r>
            <a:r>
              <a:rPr lang="en" sz="14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Конфликт и разрешение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описание проблемы и её решения (например, несоответствие сайта мобильным требованиям, решённое с помощью адаптивного дизайна </a:t>
            </a:r>
            <a:r>
              <a:rPr lang="en" sz="14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Ретроспектива и предсказание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показ текущего состояния и возможных последствий (например, рост трафика и узнаваемости бренда после </a:t>
            </a:r>
            <a:r>
              <a:rPr lang="ru-RU" sz="14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редизайна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Путеводная линия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путь героя через этапы преодоления проблем (например, от статичного сайта к динамичному веб-приложению с </a:t>
            </a:r>
            <a:r>
              <a:rPr lang="en" sz="14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Мифологические образы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использование символов и архетипов (например, преодоление "цифрового хаоса" через создание упорядоченного веб-пространства с </a:t>
            </a:r>
            <a:r>
              <a:rPr lang="en" sz="14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).</a:t>
            </a:r>
          </a:p>
          <a:p>
            <a:endParaRPr lang="ru-RU" sz="1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296072D-13DF-B58C-B7B1-CCA006416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8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87F8C0D-76AB-94C5-0FF7-736D92877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798" y="508076"/>
            <a:ext cx="8877300" cy="1135517"/>
          </a:xfrm>
        </p:spPr>
        <p:txBody>
          <a:bodyPr/>
          <a:lstStyle/>
          <a:p>
            <a:r>
              <a:rPr lang="ru-RU" dirty="0">
                <a:solidFill>
                  <a:srgbClr val="343A40"/>
                </a:solidFill>
                <a:latin typeface="+mn-lt"/>
              </a:rPr>
              <a:t>И</a:t>
            </a:r>
            <a:r>
              <a:rPr lang="ru-RU" b="0" i="0" dirty="0">
                <a:solidFill>
                  <a:srgbClr val="343A40"/>
                </a:solidFill>
                <a:effectLst/>
                <a:latin typeface="+mn-lt"/>
              </a:rPr>
              <a:t>спользование типовых приемов фантазирования.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1796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85691-B9A3-A62A-2EA7-FBBF34F51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59C2BC0A-6EA3-2874-F31D-1A4040DDC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103" y="2115402"/>
            <a:ext cx="11401304" cy="3741387"/>
          </a:xfrm>
        </p:spPr>
        <p:txBody>
          <a:bodyPr>
            <a:noAutofit/>
          </a:bodyPr>
          <a:lstStyle/>
          <a:p>
            <a:pPr algn="l"/>
            <a:r>
              <a:rPr lang="en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W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текучий, плавный, динамичный, обволакивающий, гибкий, современный, энергичный, стремительный</a:t>
            </a:r>
          </a:p>
          <a:p>
            <a:pPr algn="l"/>
            <a:r>
              <a:rPr lang="en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E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энергичный, легкий, современный, открытый, ясный, эффективный, цифровой, инновационный</a:t>
            </a:r>
          </a:p>
          <a:p>
            <a:pPr algn="l"/>
            <a:r>
              <a:rPr lang="en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B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надежный, устойчивый, бизнес-ориентированный, сильный, уверенный, профессиональный, технологичный</a:t>
            </a:r>
          </a:p>
          <a:p>
            <a:pPr algn="l"/>
            <a:r>
              <a:rPr lang="en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F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стремительный, плавный, инновационный, </a:t>
            </a:r>
            <a:r>
              <a:rPr lang="ru-RU" sz="18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футуристичный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, быстрый, эффективный, функциональный</a:t>
            </a:r>
          </a:p>
          <a:p>
            <a:pPr algn="l"/>
            <a:r>
              <a:rPr lang="en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L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легкий, плавный, логичный, </a:t>
            </a:r>
            <a:r>
              <a:rPr lang="ru-RU" sz="18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логистичный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, лаконичный, лидирующий, лояльный</a:t>
            </a:r>
          </a:p>
          <a:p>
            <a:pPr algn="l"/>
            <a:r>
              <a:rPr lang="en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O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открытый, оптимальный, организованный, оригинальный, оперативный, отзывчивый, ориентированный</a:t>
            </a:r>
          </a:p>
          <a:p>
            <a:pPr algn="l"/>
            <a:r>
              <a:rPr lang="en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W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прогрессивный, профессиональный, перспективный, практичный, продуктивный, привлекательный</a:t>
            </a:r>
          </a:p>
          <a:p>
            <a:pPr marL="0" indent="0">
              <a:buNone/>
            </a:pPr>
            <a:endParaRPr lang="ru-RU" sz="12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3EB59F4-D385-1BDF-8C46-3F4A9FDC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2248" y="5856790"/>
            <a:ext cx="1461148" cy="1001210"/>
          </a:xfrm>
        </p:spPr>
        <p:txBody>
          <a:bodyPr/>
          <a:lstStyle/>
          <a:p>
            <a:r>
              <a:rPr lang="ru-RU" dirty="0"/>
              <a:t>11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3D10F84-22F2-19CC-9688-B1C3A3E35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31" y="722412"/>
            <a:ext cx="8877300" cy="1135517"/>
          </a:xfrm>
        </p:spPr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343A40"/>
                </a:solidFill>
                <a:effectLst/>
                <a:latin typeface="+mn-lt"/>
              </a:rPr>
              <a:t>Анализ названия компании с точки зрения звукового восприятия.</a:t>
            </a:r>
            <a:br>
              <a:rPr lang="ru-RU" b="0" i="0" dirty="0">
                <a:solidFill>
                  <a:srgbClr val="343A40"/>
                </a:solidFill>
                <a:effectLst/>
                <a:latin typeface="+mn-lt"/>
              </a:rPr>
            </a:br>
            <a:br>
              <a:rPr lang="ru-RU" dirty="0">
                <a:latin typeface="+mn-lt"/>
              </a:rPr>
            </a:b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5422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D799139-DCEE-644C-9F09-D5348DBC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10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054DBB5-C310-668F-D13F-DDE474966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52" y="527203"/>
            <a:ext cx="8877300" cy="1135517"/>
          </a:xfrm>
        </p:spPr>
        <p:txBody>
          <a:bodyPr>
            <a:normAutofit fontScale="90000"/>
          </a:bodyPr>
          <a:lstStyle/>
          <a:p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DefaultFont"/>
                <a:ea typeface="+mj-ea"/>
                <a:cs typeface="+mj-cs"/>
              </a:rPr>
              <a:t>Ана</a:t>
            </a:r>
            <a:r>
              <a:rPr lang="ru-RU" sz="3200" dirty="0" err="1">
                <a:solidFill>
                  <a:srgbClr val="343A40"/>
                </a:solidFill>
                <a:latin typeface="DefaultFont"/>
                <a:ea typeface="+mj-ea"/>
                <a:cs typeface="+mj-cs"/>
              </a:rPr>
              <a:t>лиз</a:t>
            </a:r>
            <a:r>
              <a:rPr lang="ru-RU" sz="3200" dirty="0">
                <a:solidFill>
                  <a:srgbClr val="343A40"/>
                </a:solidFill>
                <a:latin typeface="DefaultFont"/>
                <a:ea typeface="+mj-ea"/>
                <a:cs typeface="+mj-cs"/>
              </a:rPr>
              <a:t> компании с точки зрения звукового восприятия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</a:b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</a:br>
            <a:endParaRPr lang="ru-RU" dirty="0">
              <a:latin typeface="+mn-lt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E09681B-EE9C-B542-A069-E55C20E2B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9430"/>
            <a:ext cx="2430517" cy="364943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16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Сильные стороны:</a:t>
            </a:r>
            <a:endParaRPr lang="ru-RU" sz="1600" b="0" i="0" u="none" strike="noStrike" dirty="0">
              <a:solidFill>
                <a:schemeClr val="tx1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Технологичный (9)</a:t>
            </a:r>
          </a:p>
          <a:p>
            <a:pPr marL="0" indent="0" algn="l">
              <a:buNone/>
            </a:pPr>
            <a: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Динамичный (8)</a:t>
            </a:r>
          </a:p>
          <a:p>
            <a:pPr marL="0" indent="0" algn="l">
              <a:buNone/>
            </a:pPr>
            <a: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Профессиональный (7)</a:t>
            </a:r>
          </a:p>
          <a:p>
            <a:pPr marL="0" indent="0" algn="l">
              <a:buNone/>
            </a:pPr>
            <a: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Инновационный (7)</a:t>
            </a:r>
          </a:p>
          <a:p>
            <a:pPr marL="0" indent="0" algn="l">
              <a:buNone/>
            </a:pPr>
            <a: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Плавный (6)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Объект 5">
            <a:extLst>
              <a:ext uri="{FF2B5EF4-FFF2-40B4-BE49-F238E27FC236}">
                <a16:creationId xmlns:a16="http://schemas.microsoft.com/office/drawing/2014/main" id="{BEB30EBB-FBF0-DA48-92C7-D97E027361AA}"/>
              </a:ext>
            </a:extLst>
          </p:cNvPr>
          <p:cNvSpPr txBox="1">
            <a:spLocks/>
          </p:cNvSpPr>
          <p:nvPr/>
        </p:nvSpPr>
        <p:spPr>
          <a:xfrm>
            <a:off x="3665483" y="1958681"/>
            <a:ext cx="2430517" cy="3649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600" b="1" dirty="0">
                <a:solidFill>
                  <a:schemeClr val="tx1"/>
                </a:solidFill>
                <a:latin typeface="quote-cjk-patch"/>
              </a:rPr>
              <a:t>Позитивные качества:</a:t>
            </a:r>
            <a:endParaRPr lang="ru-RU" sz="1600" dirty="0">
              <a:solidFill>
                <a:schemeClr val="tx1"/>
              </a:solidFill>
              <a:latin typeface="quote-cjk-patch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quote-cjk-patch"/>
              </a:rPr>
              <a:t>Надежный (5)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quote-cjk-patch"/>
              </a:rPr>
              <a:t>Эффективный (5)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quote-cjk-patch"/>
              </a:rPr>
              <a:t>Современный (5)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quote-cjk-patch"/>
              </a:rPr>
              <a:t>Энергичный (4)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quote-cjk-patch"/>
              </a:rPr>
              <a:t>Стремительный (4)</a:t>
            </a:r>
          </a:p>
          <a:p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1" name="Объект 5">
            <a:extLst>
              <a:ext uri="{FF2B5EF4-FFF2-40B4-BE49-F238E27FC236}">
                <a16:creationId xmlns:a16="http://schemas.microsoft.com/office/drawing/2014/main" id="{2BE21055-5F1C-EA41-8904-628C38A14C33}"/>
              </a:ext>
            </a:extLst>
          </p:cNvPr>
          <p:cNvSpPr txBox="1">
            <a:spLocks/>
          </p:cNvSpPr>
          <p:nvPr/>
        </p:nvSpPr>
        <p:spPr>
          <a:xfrm>
            <a:off x="7023538" y="1958681"/>
            <a:ext cx="2430517" cy="3649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600" b="1" dirty="0">
                <a:solidFill>
                  <a:schemeClr val="tx1"/>
                </a:solidFill>
                <a:latin typeface="quote-cjk-patch"/>
              </a:rPr>
              <a:t>Нейтральные/отрицательные черты:</a:t>
            </a:r>
            <a:endParaRPr lang="ru-RU" sz="1600" dirty="0">
              <a:solidFill>
                <a:schemeClr val="tx1"/>
              </a:solidFill>
              <a:latin typeface="quote-cjk-patch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quote-cjk-patch"/>
              </a:rPr>
              <a:t>Агрессивный (2)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quote-cjk-patch"/>
              </a:rPr>
              <a:t>Сложный (1)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quote-cjk-patch"/>
              </a:rPr>
              <a:t>Статичный (1)</a:t>
            </a:r>
          </a:p>
          <a:p>
            <a:endParaRPr lang="ru-R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334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3A701-CE8A-C072-83AB-AA30896DA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E352D338-C485-28E7-E5A7-738D9E35E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352" y="1143601"/>
            <a:ext cx="11044049" cy="37316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По итогу анализа названия компании </a:t>
            </a:r>
            <a:r>
              <a:rPr lang="en" sz="14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 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с точки зрения звукового восприятия можно прийти к выводу, что название веб-студии в большей мере ассоциируется с </a:t>
            </a:r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технологичностью, плавностью, динамикой развития, современным подходом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и </a:t>
            </a:r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эффективностью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. Звуковой образ передает ощущение непрерывного потока, естественного движения и гармоничного взаимодействия, что идеально соответствует философии компании, создающей интуитивные и прогрессивные веб-решения.</a:t>
            </a:r>
            <a:endParaRPr lang="ru-RU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022F99C-3770-9FA9-59A6-DB23575D5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11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75D3B54-9D7D-3174-C234-5475EE64C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52" y="527203"/>
            <a:ext cx="8877300" cy="1135517"/>
          </a:xfrm>
        </p:spPr>
        <p:txBody>
          <a:bodyPr>
            <a:normAutofit fontScale="90000"/>
          </a:bodyPr>
          <a:lstStyle/>
          <a:p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DefaultFont"/>
                <a:ea typeface="+mj-ea"/>
                <a:cs typeface="+mj-cs"/>
              </a:rPr>
              <a:t>Ана</a:t>
            </a:r>
            <a:r>
              <a:rPr lang="ru-RU" sz="3200" dirty="0" err="1">
                <a:solidFill>
                  <a:srgbClr val="343A40"/>
                </a:solidFill>
                <a:latin typeface="DefaultFont"/>
                <a:ea typeface="+mj-ea"/>
                <a:cs typeface="+mj-cs"/>
              </a:rPr>
              <a:t>лиз</a:t>
            </a:r>
            <a:r>
              <a:rPr lang="ru-RU" sz="3200" dirty="0">
                <a:solidFill>
                  <a:srgbClr val="343A40"/>
                </a:solidFill>
                <a:latin typeface="DefaultFont"/>
                <a:ea typeface="+mj-ea"/>
                <a:cs typeface="+mj-cs"/>
              </a:rPr>
              <a:t> компании с точки зрения звукового восприятия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</a:b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</a:b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1006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80F00D0D-29F2-25CB-CDA3-1FCDD00C2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072" y="1856689"/>
            <a:ext cx="9302393" cy="4889278"/>
          </a:xfrm>
        </p:spPr>
        <p:txBody>
          <a:bodyPr>
            <a:noAutofit/>
          </a:bodyPr>
          <a:lstStyle/>
          <a:p>
            <a:pPr algn="l"/>
            <a:r>
              <a:rPr lang="ru-RU" sz="16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Где?</a:t>
            </a:r>
            <a:b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В </a:t>
            </a:r>
            <a:r>
              <a:rPr lang="en" sz="1600" b="1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</a:t>
            </a:r>
            <a: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мы создаем не просто сайты, а цифровые экосистемы, которые живут и развиваются вместе с вашим бизнесом.</a:t>
            </a:r>
          </a:p>
          <a:p>
            <a:pPr algn="l"/>
            <a:r>
              <a:rPr lang="ru-RU" sz="16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Почему выбрать нас?</a:t>
            </a:r>
            <a:b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Инновационные технологии и стратегический дизайн-подход, создающий идеальное сочетание эстетики и функциональности.</a:t>
            </a:r>
          </a:p>
          <a:p>
            <a:pPr algn="l"/>
            <a:r>
              <a:rPr lang="ru-RU" sz="16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Как работаем?</a:t>
            </a:r>
            <a:b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Как природный поток: естественно, мощно и непрерывно — от концепции до реализации.</a:t>
            </a:r>
          </a:p>
          <a:p>
            <a:pPr algn="l"/>
            <a:r>
              <a:rPr lang="ru-RU" sz="16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Путеводная линия:</a:t>
            </a:r>
            <a:b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От цифрового хаоса к упорядоченному успеху с </a:t>
            </a:r>
            <a:r>
              <a:rPr lang="en" sz="1600" b="1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ваш бизнес обретает новое дыхание.</a:t>
            </a:r>
          </a:p>
          <a:p>
            <a:pPr algn="l"/>
            <a:r>
              <a:rPr lang="ru-RU" sz="1600" b="1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Синестетические</a:t>
            </a:r>
            <a:r>
              <a:rPr lang="ru-RU" sz="16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 словосочетания:</a:t>
            </a:r>
            <a:b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1600" b="0" i="1" u="none" strike="noStrike" dirty="0">
                <a:solidFill>
                  <a:schemeClr val="tx1"/>
                </a:solidFill>
                <a:effectLst/>
                <a:latin typeface="quote-cjk-patch"/>
              </a:rPr>
              <a:t>Визуальная мелодия интерфейса</a:t>
            </a:r>
            <a:b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1600" b="0" i="1" u="none" strike="noStrike" dirty="0">
                <a:solidFill>
                  <a:schemeClr val="tx1"/>
                </a:solidFill>
                <a:effectLst/>
                <a:latin typeface="quote-cjk-patch"/>
              </a:rPr>
              <a:t>Тепло цифрового взаимодействия</a:t>
            </a:r>
            <a:b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1600" b="0" i="1" u="none" strike="noStrike" dirty="0">
                <a:solidFill>
                  <a:schemeClr val="tx1"/>
                </a:solidFill>
                <a:effectLst/>
                <a:latin typeface="quote-cjk-patch"/>
              </a:rPr>
              <a:t>Прозрачность технологичных решений</a:t>
            </a:r>
            <a:endParaRPr lang="ru-RU" sz="1600" b="0" i="0" u="none" strike="noStrike" dirty="0">
              <a:solidFill>
                <a:schemeClr val="tx1"/>
              </a:solidFill>
              <a:effectLst/>
              <a:latin typeface="quote-cjk-patch"/>
            </a:endParaRPr>
          </a:p>
          <a:p>
            <a:pPr algn="l"/>
            <a:r>
              <a:rPr lang="ru-RU" sz="16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Эхо-фраза:</a:t>
            </a:r>
            <a:b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en" sz="1600" b="1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sz="16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там, где идеи обретают течение!</a:t>
            </a:r>
          </a:p>
          <a:p>
            <a:pPr marL="0" indent="0">
              <a:buNone/>
            </a:pPr>
            <a:endParaRPr lang="ru-RU" sz="1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CE7C4FF-F3DA-23A4-DC6B-D40A71153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12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E5617E0-9B2E-52E5-CEB1-1A660693F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184" y="829254"/>
            <a:ext cx="8877300" cy="1135517"/>
          </a:xfrm>
        </p:spPr>
        <p:txBody>
          <a:bodyPr>
            <a:noAutofit/>
          </a:bodyPr>
          <a:lstStyle/>
          <a:p>
            <a:r>
              <a:rPr lang="ru-RU" sz="1400" b="0" i="0" dirty="0">
                <a:solidFill>
                  <a:srgbClr val="343A40"/>
                </a:solidFill>
                <a:effectLst/>
                <a:latin typeface="+mn-lt"/>
              </a:rPr>
              <a:t>Разработка рекламного текста для своей разрабатываемой компании. В рекламном тексте должны быть использованы идеи из списка контрольных вопросов по Осборну и какой-либо из типовых приемов фантазирования, а также задействованы </a:t>
            </a:r>
            <a:r>
              <a:rPr lang="ru-RU" sz="1400" b="0" i="0" dirty="0" err="1">
                <a:solidFill>
                  <a:srgbClr val="343A40"/>
                </a:solidFill>
                <a:effectLst/>
                <a:latin typeface="+mn-lt"/>
              </a:rPr>
              <a:t>синестетические</a:t>
            </a:r>
            <a:r>
              <a:rPr lang="ru-RU" sz="1400" b="0" i="0" dirty="0">
                <a:solidFill>
                  <a:srgbClr val="343A40"/>
                </a:solidFill>
                <a:effectLst/>
                <a:latin typeface="+mn-lt"/>
              </a:rPr>
              <a:t> словосочетания.</a:t>
            </a:r>
            <a:br>
              <a:rPr lang="ru-RU" sz="1400" b="0" i="0" dirty="0">
                <a:solidFill>
                  <a:srgbClr val="343A40"/>
                </a:solidFill>
                <a:effectLst/>
                <a:latin typeface="+mn-lt"/>
              </a:rPr>
            </a:br>
            <a:br>
              <a:rPr lang="ru-RU" sz="1400" dirty="0">
                <a:latin typeface="+mn-lt"/>
              </a:rPr>
            </a:br>
            <a:endParaRPr lang="ru-RU" sz="14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DC855-5775-CFB0-C3B6-A7CA5337AD49}"/>
              </a:ext>
            </a:extLst>
          </p:cNvPr>
          <p:cNvSpPr txBox="1"/>
          <p:nvPr/>
        </p:nvSpPr>
        <p:spPr>
          <a:xfrm>
            <a:off x="2395959" y="6134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2651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2025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268561" y="3044279"/>
            <a:ext cx="96548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Разработка слогана компании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E13023-76F4-C3B7-2ADD-3CB7FBF2CC7A}"/>
              </a:ext>
            </a:extLst>
          </p:cNvPr>
          <p:cNvSpPr txBox="1"/>
          <p:nvPr/>
        </p:nvSpPr>
        <p:spPr>
          <a:xfrm>
            <a:off x="5219279" y="542298"/>
            <a:ext cx="6503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Спасибо за внимание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E3D1DC-6121-6B4F-87CF-E4EDF1CD724E}"/>
              </a:ext>
            </a:extLst>
          </p:cNvPr>
          <p:cNvSpPr txBox="1"/>
          <p:nvPr/>
        </p:nvSpPr>
        <p:spPr>
          <a:xfrm>
            <a:off x="5673438" y="4978637"/>
            <a:ext cx="62030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Андронов Денис Андреевич 241-321, </a:t>
            </a:r>
          </a:p>
          <a:p>
            <a:pPr algn="r">
              <a:lnSpc>
                <a:spcPts val="2000"/>
              </a:lnSpc>
            </a:pPr>
            <a:r>
              <a:rPr lang="ru-RU" dirty="0">
                <a:effectLst/>
                <a:latin typeface="Helvetica Neue" panose="02000503000000020004" pitchFamily="2" charset="0"/>
              </a:rPr>
              <a:t>Романов Александр Дмитриевич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  <a:p>
            <a:pPr algn="r">
              <a:lnSpc>
                <a:spcPts val="2000"/>
              </a:lnSpc>
            </a:pPr>
            <a:r>
              <a:rPr lang="ru-RU" dirty="0" err="1">
                <a:effectLst/>
                <a:latin typeface="Helvetica Neue" panose="02000503000000020004" pitchFamily="2" charset="0"/>
              </a:rPr>
              <a:t>Каматали</a:t>
            </a:r>
            <a:r>
              <a:rPr lang="ru-RU" dirty="0">
                <a:effectLst/>
                <a:latin typeface="Helvetica Neue" panose="02000503000000020004" pitchFamily="2" charset="0"/>
              </a:rPr>
              <a:t> Алина 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Аароновна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</Template>
  <TotalTime>2067</TotalTime>
  <Words>1290</Words>
  <Application>Microsoft Macintosh PowerPoint</Application>
  <PresentationFormat>Широкоэкранный</PresentationFormat>
  <Paragraphs>107</Paragraphs>
  <Slides>13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Calibri</vt:lpstr>
      <vt:lpstr>Arial</vt:lpstr>
      <vt:lpstr>Gilroy Bold</vt:lpstr>
      <vt:lpstr>DefaultFont</vt:lpstr>
      <vt:lpstr>Helvetica Neue</vt:lpstr>
      <vt:lpstr>Verdana</vt:lpstr>
      <vt:lpstr>Gilroy Medium</vt:lpstr>
      <vt:lpstr>quote-cjk-patch</vt:lpstr>
      <vt:lpstr>Verdana </vt:lpstr>
      <vt:lpstr>Тема2</vt:lpstr>
      <vt:lpstr>Презентация PowerPoint</vt:lpstr>
      <vt:lpstr>Презентация PowerPoint</vt:lpstr>
      <vt:lpstr>Основные способы визуализации рекламного текста</vt:lpstr>
      <vt:lpstr>  Пластические возможности фонетики</vt:lpstr>
      <vt:lpstr>Создание синестетических словосочетаний;</vt:lpstr>
      <vt:lpstr>Конструирование минисюжетов с использованием контрольных вопросов Чарльза Осборна;</vt:lpstr>
      <vt:lpstr>Презентация PowerPoint</vt:lpstr>
      <vt:lpstr>Использование типовых приемов фантазирования.</vt:lpstr>
      <vt:lpstr>Анализ названия компании с точки зрения звукового восприятия.  </vt:lpstr>
      <vt:lpstr>Анализ компании с точки зрения звукового восприятия  </vt:lpstr>
      <vt:lpstr>Анализ компании с точки зрения звукового восприятия  </vt:lpstr>
      <vt:lpstr>Разработка рекламного текста для своей разрабатываемой компании. В рекламном тексте должны быть использованы идеи из списка контрольных вопросов по Осборну и какой-либо из типовых приемов фантазирования, а также задействованы синестетические словосочетания. 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Maibenben</dc:creator>
  <cp:lastModifiedBy>Microsoft Office User</cp:lastModifiedBy>
  <cp:revision>74</cp:revision>
  <dcterms:created xsi:type="dcterms:W3CDTF">2024-05-27T20:04:35Z</dcterms:created>
  <dcterms:modified xsi:type="dcterms:W3CDTF">2025-11-25T08:36:04Z</dcterms:modified>
</cp:coreProperties>
</file>