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9"/>
  </p:notesMasterIdLst>
  <p:sldIdLst>
    <p:sldId id="256" r:id="rId2"/>
    <p:sldId id="257" r:id="rId3"/>
    <p:sldId id="268" r:id="rId4"/>
    <p:sldId id="269" r:id="rId5"/>
    <p:sldId id="270" r:id="rId6"/>
    <p:sldId id="271" r:id="rId7"/>
    <p:sldId id="258" r:id="rId8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Gilroy Bold" panose="00000800000000000000" charset="0"/>
      <p:bold r:id="rId14"/>
    </p:embeddedFont>
    <p:embeddedFont>
      <p:font typeface="Gilroy Medium" panose="00000600000000000000" charset="0"/>
      <p:regular r:id="rId15"/>
    </p:embeddedFont>
    <p:embeddedFont>
      <p:font typeface="Verdana" panose="020B0604030504040204" pitchFamily="34" charset="0"/>
      <p:regular r:id="rId16"/>
      <p:bold r:id="rId17"/>
      <p:italic r:id="rId18"/>
      <p:boldItalic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830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5934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748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884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650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02.12.2025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02.12.2025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02.12.2025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02.12.2025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02.12.2025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02.12.2025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02.12.2025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02.12.2025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Веб-</a:t>
            </a: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райтинг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76899" y="2951946"/>
            <a:ext cx="1188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Разработка классического рекламного текста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5673438" y="4978637"/>
            <a:ext cx="6203086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Студент:  Каматали Алина Аароновна,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Романов Александр Дмитриевич,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Андронов Денис Андреевич, группа 241-321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Преподаватели: Смирнова Юлия Владимировна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Кулибаба Ирина Викторовна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549EF8-B780-5DED-62AA-D959F4639613}"/>
              </a:ext>
            </a:extLst>
          </p:cNvPr>
          <p:cNvSpPr txBox="1"/>
          <p:nvPr/>
        </p:nvSpPr>
        <p:spPr>
          <a:xfrm>
            <a:off x="2994457" y="3523035"/>
            <a:ext cx="6203086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«Рекламный текст»</a:t>
            </a:r>
            <a:endParaRPr lang="ru-RU" dirty="0">
              <a:solidFill>
                <a:schemeClr val="tx1"/>
              </a:solidFill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2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130029" y="6476863"/>
            <a:ext cx="8434457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Каматали А.А, Романов А.Д, Анронов Д.А</a:t>
            </a:r>
            <a:r>
              <a:rPr lang="ru-RU" sz="1100" dirty="0"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– группа 241-321</a:t>
            </a:r>
          </a:p>
          <a:p>
            <a:pPr lvl="0">
              <a:lnSpc>
                <a:spcPts val="1600"/>
              </a:lnSpc>
              <a:defRPr/>
            </a:pPr>
            <a:endParaRPr lang="ru-RU" sz="1100" dirty="0">
              <a:solidFill>
                <a:prstClr val="black"/>
              </a:solidFill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1845733"/>
            <a:ext cx="946400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Gilroy Bold" panose="00000800000000000000" charset="-52"/>
                <a:ea typeface="+mj-ea"/>
                <a:cs typeface="+mj-cs"/>
              </a:rPr>
              <a:t>Цель</a:t>
            </a:r>
            <a:r>
              <a:rPr lang="ru-RU" dirty="0">
                <a:latin typeface="Gilroy Bold" panose="00000800000000000000" charset="-52"/>
                <a:ea typeface="+mj-ea"/>
                <a:cs typeface="+mj-cs"/>
              </a:rPr>
              <a:t>: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kumimoji="0" lang="ru-RU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изучить правила и особенности разработки рекламного текста как ведущего звена внешних корпоративных коммуникаций. Разработать </a:t>
            </a:r>
            <a:r>
              <a:rPr lang="ru-RU" dirty="0">
                <a:latin typeface="Gilroy Medium" panose="00000600000000000000" charset="-52"/>
              </a:rPr>
              <a:t>«работающий» рекламный текст.</a:t>
            </a:r>
            <a:endParaRPr lang="ru-RU" dirty="0">
              <a:solidFill>
                <a:schemeClr val="tx1"/>
              </a:solidFill>
              <a:latin typeface="Gilroy Medium" panose="00000600000000000000" charset="-52"/>
            </a:endParaRPr>
          </a:p>
          <a:p>
            <a:endParaRPr kumimoji="0" lang="en-US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0259-6E5B-CD0B-F8B8-C409288C91FA}"/>
              </a:ext>
            </a:extLst>
          </p:cNvPr>
          <p:cNvSpPr txBox="1"/>
          <p:nvPr/>
        </p:nvSpPr>
        <p:spPr>
          <a:xfrm>
            <a:off x="326876" y="538629"/>
            <a:ext cx="65350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charset="-52"/>
                <a:ea typeface="+mj-ea"/>
                <a:cs typeface="+mj-cs"/>
              </a:rPr>
              <a:t>Постановка цели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3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130029" y="6476863"/>
            <a:ext cx="8434457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Каматали А.А, Романов А.Д, Анронов Д.А</a:t>
            </a:r>
            <a:r>
              <a:rPr lang="ru-RU" sz="1100" dirty="0"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– группа 241-321</a:t>
            </a:r>
          </a:p>
          <a:p>
            <a:pPr lvl="0">
              <a:lnSpc>
                <a:spcPts val="1600"/>
              </a:lnSpc>
              <a:defRPr/>
            </a:pPr>
            <a:endParaRPr lang="ru-RU" sz="1100" dirty="0">
              <a:solidFill>
                <a:prstClr val="black"/>
              </a:solidFill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26876" y="1404862"/>
            <a:ext cx="94640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Gilroy Medium" panose="00000600000000000000" charset="0"/>
                <a:ea typeface="+mj-ea"/>
                <a:cs typeface="+mj-cs"/>
              </a:rPr>
              <a:t>Рекламный текст </a:t>
            </a:r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— это структурированное вербальное сообщение, являющееся основным инструментом передачи коммерческого предложения и ключевой идеи бренда целевой аудитории.</a:t>
            </a:r>
            <a:endParaRPr lang="en-US" dirty="0">
              <a:latin typeface="Gilroy Medium" panose="00000600000000000000" charset="0"/>
              <a:ea typeface="+mj-ea"/>
              <a:cs typeface="+mj-cs"/>
            </a:endParaRPr>
          </a:p>
          <a:p>
            <a:endParaRPr kumimoji="0" lang="en-US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noProof="0" dirty="0">
                <a:latin typeface="Gilroy Medium" panose="00000600000000000000" charset="0"/>
                <a:ea typeface="+mj-ea"/>
                <a:cs typeface="+mj-cs"/>
              </a:rPr>
              <a:t>Он нужен чтобы:</a:t>
            </a:r>
          </a:p>
          <a:p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1. Привлечь внимание.</a:t>
            </a:r>
          </a:p>
          <a:p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2. Вызвать интерес к продукту или услуге.</a:t>
            </a:r>
          </a:p>
          <a:p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3. Сформировать желание приобрести товар или воспользоваться услугой.</a:t>
            </a:r>
          </a:p>
          <a:p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4. Стимулировать действие (покупку, заявку, звонок).</a:t>
            </a:r>
          </a:p>
          <a:p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5. Сделать образ бренда более запоминающимся.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0259-6E5B-CD0B-F8B8-C409288C91FA}"/>
              </a:ext>
            </a:extLst>
          </p:cNvPr>
          <p:cNvSpPr txBox="1"/>
          <p:nvPr/>
        </p:nvSpPr>
        <p:spPr>
          <a:xfrm>
            <a:off x="326876" y="538629"/>
            <a:ext cx="65350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charset="-52"/>
                <a:ea typeface="+mj-ea"/>
                <a:cs typeface="+mj-cs"/>
              </a:rPr>
              <a:t>Рекламный текст: назначение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25465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4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130029" y="6476863"/>
            <a:ext cx="8434457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Каматали А.А, Романов А.Д, Анронов Д.А</a:t>
            </a:r>
            <a:r>
              <a:rPr lang="ru-RU" sz="1100" dirty="0"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– группа 241-321</a:t>
            </a:r>
          </a:p>
          <a:p>
            <a:pPr lvl="0">
              <a:lnSpc>
                <a:spcPts val="1600"/>
              </a:lnSpc>
              <a:defRPr/>
            </a:pPr>
            <a:endParaRPr lang="ru-RU" sz="1100" dirty="0">
              <a:solidFill>
                <a:prstClr val="black"/>
              </a:solidFill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26876" y="1478340"/>
            <a:ext cx="946400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Классическая модель для составления рекламных текстов включает в себя:</a:t>
            </a:r>
          </a:p>
          <a:p>
            <a:endParaRPr kumimoji="0" lang="ru-RU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1. Зачин (Цепляющий заголовок) – нужен для привлечения внимания.</a:t>
            </a:r>
          </a:p>
          <a:p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Пример: «Хотите превратить посетителей в реальных клиентов?»</a:t>
            </a:r>
          </a:p>
          <a:p>
            <a:endParaRPr lang="ru-RU" dirty="0"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2. Основной текст (Раскрытие предложения) – помогает разжечь интерес лида, сформировать желание. Здесь приводятся аргументы, выгоды и факты.</a:t>
            </a:r>
          </a:p>
          <a:p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Пример: «...создаем сайты, которые... эффективно решают задачи бизнеса... оснащены аналитикой...»</a:t>
            </a:r>
          </a:p>
          <a:p>
            <a:endParaRPr lang="ru-RU" dirty="0"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3. Эхо-фраза (Слоган или призыв к действию) – нужен чтобы подтолкнуть к действию и закрепить ключевую мысль в памяти.</a:t>
            </a:r>
          </a:p>
          <a:p>
            <a:r>
              <a:rPr lang="ru-RU" dirty="0">
                <a:latin typeface="Gilroy Medium" panose="00000600000000000000" charset="0"/>
                <a:ea typeface="+mj-ea"/>
                <a:cs typeface="+mj-cs"/>
              </a:rPr>
              <a:t>Пример: «WebFlow — ваш сайт, ваш успех!»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0259-6E5B-CD0B-F8B8-C409288C91FA}"/>
              </a:ext>
            </a:extLst>
          </p:cNvPr>
          <p:cNvSpPr txBox="1"/>
          <p:nvPr/>
        </p:nvSpPr>
        <p:spPr>
          <a:xfrm>
            <a:off x="326876" y="538629"/>
            <a:ext cx="65350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charset="-52"/>
                <a:ea typeface="+mj-ea"/>
                <a:cs typeface="+mj-cs"/>
              </a:rPr>
              <a:t>Рекламный текст: структура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79802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5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130029" y="6476863"/>
            <a:ext cx="8434457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Каматали А.А, Романов А.Д, Анронов Д.А</a:t>
            </a:r>
            <a:r>
              <a:rPr lang="ru-RU" sz="1100" dirty="0"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– группа 241-321</a:t>
            </a:r>
          </a:p>
          <a:p>
            <a:pPr lvl="0">
              <a:lnSpc>
                <a:spcPts val="1600"/>
              </a:lnSpc>
              <a:defRPr/>
            </a:pPr>
            <a:endParaRPr lang="ru-RU" sz="1100" dirty="0">
              <a:solidFill>
                <a:prstClr val="black"/>
              </a:solidFill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26876" y="1853897"/>
            <a:ext cx="1134221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Gilroy Medium" panose="00000600000000000000" charset="0"/>
                <a:ea typeface="+mj-ea"/>
                <a:cs typeface="+mj-cs"/>
              </a:rPr>
              <a:t>1. Использование риторического вопроса: заставляет задуматься и помогает вовлечь аудиторию в диалог.</a:t>
            </a:r>
          </a:p>
          <a:p>
            <a:r>
              <a:rPr lang="ru-RU" sz="1600" dirty="0">
                <a:latin typeface="Gilroy Medium" panose="00000600000000000000" charset="0"/>
                <a:ea typeface="+mj-ea"/>
                <a:cs typeface="+mj-cs"/>
              </a:rPr>
              <a:t>Пример: «Хотите превратить посетителей в реальных клиентов?»</a:t>
            </a:r>
            <a:endParaRPr lang="en-US" sz="1600" dirty="0">
              <a:latin typeface="Gilroy Medium" panose="00000600000000000000" charset="0"/>
              <a:ea typeface="+mj-ea"/>
              <a:cs typeface="+mj-cs"/>
            </a:endParaRPr>
          </a:p>
          <a:p>
            <a:endParaRPr lang="ru-RU" sz="1600" dirty="0"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sz="1600" dirty="0">
                <a:latin typeface="Gilroy Medium" panose="00000600000000000000" charset="0"/>
                <a:ea typeface="+mj-ea"/>
                <a:cs typeface="+mj-cs"/>
              </a:rPr>
              <a:t>2.</a:t>
            </a:r>
            <a:r>
              <a:rPr lang="en-US" sz="1600" dirty="0">
                <a:latin typeface="Gilroy Medium" panose="00000600000000000000" charset="0"/>
                <a:ea typeface="+mj-ea"/>
                <a:cs typeface="+mj-cs"/>
              </a:rPr>
              <a:t> </a:t>
            </a:r>
            <a:r>
              <a:rPr lang="ru-RU" sz="1600" dirty="0">
                <a:latin typeface="Gilroy Medium" panose="00000600000000000000" charset="0"/>
                <a:ea typeface="+mj-ea"/>
                <a:cs typeface="+mj-cs"/>
              </a:rPr>
              <a:t>Зачин-решение проблемы: сразу дает понять, чем занимается компания и какую выгоду получает клиент. </a:t>
            </a:r>
          </a:p>
          <a:p>
            <a:r>
              <a:rPr lang="ru-RU" sz="1600" dirty="0">
                <a:latin typeface="Gilroy Medium" panose="00000600000000000000" charset="0"/>
                <a:ea typeface="+mj-ea"/>
                <a:cs typeface="+mj-cs"/>
              </a:rPr>
              <a:t>Пример: «Устали от низких продаж с сайта?»</a:t>
            </a:r>
            <a:endParaRPr lang="en-US" sz="1600" dirty="0">
              <a:latin typeface="Gilroy Medium" panose="00000600000000000000" charset="0"/>
              <a:ea typeface="+mj-ea"/>
              <a:cs typeface="+mj-cs"/>
            </a:endParaRPr>
          </a:p>
          <a:p>
            <a:endParaRPr lang="ru-RU" sz="1600" dirty="0"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sz="1600" dirty="0">
                <a:latin typeface="Gilroy Medium" panose="00000600000000000000" charset="0"/>
                <a:ea typeface="+mj-ea"/>
                <a:cs typeface="+mj-cs"/>
              </a:rPr>
              <a:t>3. Зачин-отрицание. В зачине нечто отрицается. А если человеку говорят, что что-то неправильно – ему хочется узнать, что же тогда правильно. Ответом будет основной рекламный текст. Например: «Не все сайты нужно делать на Тильде».</a:t>
            </a:r>
            <a:endParaRPr lang="en-US" sz="1600" dirty="0">
              <a:latin typeface="Gilroy Medium" panose="00000600000000000000" charset="0"/>
              <a:ea typeface="+mj-ea"/>
              <a:cs typeface="+mj-cs"/>
            </a:endParaRPr>
          </a:p>
          <a:p>
            <a:endParaRPr lang="ru-RU" sz="1600" dirty="0">
              <a:latin typeface="Gilroy Medium" panose="00000600000000000000" charset="0"/>
              <a:ea typeface="+mj-ea"/>
              <a:cs typeface="+mj-cs"/>
            </a:endParaRPr>
          </a:p>
          <a:p>
            <a:r>
              <a:rPr lang="ru-RU" sz="1600" dirty="0">
                <a:latin typeface="Gilroy Medium" panose="00000600000000000000" charset="0"/>
                <a:ea typeface="+mj-ea"/>
                <a:cs typeface="+mj-cs"/>
              </a:rPr>
              <a:t>4. </a:t>
            </a:r>
            <a:r>
              <a:rPr lang="ru-RU" sz="1600" u="sng" dirty="0">
                <a:latin typeface="Gilroy medium "/>
              </a:rPr>
              <a:t>Зачин-парадокс</a:t>
            </a:r>
            <a:r>
              <a:rPr lang="ru-RU" sz="1600" dirty="0">
                <a:latin typeface="Gilroy medium "/>
              </a:rPr>
              <a:t>. Это какое-то парадоксальное, на первый взгляд противоречивое суждение, дающее разрыв шаблона. К ответу приходится идти самому. Например: «Когда вы покупаете новый компьютер, он уже обработал тонны информации». Парадокс – новый компьютер еще не загружен работой.</a:t>
            </a:r>
            <a:endParaRPr lang="en-US" sz="1600" dirty="0">
              <a:latin typeface="Gilroy medium "/>
            </a:endParaRPr>
          </a:p>
          <a:p>
            <a:endParaRPr lang="ru-RU" sz="1600" dirty="0">
              <a:latin typeface="Gilroy medium "/>
            </a:endParaRPr>
          </a:p>
          <a:p>
            <a:r>
              <a:rPr lang="en-US" sz="1600" u="sng" dirty="0">
                <a:latin typeface="Gilroy medium "/>
              </a:rPr>
              <a:t>5. </a:t>
            </a:r>
            <a:r>
              <a:rPr lang="ru-RU" sz="1600" u="sng" dirty="0">
                <a:latin typeface="Gilroy medium "/>
              </a:rPr>
              <a:t>Зачин-интрига</a:t>
            </a:r>
            <a:r>
              <a:rPr lang="ru-RU" sz="1600" dirty="0">
                <a:latin typeface="Gilroy medium "/>
              </a:rPr>
              <a:t>. Интрига – это </a:t>
            </a:r>
            <a:r>
              <a:rPr lang="ru-RU" sz="1600" dirty="0" err="1">
                <a:latin typeface="Gilroy medium "/>
              </a:rPr>
              <a:t>недоговаривание</a:t>
            </a:r>
            <a:r>
              <a:rPr lang="ru-RU" sz="1600" dirty="0">
                <a:latin typeface="Gilroy medium "/>
              </a:rPr>
              <a:t>. Человека оставляют в недоумении, и чтобы его разрешить, нужно прочитать основной рекламный текст. Например: «Серьезное оружие настоящего бизнесмена». Что это? Хорошо работающий сайт.</a:t>
            </a:r>
            <a:endParaRPr lang="ru-RU" sz="1600" dirty="0">
              <a:latin typeface="Gilroy medium "/>
              <a:ea typeface="+mj-ea"/>
              <a:cs typeface="+mj-cs"/>
            </a:endParaRPr>
          </a:p>
          <a:p>
            <a:endParaRPr lang="ru-RU" sz="1600" dirty="0">
              <a:latin typeface="Gilroy Medium" panose="00000600000000000000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0259-6E5B-CD0B-F8B8-C409288C91FA}"/>
              </a:ext>
            </a:extLst>
          </p:cNvPr>
          <p:cNvSpPr txBox="1"/>
          <p:nvPr/>
        </p:nvSpPr>
        <p:spPr>
          <a:xfrm>
            <a:off x="326876" y="538629"/>
            <a:ext cx="65350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noProof="0" dirty="0">
                <a:latin typeface="Gilroy Bold" panose="00000800000000000000" charset="-52"/>
                <a:ea typeface="+mj-ea"/>
                <a:cs typeface="+mj-cs"/>
              </a:rPr>
              <a:t>Креативные приемы создания зачина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41647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6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130029" y="6476863"/>
            <a:ext cx="8434457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Каматали А.А, Романов А.Д, Анронов Д.А</a:t>
            </a:r>
            <a:r>
              <a:rPr lang="ru-RU" sz="1100" dirty="0">
                <a:latin typeface="Gilroy Medium" panose="00000600000000000000" charset="-52"/>
              </a:rPr>
              <a:t>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– группа 241-321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7F541-46FD-2980-378F-C5FD3729FB7E}"/>
              </a:ext>
            </a:extLst>
          </p:cNvPr>
          <p:cNvSpPr txBox="1"/>
          <p:nvPr/>
        </p:nvSpPr>
        <p:spPr>
          <a:xfrm>
            <a:off x="130029" y="328154"/>
            <a:ext cx="90694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charset="-52"/>
                <a:ea typeface="+mj-ea"/>
                <a:cs typeface="+mj-cs"/>
              </a:rPr>
              <a:t>Рекламный текст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D873F8-A12F-4654-B2D4-D4D405405AC5}"/>
              </a:ext>
            </a:extLst>
          </p:cNvPr>
          <p:cNvSpPr txBox="1"/>
          <p:nvPr/>
        </p:nvSpPr>
        <p:spPr>
          <a:xfrm>
            <a:off x="130029" y="1241082"/>
            <a:ext cx="1154654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Gilroy medium "/>
              </a:rPr>
              <a:t>Зачин: </a:t>
            </a:r>
            <a:r>
              <a:rPr lang="ru-RU" sz="1600" dirty="0">
                <a:latin typeface="Gilroy medium "/>
              </a:rPr>
              <a:t>"Хотите превратить посетителей в реальных клиентов?"</a:t>
            </a:r>
          </a:p>
          <a:p>
            <a:endParaRPr lang="ru-RU" sz="1600" b="1" dirty="0">
              <a:latin typeface="Gilroy medium "/>
            </a:endParaRPr>
          </a:p>
          <a:p>
            <a:r>
              <a:rPr lang="ru-RU" sz="1600" b="1" dirty="0">
                <a:latin typeface="Gilroy medium "/>
              </a:rPr>
              <a:t>Основной текст: </a:t>
            </a:r>
            <a:r>
              <a:rPr lang="ru-RU" sz="1600" dirty="0">
                <a:latin typeface="Gilroy medium "/>
              </a:rPr>
              <a:t>Наша веб-студия </a:t>
            </a:r>
            <a:r>
              <a:rPr lang="ru-RU" sz="1600" dirty="0" err="1">
                <a:latin typeface="Gilroy medium "/>
              </a:rPr>
              <a:t>WebFlow</a:t>
            </a:r>
            <a:r>
              <a:rPr lang="ru-RU" sz="1600" dirty="0">
                <a:latin typeface="Gilroy medium "/>
              </a:rPr>
              <a:t> — это команда, создающая сайты, которые не просто красивы, но и функциональны. Согласно исследованиям, 7 из 10 сайтов малого бизнеса теряют до 30% потенциальных клиентов из-за плохой юзабилити и отсутствия аналитики. Сайты от </a:t>
            </a:r>
            <a:r>
              <a:rPr lang="ru-RU" sz="1600" dirty="0" err="1">
                <a:latin typeface="Gilroy medium "/>
              </a:rPr>
              <a:t>WebFlow</a:t>
            </a:r>
            <a:r>
              <a:rPr lang="ru-RU" sz="1600" dirty="0">
                <a:latin typeface="Gilroy medium "/>
              </a:rPr>
              <a:t> оснащены аналитикой и инструментами для продвижения, чтобы вы могли измерять каждый шаг и улучшать свои показатели. Мы помогаем малому и среднему бизнесу уверенно выходить в онлайн и усиливать позиции на рынке.</a:t>
            </a:r>
          </a:p>
          <a:p>
            <a:endParaRPr lang="ru-RU" sz="1600" dirty="0">
              <a:latin typeface="Gilroy medium "/>
            </a:endParaRPr>
          </a:p>
          <a:p>
            <a:r>
              <a:rPr lang="ru-RU" sz="1600" dirty="0">
                <a:latin typeface="Gilroy medium "/>
              </a:rPr>
              <a:t>Вы представляете, как ваши конкуренты, уже работая с нами, каждый день улучшают свои позиции в поиске и увеличивают продажи, пока откладываете решение? Мы предлагаем идеи, которые просты, удобны и интуитивно понятны каждому. В нашем </a:t>
            </a:r>
            <a:r>
              <a:rPr lang="ru-RU" sz="1600" dirty="0" err="1">
                <a:latin typeface="Gilroy medium "/>
              </a:rPr>
              <a:t>портфилио</a:t>
            </a:r>
            <a:r>
              <a:rPr lang="ru-RU" sz="1600" dirty="0">
                <a:latin typeface="Gilroy medium "/>
              </a:rPr>
              <a:t> — успешные проекты, созданные с акцентом на современные технологии и удобство использования.</a:t>
            </a:r>
          </a:p>
          <a:p>
            <a:endParaRPr lang="ru-RU" sz="1600" dirty="0">
              <a:latin typeface="Gilroy medium "/>
            </a:endParaRPr>
          </a:p>
          <a:p>
            <a:r>
              <a:rPr lang="ru-RU" sz="1600" b="1" dirty="0">
                <a:latin typeface="Gilroy medium "/>
              </a:rPr>
              <a:t>Сильный довод (довод от факта в форме цифры): </a:t>
            </a:r>
            <a:r>
              <a:rPr lang="ru-RU" sz="1600" dirty="0">
                <a:latin typeface="Gilroy medium "/>
              </a:rPr>
              <a:t>Согласно исследованиям, 7 из 10 сайтов малого бизнеса теряют до 30% потенциальных клиентов из-за плохой юзабилити и отсутствия аналитики.</a:t>
            </a:r>
          </a:p>
          <a:p>
            <a:endParaRPr lang="ru-RU" sz="1600" dirty="0">
              <a:latin typeface="Gilroy medium "/>
            </a:endParaRPr>
          </a:p>
          <a:p>
            <a:r>
              <a:rPr lang="ru-RU" sz="1600" b="1" dirty="0">
                <a:latin typeface="Gilroy medium "/>
              </a:rPr>
              <a:t>Слабый довод (рабочий, эмоциональный): </a:t>
            </a:r>
            <a:r>
              <a:rPr lang="ru-RU" sz="1600" dirty="0">
                <a:latin typeface="Gilroy medium "/>
              </a:rPr>
              <a:t>Вы представляете, как ваши конкуренты, уже работая с нами, каждый день улучшают свои позиции в поиске и увеличивают продажи, пока вы откладываете решение?</a:t>
            </a:r>
          </a:p>
          <a:p>
            <a:endParaRPr lang="ru-RU" sz="1600" b="1" dirty="0">
              <a:latin typeface="Gilroy medium "/>
            </a:endParaRPr>
          </a:p>
          <a:p>
            <a:r>
              <a:rPr lang="ru-RU" sz="1600" b="1" dirty="0">
                <a:latin typeface="Gilroy medium "/>
              </a:rPr>
              <a:t>Эхо-фраза: </a:t>
            </a:r>
            <a:r>
              <a:rPr lang="ru-RU" sz="1600" dirty="0">
                <a:latin typeface="Gilroy medium "/>
              </a:rPr>
              <a:t>“</a:t>
            </a:r>
            <a:r>
              <a:rPr lang="ru-RU" sz="1600" dirty="0" err="1">
                <a:latin typeface="Gilroy medium "/>
              </a:rPr>
              <a:t>WebFlow</a:t>
            </a:r>
            <a:r>
              <a:rPr lang="ru-RU" sz="1600" dirty="0">
                <a:latin typeface="Gilroy medium "/>
              </a:rPr>
              <a:t>: поток идей — поток клиентов!”</a:t>
            </a:r>
          </a:p>
          <a:p>
            <a:endParaRPr lang="ru-RU" sz="1600" b="1" dirty="0">
              <a:latin typeface="Gilroy medium "/>
            </a:endParaRPr>
          </a:p>
        </p:txBody>
      </p:sp>
    </p:spTree>
    <p:extLst>
      <p:ext uri="{BB962C8B-B14F-4D97-AF65-F5344CB8AC3E}">
        <p14:creationId xmlns:p14="http://schemas.microsoft.com/office/powerpoint/2010/main" val="643460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6E462F7-B2A7-4E4D-8555-1647177CEEFC}"/>
              </a:ext>
            </a:extLst>
          </p:cNvPr>
          <p:cNvSpPr txBox="1"/>
          <p:nvPr/>
        </p:nvSpPr>
        <p:spPr>
          <a:xfrm>
            <a:off x="2777777" y="3718471"/>
            <a:ext cx="6636443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Студент:  Каматали Алина Аароновна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Романов Александр Дмитриевич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Андронов Денис Андреевич, группа 241-321.</a:t>
            </a:r>
          </a:p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Преподаватели: Смирнова Юлия Владимировна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Кулибаба Ирина Викторовна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202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5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268561" y="3044279"/>
            <a:ext cx="96548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Разработка классического рекламного текста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E13023-76F4-C3B7-2ADD-3CB7FBF2CC7A}"/>
              </a:ext>
            </a:extLst>
          </p:cNvPr>
          <p:cNvSpPr txBox="1"/>
          <p:nvPr/>
        </p:nvSpPr>
        <p:spPr>
          <a:xfrm>
            <a:off x="5219279" y="542298"/>
            <a:ext cx="6503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Shablon_Moscow_Poly_v3</Template>
  <TotalTime>1098</TotalTime>
  <Words>808</Words>
  <Application>Microsoft Office PowerPoint</Application>
  <PresentationFormat>Широкоэкранный</PresentationFormat>
  <Paragraphs>83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Calibri</vt:lpstr>
      <vt:lpstr>Arial</vt:lpstr>
      <vt:lpstr>Gilroy Medium</vt:lpstr>
      <vt:lpstr>Gilroy Bold</vt:lpstr>
      <vt:lpstr>Gilroy medium </vt:lpstr>
      <vt:lpstr>Verdana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Katsero</dc:creator>
  <cp:lastModifiedBy>alina</cp:lastModifiedBy>
  <cp:revision>81</cp:revision>
  <dcterms:created xsi:type="dcterms:W3CDTF">2024-05-27T20:04:35Z</dcterms:created>
  <dcterms:modified xsi:type="dcterms:W3CDTF">2025-12-02T09:05:34Z</dcterms:modified>
</cp:coreProperties>
</file>