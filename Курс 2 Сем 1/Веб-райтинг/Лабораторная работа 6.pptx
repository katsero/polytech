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3"/>
  </p:notesMasterIdLst>
  <p:sldIdLst>
    <p:sldId id="256" r:id="rId2"/>
    <p:sldId id="257" r:id="rId3"/>
    <p:sldId id="278" r:id="rId4"/>
    <p:sldId id="273" r:id="rId5"/>
    <p:sldId id="277" r:id="rId6"/>
    <p:sldId id="275" r:id="rId7"/>
    <p:sldId id="269" r:id="rId8"/>
    <p:sldId id="271" r:id="rId9"/>
    <p:sldId id="272" r:id="rId10"/>
    <p:sldId id="276" r:id="rId11"/>
    <p:sldId id="258" r:id="rId12"/>
  </p:sldIdLst>
  <p:sldSz cx="12192000" cy="6858000"/>
  <p:notesSz cx="6858000" cy="9144000"/>
  <p:embeddedFontLs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Gilroy Bold" panose="00000800000000000000" charset="-52"/>
      <p:bold r:id="rId18"/>
    </p:embeddedFont>
    <p:embeddedFont>
      <p:font typeface="Gilroy Medium" panose="00000600000000000000" charset="-52"/>
      <p:regular r:id="rId19"/>
    </p:embeddedFont>
    <p:embeddedFont>
      <p:font typeface="Verdana" panose="020B0604030504040204" pitchFamily="34" charset="0"/>
      <p:regular r:id="rId20"/>
      <p:bold r:id="rId21"/>
      <p:italic r:id="rId22"/>
      <p:boldItalic r:id="rId23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770" autoAdjust="0"/>
    <p:restoredTop sz="94660"/>
  </p:normalViewPr>
  <p:slideViewPr>
    <p:cSldViewPr snapToGrid="0">
      <p:cViewPr varScale="1">
        <p:scale>
          <a:sx n="86" d="100"/>
          <a:sy n="86" d="100"/>
        </p:scale>
        <p:origin x="432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8830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341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8159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41061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18248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8406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10064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38939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78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913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09.12.2025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09.12.2025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09.12.2025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09.12.2025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09.12.2025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09.12.2025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Веб-</a:t>
            </a:r>
            <a:r>
              <a:rPr kumimoji="0" lang="ru-RU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райтинг</a:t>
            </a:r>
            <a:endParaRPr kumimoji="0" lang="ru-RU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Bold" panose="00000800000000000000" charset="-52"/>
              <a:ea typeface="+mn-ea"/>
              <a:cs typeface="+mn-cs"/>
            </a:endParaRP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«Веб-технологии»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kumimoji="0" lang="ru-RU" sz="3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j-ea"/>
                <a:cs typeface="+mj-cs"/>
              </a:rPr>
              <a:t>Работа с суггестивными текстами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5673438" y="4978637"/>
            <a:ext cx="62030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Студент:  Андронов Денис Андреевич 241-321, </a:t>
            </a:r>
          </a:p>
          <a:p>
            <a:pPr algn="r">
              <a:lnSpc>
                <a:spcPts val="2000"/>
              </a:lnSpc>
            </a:pPr>
            <a:r>
              <a:rPr lang="ru-RU" dirty="0">
                <a:effectLst/>
                <a:latin typeface="Helvetica Neue" panose="02000503000000020004" pitchFamily="2" charset="0"/>
              </a:rPr>
              <a:t>Романов Александр Дмитриевич </a:t>
            </a:r>
            <a:r>
              <a:rPr lang="ru-RU" dirty="0">
                <a:latin typeface="Gilroy Medium" panose="00000600000000000000" charset="-52"/>
              </a:rPr>
              <a:t>241-321</a:t>
            </a:r>
          </a:p>
          <a:p>
            <a:pPr algn="r">
              <a:lnSpc>
                <a:spcPts val="2000"/>
              </a:lnSpc>
            </a:pPr>
            <a:r>
              <a:rPr lang="ru-RU" dirty="0" err="1">
                <a:effectLst/>
                <a:latin typeface="Helvetica Neue" panose="02000503000000020004" pitchFamily="2" charset="0"/>
              </a:rPr>
              <a:t>Каматали</a:t>
            </a:r>
            <a:r>
              <a:rPr lang="ru-RU" dirty="0">
                <a:effectLst/>
                <a:latin typeface="Helvetica Neue" panose="02000503000000020004" pitchFamily="2" charset="0"/>
              </a:rPr>
              <a:t> Алина </a:t>
            </a:r>
            <a:r>
              <a:rPr lang="ru-RU" dirty="0" err="1">
                <a:effectLst/>
                <a:latin typeface="Helvetica Neue" panose="02000503000000020004" pitchFamily="2" charset="0"/>
              </a:rPr>
              <a:t>Аароновна</a:t>
            </a:r>
            <a:r>
              <a:rPr lang="ru-RU" dirty="0">
                <a:effectLst/>
                <a:latin typeface="Helvetica Neue" panose="02000503000000020004" pitchFamily="2" charset="0"/>
              </a:rPr>
              <a:t> </a:t>
            </a:r>
            <a:r>
              <a:rPr lang="ru-RU" dirty="0">
                <a:latin typeface="Gilroy Medium" panose="00000600000000000000" charset="-52"/>
              </a:rPr>
              <a:t>241-321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2025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549EF8-B780-5DED-62AA-D959F4639613}"/>
              </a:ext>
            </a:extLst>
          </p:cNvPr>
          <p:cNvSpPr txBox="1"/>
          <p:nvPr/>
        </p:nvSpPr>
        <p:spPr>
          <a:xfrm>
            <a:off x="2994457" y="3523035"/>
            <a:ext cx="6203086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«Нейролингвистическое программирование»</a:t>
            </a:r>
            <a:endParaRPr lang="ru-RU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1845733"/>
            <a:ext cx="946400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Gilroy Bold" panose="00000800000000000000" charset="-52"/>
                <a:ea typeface="+mj-ea"/>
                <a:cs typeface="+mj-cs"/>
              </a:rPr>
              <a:t>Цель</a:t>
            </a:r>
            <a:r>
              <a:rPr lang="ru-RU" sz="2400" dirty="0">
                <a:latin typeface="Gilroy Bold" panose="00000800000000000000" charset="-52"/>
                <a:ea typeface="+mj-ea"/>
                <a:cs typeface="+mj-cs"/>
              </a:rPr>
              <a:t>: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kumimoji="0" lang="ru-RU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изучить правила и особенности применения инструментов НЛП, анализ суггестивного потенциала разработанной айдентики компании (имени, слогана, рекламных текстов). Разработка эффективного продающего рекламного текста с элементами НЛП.</a:t>
            </a:r>
            <a:endParaRPr lang="ru-RU" sz="2400" dirty="0">
              <a:solidFill>
                <a:schemeClr val="tx1"/>
              </a:solidFill>
              <a:latin typeface="Gilroy Medium" panose="00000600000000000000" charset="-52"/>
            </a:endParaRPr>
          </a:p>
          <a:p>
            <a:endParaRPr kumimoji="0" lang="en-US" sz="24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8B0259-6E5B-CD0B-F8B8-C409288C91FA}"/>
              </a:ext>
            </a:extLst>
          </p:cNvPr>
          <p:cNvSpPr txBox="1"/>
          <p:nvPr/>
        </p:nvSpPr>
        <p:spPr>
          <a:xfrm>
            <a:off x="326876" y="538629"/>
            <a:ext cx="65350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charset="-52"/>
                <a:ea typeface="+mj-ea"/>
                <a:cs typeface="+mj-cs"/>
              </a:rPr>
              <a:t>Постановка цели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857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130029" y="328154"/>
            <a:ext cx="906946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Анализ имени, слогана и рекламного текста программой ВААЛ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D873F8-A12F-4654-B2D4-D4D405405AC5}"/>
              </a:ext>
            </a:extLst>
          </p:cNvPr>
          <p:cNvSpPr txBox="1"/>
          <p:nvPr/>
        </p:nvSpPr>
        <p:spPr>
          <a:xfrm>
            <a:off x="238893" y="1733525"/>
            <a:ext cx="115465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Gilroy Medium" panose="00000600000000000000" charset="-52"/>
              </a:rPr>
              <a:t>Анализ имени</a:t>
            </a:r>
          </a:p>
          <a:p>
            <a:r>
              <a:rPr lang="ru-RU" dirty="0" err="1">
                <a:latin typeface="Gilroy Medium" panose="00000600000000000000" charset="-52"/>
              </a:rPr>
              <a:t>W</a:t>
            </a:r>
            <a:r>
              <a:rPr lang="en-US" dirty="0" err="1">
                <a:latin typeface="Gilroy Medium" panose="00000600000000000000" charset="-52"/>
              </a:rPr>
              <a:t>ebFlow</a:t>
            </a:r>
            <a:endParaRPr lang="ru-RU" dirty="0">
              <a:latin typeface="Gilroy Medium" panose="00000600000000000000" charset="-52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3D27F29-2FB3-4BEF-8DAB-BFEE502770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570" y="1733525"/>
            <a:ext cx="5266298" cy="392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77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130029" y="328154"/>
            <a:ext cx="906946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Анализ имени, слогана и рекламного текста программой ВААЛ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D873F8-A12F-4654-B2D4-D4D405405AC5}"/>
              </a:ext>
            </a:extLst>
          </p:cNvPr>
          <p:cNvSpPr txBox="1"/>
          <p:nvPr/>
        </p:nvSpPr>
        <p:spPr>
          <a:xfrm>
            <a:off x="238893" y="1733525"/>
            <a:ext cx="11546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Gilroy Medium" panose="00000600000000000000" charset="-52"/>
              </a:rPr>
              <a:t>Анализ слогана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817310F-4DF1-DAAA-F73E-98F794819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0497" y="1405372"/>
            <a:ext cx="5373618" cy="387696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2B53EF-3A03-1D66-16CF-6F0DD5D47E6D}"/>
              </a:ext>
            </a:extLst>
          </p:cNvPr>
          <p:cNvSpPr txBox="1"/>
          <p:nvPr/>
        </p:nvSpPr>
        <p:spPr>
          <a:xfrm>
            <a:off x="238893" y="2107844"/>
            <a:ext cx="44544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Gilroy Medium" panose="00000600000000000000" charset="-52"/>
              </a:rPr>
              <a:t>WebFlow</a:t>
            </a:r>
            <a:r>
              <a:rPr lang="en-US" dirty="0">
                <a:latin typeface="Gilroy Medium" panose="00000600000000000000" charset="-52"/>
              </a:rPr>
              <a:t> </a:t>
            </a:r>
            <a:r>
              <a:rPr lang="ru-RU" dirty="0">
                <a:latin typeface="Gilroy Medium" panose="00000600000000000000" charset="-52"/>
              </a:rPr>
              <a:t>– </a:t>
            </a:r>
            <a:r>
              <a:rPr lang="en-US" dirty="0" err="1">
                <a:latin typeface="Gilroy Medium" panose="00000600000000000000" charset="-52"/>
              </a:rPr>
              <a:t>п</a:t>
            </a:r>
            <a:r>
              <a:rPr lang="ru-RU" dirty="0" err="1">
                <a:latin typeface="Gilroy Medium" panose="00000600000000000000" charset="-52"/>
              </a:rPr>
              <a:t>оток</a:t>
            </a:r>
            <a:r>
              <a:rPr lang="ru-RU" dirty="0">
                <a:latin typeface="Gilroy Medium" panose="00000600000000000000" charset="-52"/>
              </a:rPr>
              <a:t> идей - поток клиентов</a:t>
            </a:r>
          </a:p>
        </p:txBody>
      </p:sp>
    </p:spTree>
    <p:extLst>
      <p:ext uri="{BB962C8B-B14F-4D97-AF65-F5344CB8AC3E}">
        <p14:creationId xmlns:p14="http://schemas.microsoft.com/office/powerpoint/2010/main" val="3300319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301841" y="286466"/>
            <a:ext cx="887102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Анализ имени, слогана и рекламного текста программой ВААЛ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D873F8-A12F-4654-B2D4-D4D405405AC5}"/>
              </a:ext>
            </a:extLst>
          </p:cNvPr>
          <p:cNvSpPr txBox="1"/>
          <p:nvPr/>
        </p:nvSpPr>
        <p:spPr>
          <a:xfrm>
            <a:off x="238893" y="1390068"/>
            <a:ext cx="11546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Gilroy Medium" panose="00000600000000000000" charset="-52"/>
              </a:rPr>
              <a:t>Анализ рекламного текста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71B2BE-5605-F959-7D02-4696B423DE7D}"/>
              </a:ext>
            </a:extLst>
          </p:cNvPr>
          <p:cNvSpPr txBox="1"/>
          <p:nvPr/>
        </p:nvSpPr>
        <p:spPr>
          <a:xfrm>
            <a:off x="238893" y="2166414"/>
            <a:ext cx="4506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roy Medium" panose="00000600000000000000" charset="-52"/>
              </a:rPr>
              <a:t> </a:t>
            </a:r>
            <a:endParaRPr lang="ru-RU" dirty="0"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DCAA5E-94EA-9D24-1D8D-6A0394F663DA}"/>
              </a:ext>
            </a:extLst>
          </p:cNvPr>
          <p:cNvSpPr txBox="1"/>
          <p:nvPr/>
        </p:nvSpPr>
        <p:spPr>
          <a:xfrm>
            <a:off x="238893" y="1908963"/>
            <a:ext cx="615216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quote-cjk-patch"/>
              </a:rPr>
              <a:t>Ваш </a:t>
            </a:r>
            <a:r>
              <a:rPr lang="ru-RU" b="1" u="sng" dirty="0">
                <a:latin typeface="quote-cjk-patch"/>
              </a:rPr>
              <a:t>сайт всё ещё «спит» </a:t>
            </a:r>
            <a:r>
              <a:rPr lang="ru-RU" b="1" dirty="0">
                <a:latin typeface="quote-cjk-patch"/>
              </a:rPr>
              <a:t>и </a:t>
            </a:r>
            <a:r>
              <a:rPr lang="ru-RU" b="1" u="sng" dirty="0">
                <a:latin typeface="quote-cjk-patch"/>
              </a:rPr>
              <a:t>не видит 80% клиентов</a:t>
            </a:r>
            <a:r>
              <a:rPr lang="ru-RU" b="1" dirty="0">
                <a:latin typeface="quote-cjk-patch"/>
              </a:rPr>
              <a:t>?</a:t>
            </a:r>
            <a:endParaRPr lang="en-US" b="1" dirty="0">
              <a:latin typeface="quote-cjk-patch"/>
            </a:endParaRPr>
          </a:p>
          <a:p>
            <a:endParaRPr lang="ru-RU" b="1" dirty="0">
              <a:latin typeface="quote-cjk-patch"/>
            </a:endParaRPr>
          </a:p>
          <a:p>
            <a:r>
              <a:rPr lang="ru-RU" dirty="0">
                <a:latin typeface="quote-cjk-patch"/>
              </a:rPr>
              <a:t>Большинство сайтов </a:t>
            </a:r>
            <a:r>
              <a:rPr lang="ru-RU" u="sng" dirty="0">
                <a:latin typeface="quote-cjk-patch"/>
              </a:rPr>
              <a:t>страдают цифровой слепотой: они не видят пользователей смартфонов, не чувствуют их спешки</a:t>
            </a:r>
            <a:r>
              <a:rPr lang="ru-RU" dirty="0">
                <a:latin typeface="quote-cjk-patch"/>
              </a:rPr>
              <a:t>. Результат — потеря 30% аудитории из-за </a:t>
            </a:r>
            <a:r>
              <a:rPr lang="ru-RU" dirty="0" err="1">
                <a:latin typeface="quote-cjk-patch"/>
              </a:rPr>
              <a:t>неадаптивности</a:t>
            </a:r>
            <a:r>
              <a:rPr lang="ru-RU" dirty="0">
                <a:latin typeface="quote-cjk-patch"/>
              </a:rPr>
              <a:t> и плохого </a:t>
            </a:r>
            <a:r>
              <a:rPr lang="en-US" dirty="0">
                <a:latin typeface="quote-cjk-patch"/>
              </a:rPr>
              <a:t>UX </a:t>
            </a:r>
            <a:r>
              <a:rPr lang="ru-RU" dirty="0">
                <a:latin typeface="quote-cjk-patch"/>
              </a:rPr>
              <a:t>(и это данные исследований). </a:t>
            </a:r>
            <a:r>
              <a:rPr lang="ru-RU" dirty="0" err="1">
                <a:latin typeface="quote-cjk-patch"/>
              </a:rPr>
              <a:t>WebFlow</a:t>
            </a:r>
            <a:r>
              <a:rPr lang="ru-RU" dirty="0">
                <a:latin typeface="quote-cjk-patch"/>
              </a:rPr>
              <a:t> даёт сайтам зрение и эмпатию. Мы создаём цифровых хамелеонов — платформы с </a:t>
            </a:r>
            <a:r>
              <a:rPr lang="ru-RU" u="sng" dirty="0">
                <a:latin typeface="quote-cjk-patch"/>
              </a:rPr>
              <a:t>кристальной чистотой кода</a:t>
            </a:r>
            <a:r>
              <a:rPr lang="ru-RU" dirty="0">
                <a:latin typeface="quote-cjk-patch"/>
              </a:rPr>
              <a:t>, которые ощущают, кто перед экраном, и меняются: становятся быстрыми для телефона, уютными для планшета, впечатляющим и детальным для компьютера.</a:t>
            </a:r>
          </a:p>
          <a:p>
            <a:r>
              <a:rPr lang="ru-RU" dirty="0">
                <a:latin typeface="quote-cjk-patch"/>
              </a:rPr>
              <a:t>Это не просто разработка. Это </a:t>
            </a:r>
            <a:r>
              <a:rPr lang="ru-RU" u="sng" dirty="0">
                <a:latin typeface="quote-cjk-patch"/>
              </a:rPr>
              <a:t>миниатюризация времени и сложности</a:t>
            </a:r>
            <a:r>
              <a:rPr lang="ru-RU" dirty="0">
                <a:latin typeface="quote-cjk-patch"/>
              </a:rPr>
              <a:t>: мы собрали идеальный конструктор из готовых модулей для вашего быстрого старта. Вы представляете, как ваши конкуренты, уже работая с нами, 25</a:t>
            </a:r>
            <a:r>
              <a:rPr lang="en-US" dirty="0">
                <a:latin typeface="quote-cjk-patch"/>
              </a:rPr>
              <a:t>/</a:t>
            </a:r>
            <a:r>
              <a:rPr lang="ru-RU" dirty="0">
                <a:latin typeface="quote-cjk-patch"/>
              </a:rPr>
              <a:t>7</a:t>
            </a:r>
            <a:r>
              <a:rPr lang="en-US" dirty="0">
                <a:latin typeface="quote-cjk-patch"/>
              </a:rPr>
              <a:t> </a:t>
            </a:r>
            <a:r>
              <a:rPr lang="ru-RU" dirty="0">
                <a:latin typeface="quote-cjk-patch"/>
              </a:rPr>
              <a:t>увеличивают свои продажи, пока вы откладываете решение?</a:t>
            </a:r>
          </a:p>
          <a:p>
            <a:endParaRPr lang="ru-RU" sz="1800" b="0" dirty="0">
              <a:solidFill>
                <a:srgbClr val="000000"/>
              </a:solidFill>
              <a:latin typeface="MS Sans Serif"/>
            </a:endParaRPr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8C5562-6D6F-472A-9AE7-CF6B1422F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053" y="1731409"/>
            <a:ext cx="5394381" cy="393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448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130030" y="328154"/>
            <a:ext cx="795961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ru-RU" sz="3200" i="0" u="none" strike="noStrike" dirty="0" err="1">
                <a:effectLst/>
                <a:latin typeface="quote-cjk-patch"/>
              </a:rPr>
              <a:t>Фоносемантический</a:t>
            </a:r>
            <a:r>
              <a:rPr lang="ru-RU" sz="3200" i="0" u="none" strike="noStrike" dirty="0">
                <a:effectLst/>
                <a:latin typeface="quote-cjk-patch"/>
              </a:rPr>
              <a:t> анализ названия </a:t>
            </a:r>
            <a:r>
              <a:rPr lang="en" sz="3200" i="0" u="none" strike="noStrike" dirty="0" err="1">
                <a:effectLst/>
                <a:latin typeface="quote-cjk-patch"/>
              </a:rPr>
              <a:t>WebFlow</a:t>
            </a:r>
            <a:endParaRPr lang="en" sz="3200" i="0" u="none" strike="noStrike" dirty="0">
              <a:effectLst/>
              <a:latin typeface="quote-cjk-patch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3ED0D8-5315-F588-1CAB-FE637F2A75ED}"/>
              </a:ext>
            </a:extLst>
          </p:cNvPr>
          <p:cNvSpPr txBox="1"/>
          <p:nvPr/>
        </p:nvSpPr>
        <p:spPr>
          <a:xfrm>
            <a:off x="130029" y="1541281"/>
            <a:ext cx="114504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" b="1" i="0" u="none" strike="noStrike" dirty="0">
                <a:effectLst/>
                <a:latin typeface="quote-cjk-patch"/>
              </a:rPr>
              <a:t>W</a:t>
            </a:r>
            <a:r>
              <a:rPr lang="en" b="0" i="0" u="none" strike="noStrike" dirty="0">
                <a:effectLst/>
                <a:latin typeface="quote-cjk-patch"/>
              </a:rPr>
              <a:t> [w] – </a:t>
            </a:r>
            <a:r>
              <a:rPr lang="ru-RU" b="0" i="0" u="none" strike="noStrike" dirty="0">
                <a:effectLst/>
                <a:latin typeface="quote-cjk-patch"/>
              </a:rPr>
              <a:t>звук “в” → безопасность, добро</a:t>
            </a:r>
          </a:p>
          <a:p>
            <a:pPr algn="l"/>
            <a:r>
              <a:rPr lang="en" b="1" i="0" u="none" strike="noStrike" dirty="0">
                <a:effectLst/>
                <a:latin typeface="quote-cjk-patch"/>
              </a:rPr>
              <a:t>e</a:t>
            </a:r>
            <a:r>
              <a:rPr lang="en" b="0" i="0" u="none" strike="noStrike" dirty="0">
                <a:effectLst/>
                <a:latin typeface="quote-cjk-patch"/>
              </a:rPr>
              <a:t> [e] – </a:t>
            </a:r>
            <a:r>
              <a:rPr lang="ru-RU" b="0" i="0" u="none" strike="noStrike" dirty="0">
                <a:effectLst/>
                <a:latin typeface="quote-cjk-patch"/>
              </a:rPr>
              <a:t>звук “э” → зелёный, спокойствие</a:t>
            </a:r>
          </a:p>
          <a:p>
            <a:pPr algn="l"/>
            <a:r>
              <a:rPr lang="en" b="1" i="0" u="none" strike="noStrike" dirty="0">
                <a:effectLst/>
                <a:latin typeface="quote-cjk-patch"/>
              </a:rPr>
              <a:t>b</a:t>
            </a:r>
            <a:r>
              <a:rPr lang="en" b="0" i="0" u="none" strike="noStrike" dirty="0">
                <a:effectLst/>
                <a:latin typeface="quote-cjk-patch"/>
              </a:rPr>
              <a:t> [b] → </a:t>
            </a:r>
            <a:r>
              <a:rPr lang="ru-RU" b="0" i="0" u="none" strike="noStrike" dirty="0">
                <a:effectLst/>
                <a:latin typeface="quote-cjk-patch"/>
              </a:rPr>
              <a:t>безопасность</a:t>
            </a:r>
          </a:p>
          <a:p>
            <a:pPr algn="l"/>
            <a:r>
              <a:rPr lang="en" b="1" i="0" u="none" strike="noStrike" dirty="0">
                <a:effectLst/>
                <a:latin typeface="quote-cjk-patch"/>
              </a:rPr>
              <a:t>F</a:t>
            </a:r>
            <a:r>
              <a:rPr lang="en" b="0" i="0" u="none" strike="noStrike" dirty="0">
                <a:effectLst/>
                <a:latin typeface="quote-cjk-patch"/>
              </a:rPr>
              <a:t> [f] – </a:t>
            </a:r>
            <a:r>
              <a:rPr lang="ru-RU" b="0" i="0" u="none" strike="noStrike" dirty="0">
                <a:effectLst/>
                <a:latin typeface="quote-cjk-patch"/>
              </a:rPr>
              <a:t>звук “ф” → в русском может ассоциироваться со слабостью, в английском – с активностью</a:t>
            </a:r>
          </a:p>
          <a:p>
            <a:pPr algn="l"/>
            <a:r>
              <a:rPr lang="en" b="1" i="0" u="none" strike="noStrike" dirty="0">
                <a:effectLst/>
                <a:latin typeface="quote-cjk-patch"/>
              </a:rPr>
              <a:t>l</a:t>
            </a:r>
            <a:r>
              <a:rPr lang="en" b="0" i="0" u="none" strike="noStrike" dirty="0">
                <a:effectLst/>
                <a:latin typeface="quote-cjk-patch"/>
              </a:rPr>
              <a:t> [l] → </a:t>
            </a:r>
            <a:r>
              <a:rPr lang="ru-RU" b="0" i="0" u="none" strike="noStrike" dirty="0">
                <a:effectLst/>
                <a:latin typeface="quote-cjk-patch"/>
              </a:rPr>
              <a:t>добро, безопасность</a:t>
            </a:r>
          </a:p>
          <a:p>
            <a:pPr algn="l"/>
            <a:r>
              <a:rPr lang="en" b="1" i="0" u="none" strike="noStrike" dirty="0">
                <a:effectLst/>
                <a:latin typeface="quote-cjk-patch"/>
              </a:rPr>
              <a:t>o</a:t>
            </a:r>
            <a:r>
              <a:rPr lang="en" b="0" i="0" u="none" strike="noStrike" dirty="0">
                <a:effectLst/>
                <a:latin typeface="quote-cjk-patch"/>
              </a:rPr>
              <a:t> [o] → </a:t>
            </a:r>
            <a:r>
              <a:rPr lang="ru-RU" b="0" i="0" u="none" strike="noStrike" dirty="0">
                <a:effectLst/>
                <a:latin typeface="quote-cjk-patch"/>
              </a:rPr>
              <a:t>светлый, жёлтый, открытость</a:t>
            </a:r>
          </a:p>
          <a:p>
            <a:pPr algn="l"/>
            <a:r>
              <a:rPr lang="en" b="1" i="0" u="none" strike="noStrike" dirty="0">
                <a:effectLst/>
                <a:latin typeface="quote-cjk-patch"/>
              </a:rPr>
              <a:t>w</a:t>
            </a:r>
            <a:r>
              <a:rPr lang="en" b="0" i="0" u="none" strike="noStrike" dirty="0">
                <a:effectLst/>
                <a:latin typeface="quote-cjk-patch"/>
              </a:rPr>
              <a:t> [w] → </a:t>
            </a:r>
            <a:r>
              <a:rPr lang="ru-RU" b="0" i="0" u="none" strike="noStrike" dirty="0">
                <a:effectLst/>
                <a:latin typeface="quote-cjk-patch"/>
              </a:rPr>
              <a:t>синий, глубина, надёжность</a:t>
            </a:r>
          </a:p>
          <a:p>
            <a:pPr algn="l"/>
            <a:endParaRPr lang="ru-RU" b="0" i="0" u="none" strike="noStrike" dirty="0">
              <a:effectLst/>
              <a:latin typeface="quote-cjk-patch"/>
            </a:endParaRPr>
          </a:p>
          <a:p>
            <a:pPr algn="l"/>
            <a:r>
              <a:rPr lang="ru-RU" b="1" i="0" u="none" strike="noStrike" dirty="0">
                <a:effectLst/>
                <a:latin typeface="quote-cjk-patch"/>
              </a:rPr>
              <a:t>Вывод:</a:t>
            </a:r>
            <a:br>
              <a:rPr lang="ru-RU" b="0" i="0" u="none" strike="noStrike" dirty="0">
                <a:effectLst/>
                <a:latin typeface="quote-cjk-patch"/>
              </a:rPr>
            </a:br>
            <a:r>
              <a:rPr lang="ru-RU" b="0" i="0" u="none" strike="noStrike" dirty="0">
                <a:effectLst/>
                <a:latin typeface="quote-cjk-patch"/>
              </a:rPr>
              <a:t>Название </a:t>
            </a:r>
            <a:r>
              <a:rPr lang="en" b="0" i="1" u="none" strike="noStrike" dirty="0" err="1">
                <a:effectLst/>
                <a:latin typeface="quote-cjk-patch"/>
              </a:rPr>
              <a:t>WebFlow</a:t>
            </a:r>
            <a:r>
              <a:rPr lang="en" b="0" i="0" u="none" strike="noStrike" dirty="0">
                <a:effectLst/>
                <a:latin typeface="quote-cjk-patch"/>
              </a:rPr>
              <a:t> </a:t>
            </a:r>
            <a:r>
              <a:rPr lang="ru-RU" b="0" i="0" u="none" strike="noStrike" dirty="0">
                <a:effectLst/>
                <a:latin typeface="quote-cjk-patch"/>
              </a:rPr>
              <a:t>сочетает звуки, ассоциирующиеся с </a:t>
            </a:r>
            <a:r>
              <a:rPr lang="ru-RU" b="1" i="0" u="none" strike="noStrike" dirty="0">
                <a:effectLst/>
                <a:latin typeface="quote-cjk-patch"/>
              </a:rPr>
              <a:t>безопасностью, открытостью и динамикой</a:t>
            </a:r>
            <a:r>
              <a:rPr lang="ru-RU" b="0" i="0" u="none" strike="noStrike" dirty="0">
                <a:effectLst/>
                <a:latin typeface="quote-cjk-patch"/>
              </a:rPr>
              <a:t> – идеально для веб-студии, которая создаёт удобные и эффективные сайты.</a:t>
            </a:r>
          </a:p>
          <a:p>
            <a:endParaRPr lang="ru-RU" dirty="0">
              <a:latin typeface="Gilroy Medium" panose="00000600000000000000" charset="-52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9636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130029" y="328154"/>
            <a:ext cx="781965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Речевые паттерны, подходящие нашей Веб-студии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ED8924-3C72-3C11-D4DF-BD12E99DFD0F}"/>
              </a:ext>
            </a:extLst>
          </p:cNvPr>
          <p:cNvSpPr txBox="1"/>
          <p:nvPr/>
        </p:nvSpPr>
        <p:spPr>
          <a:xfrm>
            <a:off x="130029" y="1520889"/>
            <a:ext cx="1147665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>
                <a:latin typeface="Gilroy Medium" panose="00000600000000000000" charset="-52"/>
              </a:rPr>
              <a:t>Тюризмы</a:t>
            </a:r>
            <a:r>
              <a:rPr lang="ru-RU" dirty="0">
                <a:latin typeface="Gilroy Medium" panose="00000600000000000000" charset="-52"/>
              </a:rPr>
              <a:t> –</a:t>
            </a:r>
            <a:r>
              <a:rPr lang="en-US" dirty="0">
                <a:latin typeface="Gilroy Medium" panose="00000600000000000000" charset="-52"/>
              </a:rPr>
              <a:t> </a:t>
            </a:r>
            <a:r>
              <a:rPr lang="ru-RU" dirty="0">
                <a:latin typeface="Gilroy Medium" panose="00000600000000000000" charset="-52"/>
              </a:rPr>
              <a:t>эти утверждения не требуют доказательств, что упрощает их восприятие и повышает их убедительность. </a:t>
            </a:r>
          </a:p>
          <a:p>
            <a:r>
              <a:rPr lang="en-US" dirty="0">
                <a:latin typeface="Gilroy Medium" panose="00000600000000000000" charset="-52"/>
              </a:rPr>
              <a:t>“</a:t>
            </a:r>
            <a:r>
              <a:rPr lang="ru-RU" dirty="0">
                <a:latin typeface="Gilroy Medium" panose="00000600000000000000" charset="-52"/>
              </a:rPr>
              <a:t>Каждый бизнес знает: современный и функциональный сайт — это ключ к успеху.</a:t>
            </a:r>
            <a:r>
              <a:rPr lang="en-US" dirty="0">
                <a:latin typeface="Gilroy Medium" panose="00000600000000000000" charset="-52"/>
              </a:rPr>
              <a:t>”</a:t>
            </a:r>
            <a:endParaRPr lang="ru-RU" dirty="0">
              <a:latin typeface="Gilroy Medium" panose="00000600000000000000" charset="-52"/>
            </a:endParaRPr>
          </a:p>
          <a:p>
            <a:endParaRPr lang="ru-RU" dirty="0">
              <a:latin typeface="Gilroy Medium" panose="00000600000000000000" charset="-52"/>
            </a:endParaRPr>
          </a:p>
          <a:p>
            <a:r>
              <a:rPr lang="ru-RU" dirty="0">
                <a:latin typeface="Gilroy Medium" panose="00000600000000000000" charset="-52"/>
              </a:rPr>
              <a:t>Риторические вопросы</a:t>
            </a:r>
            <a:r>
              <a:rPr lang="en-US" dirty="0">
                <a:latin typeface="Gilroy Medium" panose="00000600000000000000" charset="-52"/>
              </a:rPr>
              <a:t> –</a:t>
            </a:r>
            <a:r>
              <a:rPr lang="ru-RU" dirty="0">
                <a:latin typeface="Gilroy Medium" panose="00000600000000000000" charset="-52"/>
              </a:rPr>
              <a:t> вовлекают читателя, заставляя его согласиться с утверждением </a:t>
            </a:r>
            <a:r>
              <a:rPr lang="en-US" dirty="0">
                <a:latin typeface="Gilroy Medium" panose="00000600000000000000" charset="-52"/>
              </a:rPr>
              <a:t>.</a:t>
            </a:r>
            <a:endParaRPr lang="ru-RU" dirty="0">
              <a:latin typeface="Gilroy Medium" panose="00000600000000000000" charset="-52"/>
            </a:endParaRPr>
          </a:p>
          <a:p>
            <a:r>
              <a:rPr lang="en-US" dirty="0">
                <a:latin typeface="Gilroy Medium" panose="00000600000000000000" charset="-52"/>
              </a:rPr>
              <a:t>“</a:t>
            </a:r>
            <a:r>
              <a:rPr lang="ru-RU" dirty="0">
                <a:latin typeface="Gilroy Medium" panose="00000600000000000000" charset="-52"/>
              </a:rPr>
              <a:t>Хотите, чтобы ваш сайт привлекал клиентов и увеличивал продажи?</a:t>
            </a:r>
            <a:r>
              <a:rPr lang="en-US" dirty="0">
                <a:latin typeface="Gilroy Medium" panose="00000600000000000000" charset="-52"/>
              </a:rPr>
              <a:t>”</a:t>
            </a:r>
            <a:endParaRPr lang="ru-RU" dirty="0">
              <a:latin typeface="Gilroy Medium" panose="00000600000000000000" charset="-52"/>
            </a:endParaRPr>
          </a:p>
          <a:p>
            <a:endParaRPr lang="ru-RU" dirty="0">
              <a:latin typeface="Gilroy Medium" panose="00000600000000000000" charset="-52"/>
            </a:endParaRPr>
          </a:p>
          <a:p>
            <a:r>
              <a:rPr lang="ru-RU" dirty="0">
                <a:latin typeface="Gilroy Medium" panose="00000600000000000000" charset="-52"/>
              </a:rPr>
              <a:t>Речевое связывание – помогает усилить восприятие выгоды от работы с нами.</a:t>
            </a:r>
          </a:p>
          <a:p>
            <a:r>
              <a:rPr lang="en-US" dirty="0">
                <a:latin typeface="Gilroy Medium" panose="00000600000000000000" charset="-52"/>
              </a:rPr>
              <a:t>“</a:t>
            </a:r>
            <a:r>
              <a:rPr lang="ru-RU" dirty="0">
                <a:latin typeface="Gilroy Medium" panose="00000600000000000000" charset="-52"/>
              </a:rPr>
              <a:t>После того, как вы выберете </a:t>
            </a:r>
            <a:r>
              <a:rPr lang="ru-RU" dirty="0" err="1">
                <a:latin typeface="Gilroy Medium" panose="00000600000000000000" charset="-52"/>
              </a:rPr>
              <a:t>W</a:t>
            </a:r>
            <a:r>
              <a:rPr lang="en-US" dirty="0" err="1">
                <a:latin typeface="Gilroy Medium" panose="00000600000000000000" charset="-52"/>
              </a:rPr>
              <a:t>ebFlow</a:t>
            </a:r>
            <a:r>
              <a:rPr lang="ru-RU" dirty="0">
                <a:latin typeface="Gilroy Medium" panose="00000600000000000000" charset="-52"/>
              </a:rPr>
              <a:t>, ваш бизнес заиграет новыми красками.</a:t>
            </a:r>
            <a:r>
              <a:rPr lang="en-US" dirty="0">
                <a:latin typeface="Gilroy Medium" panose="00000600000000000000" charset="-52"/>
              </a:rPr>
              <a:t>”</a:t>
            </a:r>
          </a:p>
          <a:p>
            <a:endParaRPr lang="ru-RU" dirty="0">
              <a:latin typeface="Gilroy Medium" panose="00000600000000000000" charset="-52"/>
            </a:endParaRPr>
          </a:p>
          <a:p>
            <a:r>
              <a:rPr lang="ru-RU" dirty="0">
                <a:latin typeface="Gilroy Medium" panose="00000600000000000000" charset="-52"/>
              </a:rPr>
              <a:t>Пресуппозиция </a:t>
            </a:r>
            <a:r>
              <a:rPr lang="en-US" dirty="0">
                <a:latin typeface="Gilroy Medium" panose="00000600000000000000" charset="-52"/>
              </a:rPr>
              <a:t>– </a:t>
            </a:r>
            <a:r>
              <a:rPr lang="ru-RU" dirty="0">
                <a:latin typeface="Gilroy Medium" panose="00000600000000000000" charset="-52"/>
              </a:rPr>
              <a:t>помогает избежать сопротивления, подавая действие как уже принятое решение. </a:t>
            </a:r>
            <a:endParaRPr lang="en-US" dirty="0">
              <a:latin typeface="Gilroy Medium" panose="00000600000000000000" charset="-52"/>
            </a:endParaRPr>
          </a:p>
          <a:p>
            <a:r>
              <a:rPr lang="en-US" dirty="0">
                <a:latin typeface="Gilroy Medium" panose="00000600000000000000" charset="-52"/>
              </a:rPr>
              <a:t>“</a:t>
            </a:r>
            <a:r>
              <a:rPr lang="ru-RU" dirty="0">
                <a:latin typeface="Gilroy Medium" panose="00000600000000000000" charset="-52"/>
              </a:rPr>
              <a:t>После того, как вы выберете </a:t>
            </a:r>
            <a:r>
              <a:rPr lang="en-US" dirty="0" err="1">
                <a:latin typeface="Gilroy Medium" panose="00000600000000000000" charset="-52"/>
              </a:rPr>
              <a:t>WebFlow</a:t>
            </a:r>
            <a:r>
              <a:rPr lang="ru-RU" dirty="0">
                <a:latin typeface="Gilroy Medium" panose="00000600000000000000" charset="-52"/>
              </a:rPr>
              <a:t>, ваш бизнес заиграет новыми красками.</a:t>
            </a:r>
            <a:r>
              <a:rPr lang="en-US" dirty="0">
                <a:latin typeface="Gilroy Medium" panose="00000600000000000000" charset="-52"/>
              </a:rPr>
              <a:t>”</a:t>
            </a:r>
            <a:endParaRPr lang="ru-RU" dirty="0"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851683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130029" y="328154"/>
            <a:ext cx="987238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Суггестивный текст с использованием паттернов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ED8924-3C72-3C11-D4DF-BD12E99DFD0F}"/>
              </a:ext>
            </a:extLst>
          </p:cNvPr>
          <p:cNvSpPr txBox="1"/>
          <p:nvPr/>
        </p:nvSpPr>
        <p:spPr>
          <a:xfrm>
            <a:off x="130029" y="1520889"/>
            <a:ext cx="1147665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Gilroy Medium" panose="00000600000000000000" charset="-52"/>
              </a:rPr>
              <a:t>Каждый бизнес знает: современный и функциональный сайт — это ключ к успеху. </a:t>
            </a:r>
            <a:r>
              <a:rPr lang="en-US" dirty="0" err="1">
                <a:latin typeface="Gilroy Medium" panose="00000600000000000000" charset="-52"/>
              </a:rPr>
              <a:t>WebFlow</a:t>
            </a:r>
            <a:r>
              <a:rPr lang="ru-RU" dirty="0">
                <a:latin typeface="Gilroy Medium" panose="00000600000000000000" charset="-52"/>
              </a:rPr>
              <a:t> создаёт сайты, которые делают больше, чем просто выглядят красиво. Хотите, чтобы ваш сайт привлекал клиентов и увеличивал продажи? Тогда не теряйте времени — начните прямо сейчас. Чем раньше вы обратитесь, тем быстрее увидите рост прибыли. После того, как вы выберете </a:t>
            </a:r>
            <a:r>
              <a:rPr lang="en-US" dirty="0" err="1">
                <a:latin typeface="Gilroy Medium" panose="00000600000000000000" charset="-52"/>
              </a:rPr>
              <a:t>WebFlow</a:t>
            </a:r>
            <a:r>
              <a:rPr lang="ru-RU" dirty="0">
                <a:latin typeface="Gilroy Medium" panose="00000600000000000000" charset="-52"/>
              </a:rPr>
              <a:t>, ваш бизнес заиграет новыми красками.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0B9B10-FF8C-9F49-BF8F-27A1267269CD}"/>
              </a:ext>
            </a:extLst>
          </p:cNvPr>
          <p:cNvSpPr txBox="1"/>
          <p:nvPr/>
        </p:nvSpPr>
        <p:spPr>
          <a:xfrm>
            <a:off x="130029" y="3347462"/>
            <a:ext cx="11476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i="0" u="none" strike="noStrike" dirty="0">
                <a:effectLst/>
                <a:latin typeface="quote-cjk-patch"/>
              </a:rPr>
              <a:t>Ключевая фраза в точке золотого сечения:</a:t>
            </a:r>
            <a:endParaRPr lang="ru-RU" dirty="0">
              <a:latin typeface="Gilroy Medium" panose="00000600000000000000" charset="-5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5F1A5C-8236-AD4B-9B4A-4C172E1B56EA}"/>
              </a:ext>
            </a:extLst>
          </p:cNvPr>
          <p:cNvSpPr txBox="1"/>
          <p:nvPr/>
        </p:nvSpPr>
        <p:spPr>
          <a:xfrm>
            <a:off x="130984" y="3970269"/>
            <a:ext cx="11476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u="none" strike="noStrike" dirty="0">
                <a:effectLst/>
                <a:latin typeface="quote-cjk-patch"/>
              </a:rPr>
              <a:t>Тогда не теряйте времени — начните прямо сейчас</a:t>
            </a:r>
            <a:endParaRPr lang="ru-RU" dirty="0"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162853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130030" y="328154"/>
            <a:ext cx="795961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Суггестивный текст с использованием рефрейминга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ED8924-3C72-3C11-D4DF-BD12E99DFD0F}"/>
              </a:ext>
            </a:extLst>
          </p:cNvPr>
          <p:cNvSpPr txBox="1"/>
          <p:nvPr/>
        </p:nvSpPr>
        <p:spPr>
          <a:xfrm>
            <a:off x="130029" y="2798314"/>
            <a:ext cx="114766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Gilroy Medium" panose="00000600000000000000" charset="-52"/>
              </a:rPr>
              <a:t>Профессиональный сайт — это не просто траты, это инвестиция в ваш бизнес. </a:t>
            </a:r>
            <a:r>
              <a:rPr lang="en-US" dirty="0" err="1">
                <a:latin typeface="Gilroy Medium" panose="00000600000000000000" charset="-52"/>
              </a:rPr>
              <a:t>WebFlow</a:t>
            </a:r>
            <a:r>
              <a:rPr lang="ru-RU" dirty="0">
                <a:latin typeface="Gilroy Medium" panose="00000600000000000000" charset="-52"/>
              </a:rPr>
              <a:t> создаёт сайты, которые окупаются благодаря увеличению продаж и снижению затрат на доработки. Вы выбираете не просто сайт, а инструмент для роста.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3ED0D8-5315-F588-1CAB-FE637F2A75ED}"/>
              </a:ext>
            </a:extLst>
          </p:cNvPr>
          <p:cNvSpPr txBox="1"/>
          <p:nvPr/>
        </p:nvSpPr>
        <p:spPr>
          <a:xfrm>
            <a:off x="130029" y="1541281"/>
            <a:ext cx="114504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Gilroy Medium" panose="00000600000000000000" charset="-52"/>
              </a:rPr>
              <a:t>Рефрейминг содержания</a:t>
            </a:r>
          </a:p>
          <a:p>
            <a:r>
              <a:rPr lang="ru-RU" dirty="0">
                <a:latin typeface="Gilroy Medium" panose="00000600000000000000" charset="-52"/>
              </a:rPr>
              <a:t>Потенциальные клиенты могут считать, что профессиональные сайты - это дорого. Вместо акцента на высокой стоимости, следует подчеркнуть, что это инвестиция, которая окупается за счет увеличения доходов и сокращения расходов на доработки.</a:t>
            </a:r>
          </a:p>
          <a:p>
            <a:endParaRPr lang="ru-RU" dirty="0">
              <a:latin typeface="Gilroy Medium" panose="00000600000000000000" charset="-52"/>
            </a:endParaRPr>
          </a:p>
          <a:p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730443-A6F2-0046-94D6-F5AB6D6F9BF8}"/>
              </a:ext>
            </a:extLst>
          </p:cNvPr>
          <p:cNvSpPr txBox="1"/>
          <p:nvPr/>
        </p:nvSpPr>
        <p:spPr>
          <a:xfrm>
            <a:off x="130029" y="4073373"/>
            <a:ext cx="114766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Gilroy Medium" panose="00000600000000000000" charset="-52"/>
              </a:rPr>
              <a:t>Рефрейминг рамки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F328F3-E85B-4D46-B1F8-B7FA26BFE84C}"/>
              </a:ext>
            </a:extLst>
          </p:cNvPr>
          <p:cNvSpPr txBox="1"/>
          <p:nvPr/>
        </p:nvSpPr>
        <p:spPr>
          <a:xfrm>
            <a:off x="130029" y="4478709"/>
            <a:ext cx="114766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u="none" strike="noStrike" dirty="0">
                <a:effectLst/>
                <a:latin typeface="quote-cjk-patch"/>
              </a:rPr>
              <a:t>Сайт – это </a:t>
            </a:r>
            <a:r>
              <a:rPr lang="ru-RU" b="1" i="0" u="none" strike="noStrike" dirty="0">
                <a:effectLst/>
                <a:latin typeface="quote-cjk-patch"/>
              </a:rPr>
              <a:t>цифровой представитель вашего бренда</a:t>
            </a:r>
            <a:r>
              <a:rPr lang="ru-RU" b="0" i="0" u="none" strike="noStrike" dirty="0">
                <a:effectLst/>
                <a:latin typeface="quote-cjk-patch"/>
              </a:rPr>
              <a:t>, который работает 24/7, общается с клиентами и строит доверие.</a:t>
            </a:r>
            <a:endParaRPr lang="ru-RU" dirty="0"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620ED9-F454-9344-8E3D-B2D7833EFBCF}"/>
              </a:ext>
            </a:extLst>
          </p:cNvPr>
          <p:cNvSpPr txBox="1"/>
          <p:nvPr/>
        </p:nvSpPr>
        <p:spPr>
          <a:xfrm>
            <a:off x="103800" y="5136194"/>
            <a:ext cx="1147665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effectLst/>
                <a:latin typeface="Helvetica Neue" panose="02000503000000020004" pitchFamily="2" charset="0"/>
              </a:rPr>
              <a:t>Вопросы для рефрейминга:</a:t>
            </a:r>
          </a:p>
          <a:p>
            <a:r>
              <a:rPr lang="ru-RU" sz="1400" dirty="0">
                <a:effectLst/>
                <a:latin typeface="Helvetica Neue" panose="02000503000000020004" pitchFamily="2" charset="0"/>
              </a:rPr>
              <a:t>1 В каком контексте сайт становится не расходом, а активом?</a:t>
            </a:r>
          </a:p>
          <a:p>
            <a:r>
              <a:rPr lang="ru-RU" sz="1400" dirty="0">
                <a:effectLst/>
                <a:latin typeface="Helvetica Neue" panose="02000503000000020004" pitchFamily="2" charset="0"/>
              </a:rPr>
              <a:t>2 Какую более широкую ценность он приносит?</a:t>
            </a:r>
          </a:p>
          <a:p>
            <a:r>
              <a:rPr lang="ru-RU" sz="1400" dirty="0">
                <a:effectLst/>
                <a:latin typeface="Helvetica Neue" panose="02000503000000020004" pitchFamily="2" charset="0"/>
              </a:rPr>
              <a:t>3 Какие скрытые аспекты можно выделить?</a:t>
            </a:r>
          </a:p>
          <a:p>
            <a:r>
              <a:rPr lang="ru-RU" sz="1400" dirty="0">
                <a:effectLst/>
                <a:latin typeface="Helvetica Neue" panose="02000503000000020004" pitchFamily="2" charset="0"/>
              </a:rPr>
              <a:t>Ответ:</a:t>
            </a:r>
          </a:p>
          <a:p>
            <a:r>
              <a:rPr lang="ru-RU" sz="1400" dirty="0">
                <a:effectLst/>
                <a:latin typeface="Helvetica Neue" panose="02000503000000020004" pitchFamily="2" charset="0"/>
              </a:rPr>
              <a:t>Сайт как инвестиция в репутацию и долгосрочные отношения с клиентом.</a:t>
            </a:r>
          </a:p>
          <a:p>
            <a:endParaRPr lang="ru-RU" sz="1400" dirty="0"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207760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130030" y="328154"/>
            <a:ext cx="795961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0" i="0" u="none" strike="noStrike" dirty="0">
                <a:effectLst/>
                <a:latin typeface="quote-cjk-patch"/>
              </a:rPr>
              <a:t>Создание новых терминов через словообразование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3ED0D8-5315-F588-1CAB-FE637F2A75ED}"/>
              </a:ext>
            </a:extLst>
          </p:cNvPr>
          <p:cNvSpPr txBox="1"/>
          <p:nvPr/>
        </p:nvSpPr>
        <p:spPr>
          <a:xfrm>
            <a:off x="130029" y="1541281"/>
            <a:ext cx="114504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b="1" i="0" u="none" strike="noStrike" dirty="0">
                <a:effectLst/>
                <a:latin typeface="quote-cjk-patch"/>
              </a:rPr>
              <a:t>Цель:</a:t>
            </a:r>
            <a:br>
              <a:rPr lang="ru-RU" b="0" i="0" u="none" strike="noStrike" dirty="0">
                <a:effectLst/>
                <a:latin typeface="quote-cjk-patch"/>
              </a:rPr>
            </a:br>
            <a:r>
              <a:rPr lang="ru-RU" b="0" i="0" u="none" strike="noStrike" dirty="0">
                <a:effectLst/>
                <a:latin typeface="quote-cjk-patch"/>
              </a:rPr>
              <a:t>Усилить уникальность бренда через языковые приёмы.</a:t>
            </a:r>
            <a:endParaRPr lang="en-US" b="0" i="0" u="none" strike="noStrike" dirty="0">
              <a:effectLst/>
              <a:latin typeface="quote-cjk-patch"/>
            </a:endParaRPr>
          </a:p>
          <a:p>
            <a:pPr algn="l"/>
            <a:endParaRPr lang="en" b="0" i="0" u="none" strike="noStrike" dirty="0"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u="none" strike="noStrike" dirty="0">
                <a:effectLst/>
                <a:latin typeface="quote-cjk-patch"/>
              </a:rPr>
              <a:t>Каламбурное столкновение:</a:t>
            </a:r>
            <a:endParaRPr lang="ru-RU" b="0" i="0" u="none" strike="noStrike" dirty="0">
              <a:effectLst/>
              <a:latin typeface="quote-cjk-patch"/>
            </a:endParaRPr>
          </a:p>
          <a:p>
            <a:pPr algn="l"/>
            <a:r>
              <a:rPr lang="ru-RU" b="0" i="0" u="none" strike="noStrike" dirty="0">
                <a:effectLst/>
                <a:latin typeface="quote-cjk-patch"/>
              </a:rPr>
              <a:t>“</a:t>
            </a:r>
            <a:r>
              <a:rPr lang="en" b="0" i="0" u="none" strike="noStrike" dirty="0" err="1">
                <a:effectLst/>
                <a:latin typeface="quote-cjk-patch"/>
              </a:rPr>
              <a:t>WebFlow</a:t>
            </a:r>
            <a:r>
              <a:rPr lang="en" b="0" i="0" u="none" strike="noStrike" dirty="0">
                <a:effectLst/>
                <a:latin typeface="quote-cjk-patch"/>
              </a:rPr>
              <a:t> – </a:t>
            </a:r>
            <a:r>
              <a:rPr lang="ru-RU" b="0" i="0" u="none" strike="noStrike" dirty="0">
                <a:effectLst/>
                <a:latin typeface="quote-cjk-patch"/>
              </a:rPr>
              <a:t>ваш </a:t>
            </a:r>
            <a:r>
              <a:rPr lang="ru-RU" b="0" i="1" u="none" strike="noStrike" dirty="0">
                <a:effectLst/>
                <a:latin typeface="quote-cjk-patch"/>
              </a:rPr>
              <a:t>поток успеха</a:t>
            </a:r>
            <a:r>
              <a:rPr lang="ru-RU" b="0" i="0" u="none" strike="noStrike" dirty="0">
                <a:effectLst/>
                <a:latin typeface="quote-cjk-patch"/>
              </a:rPr>
              <a:t> в интернете.”</a:t>
            </a:r>
          </a:p>
          <a:p>
            <a:pPr algn="l"/>
            <a:r>
              <a:rPr lang="en-US" b="1" i="0" u="none" strike="noStrike" dirty="0">
                <a:effectLst/>
                <a:latin typeface="quote-cjk-patch"/>
              </a:rPr>
              <a:t>2.</a:t>
            </a:r>
            <a:r>
              <a:rPr lang="ru-RU" b="1" i="0" u="none" strike="noStrike" dirty="0">
                <a:effectLst/>
                <a:latin typeface="quote-cjk-patch"/>
              </a:rPr>
              <a:t>Внедрение названия в слоган:</a:t>
            </a:r>
            <a:endParaRPr lang="ru-RU" b="0" i="0" u="none" strike="noStrike" dirty="0">
              <a:effectLst/>
              <a:latin typeface="quote-cjk-patch"/>
            </a:endParaRPr>
          </a:p>
          <a:p>
            <a:pPr algn="l"/>
            <a:r>
              <a:rPr lang="ru-RU" b="0" i="0" u="none" strike="noStrike" dirty="0">
                <a:effectLst/>
                <a:latin typeface="quote-cjk-patch"/>
              </a:rPr>
              <a:t>“От идеи – к </a:t>
            </a:r>
            <a:r>
              <a:rPr lang="en" b="0" i="1" u="none" strike="noStrike" dirty="0" err="1">
                <a:effectLst/>
                <a:latin typeface="quote-cjk-patch"/>
              </a:rPr>
              <a:t>WebFlow</a:t>
            </a:r>
            <a:r>
              <a:rPr lang="en" b="0" i="1" u="none" strike="noStrike" dirty="0">
                <a:effectLst/>
                <a:latin typeface="quote-cjk-patch"/>
              </a:rPr>
              <a:t>-</a:t>
            </a:r>
            <a:r>
              <a:rPr lang="ru-RU" b="0" i="1" u="none" strike="noStrike" dirty="0">
                <a:effectLst/>
                <a:latin typeface="quote-cjk-patch"/>
              </a:rPr>
              <a:t>реализации</a:t>
            </a:r>
            <a:r>
              <a:rPr lang="ru-RU" b="0" i="0" u="none" strike="noStrike" dirty="0">
                <a:effectLst/>
                <a:latin typeface="quote-cjk-patch"/>
              </a:rPr>
              <a:t>.”</a:t>
            </a:r>
          </a:p>
          <a:p>
            <a:pPr algn="l"/>
            <a:r>
              <a:rPr lang="en-US" b="1" i="0" u="none" strike="noStrike" dirty="0">
                <a:effectLst/>
                <a:latin typeface="quote-cjk-patch"/>
              </a:rPr>
              <a:t>3.</a:t>
            </a:r>
            <a:r>
              <a:rPr lang="ru-RU" b="1" i="0" u="none" strike="noStrike" dirty="0">
                <a:effectLst/>
                <a:latin typeface="quote-cjk-patch"/>
              </a:rPr>
              <a:t>Образование нового слова:</a:t>
            </a:r>
            <a:endParaRPr lang="ru-RU" b="0" i="0" u="none" strike="noStrike" dirty="0">
              <a:effectLst/>
              <a:latin typeface="quote-cjk-patch"/>
            </a:endParaRPr>
          </a:p>
          <a:p>
            <a:pPr algn="l"/>
            <a:r>
              <a:rPr lang="ru-RU" b="0" i="0" u="none" strike="noStrike" dirty="0">
                <a:effectLst/>
                <a:latin typeface="quote-cjk-patch"/>
              </a:rPr>
              <a:t>“Мы занимаемся </a:t>
            </a:r>
            <a:r>
              <a:rPr lang="ru-RU" b="0" i="1" u="none" strike="noStrike" dirty="0">
                <a:effectLst/>
                <a:latin typeface="quote-cjk-patch"/>
              </a:rPr>
              <a:t>веб-</a:t>
            </a:r>
            <a:r>
              <a:rPr lang="ru-RU" b="0" i="1" u="none" strike="noStrike" dirty="0" err="1">
                <a:effectLst/>
                <a:latin typeface="quote-cjk-patch"/>
              </a:rPr>
              <a:t>потоковизацией</a:t>
            </a:r>
            <a:r>
              <a:rPr lang="ru-RU" b="0" i="0" u="none" strike="noStrike" dirty="0">
                <a:effectLst/>
                <a:latin typeface="quote-cjk-patch"/>
              </a:rPr>
              <a:t> вашего бизнеса.”</a:t>
            </a:r>
          </a:p>
          <a:p>
            <a:pPr algn="l"/>
            <a:r>
              <a:rPr lang="en-US" b="1" i="0" u="none" strike="noStrike" dirty="0">
                <a:effectLst/>
                <a:latin typeface="quote-cjk-patch"/>
              </a:rPr>
              <a:t>4.</a:t>
            </a:r>
            <a:r>
              <a:rPr lang="ru-RU" b="1" i="0" u="none" strike="noStrike" dirty="0">
                <a:effectLst/>
                <a:latin typeface="quote-cjk-patch"/>
              </a:rPr>
              <a:t>Сокращение:</a:t>
            </a:r>
            <a:endParaRPr lang="ru-RU" b="0" i="0" u="none" strike="noStrike" dirty="0">
              <a:effectLst/>
              <a:latin typeface="quote-cjk-patch"/>
            </a:endParaRPr>
          </a:p>
          <a:p>
            <a:pPr algn="l"/>
            <a:r>
              <a:rPr lang="ru-RU" b="0" i="0" u="none" strike="noStrike" dirty="0">
                <a:effectLst/>
                <a:latin typeface="quote-cjk-patch"/>
              </a:rPr>
              <a:t>“</a:t>
            </a:r>
            <a:r>
              <a:rPr lang="en" b="0" i="0" u="none" strike="noStrike" dirty="0">
                <a:effectLst/>
                <a:latin typeface="quote-cjk-patch"/>
              </a:rPr>
              <a:t>WF-</a:t>
            </a:r>
            <a:r>
              <a:rPr lang="ru-RU" b="0" i="0" u="none" strike="noStrike" dirty="0">
                <a:effectLst/>
                <a:latin typeface="quote-cjk-patch"/>
              </a:rPr>
              <a:t>решения” (от </a:t>
            </a:r>
            <a:r>
              <a:rPr lang="en" b="0" i="0" u="none" strike="noStrike" dirty="0" err="1">
                <a:effectLst/>
                <a:latin typeface="quote-cjk-patch"/>
              </a:rPr>
              <a:t>WebFlow</a:t>
            </a:r>
            <a:r>
              <a:rPr lang="en" b="0" i="0" u="none" strike="noStrike" dirty="0">
                <a:effectLst/>
                <a:latin typeface="quote-cjk-patch"/>
              </a:rPr>
              <a:t>)</a:t>
            </a:r>
          </a:p>
          <a:p>
            <a:pPr algn="l"/>
            <a:r>
              <a:rPr lang="en-US" b="1" i="0" u="none" strike="noStrike" dirty="0">
                <a:effectLst/>
                <a:latin typeface="quote-cjk-patch"/>
              </a:rPr>
              <a:t>5.</a:t>
            </a:r>
            <a:r>
              <a:rPr lang="ru-RU" b="1" i="0" u="none" strike="noStrike" dirty="0">
                <a:effectLst/>
                <a:latin typeface="quote-cjk-patch"/>
              </a:rPr>
              <a:t>Обратное прочтение:</a:t>
            </a:r>
            <a:endParaRPr lang="ru-RU" b="0" i="0" u="none" strike="noStrike" dirty="0">
              <a:effectLst/>
              <a:latin typeface="quote-cjk-patch"/>
            </a:endParaRPr>
          </a:p>
          <a:p>
            <a:pPr algn="l"/>
            <a:r>
              <a:rPr lang="ru-RU" b="0" i="0" u="none" strike="noStrike" dirty="0">
                <a:effectLst/>
                <a:latin typeface="quote-cjk-patch"/>
              </a:rPr>
              <a:t>“</a:t>
            </a:r>
            <a:r>
              <a:rPr lang="en" b="0" i="0" u="none" strike="noStrike" dirty="0">
                <a:effectLst/>
                <a:latin typeface="quote-cjk-patch"/>
              </a:rPr>
              <a:t>Wolf Bew” – </a:t>
            </a:r>
            <a:r>
              <a:rPr lang="ru-RU" b="0" i="0" u="none" strike="noStrike" dirty="0">
                <a:effectLst/>
                <a:latin typeface="quote-cjk-patch"/>
              </a:rPr>
              <a:t>как символ силы и внимания (для креативной рекламы).</a:t>
            </a:r>
          </a:p>
        </p:txBody>
      </p:sp>
    </p:spTree>
    <p:extLst>
      <p:ext uri="{BB962C8B-B14F-4D97-AF65-F5344CB8AC3E}">
        <p14:creationId xmlns:p14="http://schemas.microsoft.com/office/powerpoint/2010/main" val="2184359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EC76724-8B7E-49E1-A5D8-0A86497396F2}"/>
              </a:ext>
            </a:extLst>
          </p:cNvPr>
          <p:cNvSpPr txBox="1"/>
          <p:nvPr/>
        </p:nvSpPr>
        <p:spPr>
          <a:xfrm>
            <a:off x="4721568" y="6454765"/>
            <a:ext cx="23057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n-ea"/>
                <a:cs typeface="+mn-cs"/>
              </a:rPr>
              <a:t>2025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C1E841-C2B3-4680-B71A-C0E060431885}"/>
              </a:ext>
            </a:extLst>
          </p:cNvPr>
          <p:cNvSpPr txBox="1"/>
          <p:nvPr/>
        </p:nvSpPr>
        <p:spPr>
          <a:xfrm>
            <a:off x="1268561" y="3044279"/>
            <a:ext cx="96548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kumimoji="0" lang="ru-RU" sz="2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j-ea"/>
                <a:cs typeface="+mj-cs"/>
              </a:rPr>
              <a:t>Работа с суггестивными текстами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E13023-76F4-C3B7-2ADD-3CB7FBF2CC7A}"/>
              </a:ext>
            </a:extLst>
          </p:cNvPr>
          <p:cNvSpPr txBox="1"/>
          <p:nvPr/>
        </p:nvSpPr>
        <p:spPr>
          <a:xfrm>
            <a:off x="5219279" y="542298"/>
            <a:ext cx="65038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kumimoji="0" lang="ru-RU" sz="2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j-ea"/>
                <a:cs typeface="+mj-cs"/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345414264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1226</TotalTime>
  <Words>646</Words>
  <Application>Microsoft Office PowerPoint</Application>
  <PresentationFormat>Широкоэкранный</PresentationFormat>
  <Paragraphs>99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20" baseType="lpstr">
      <vt:lpstr>quote-cjk-patch</vt:lpstr>
      <vt:lpstr>Helvetica Neue</vt:lpstr>
      <vt:lpstr>Gilroy Bold</vt:lpstr>
      <vt:lpstr>Verdana</vt:lpstr>
      <vt:lpstr>Gilroy Medium</vt:lpstr>
      <vt:lpstr>Calibri</vt:lpstr>
      <vt:lpstr>Arial</vt:lpstr>
      <vt:lpstr>MS Sans Serif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Maibenben</dc:creator>
  <cp:lastModifiedBy>K</cp:lastModifiedBy>
  <cp:revision>82</cp:revision>
  <dcterms:created xsi:type="dcterms:W3CDTF">2024-05-27T20:04:35Z</dcterms:created>
  <dcterms:modified xsi:type="dcterms:W3CDTF">2025-12-09T09:12:11Z</dcterms:modified>
</cp:coreProperties>
</file>