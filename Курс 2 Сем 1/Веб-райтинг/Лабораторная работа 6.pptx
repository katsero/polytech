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896" r:id="rId1"/>
  </p:sldMasterIdLst>
  <p:notesMasterIdLst>
    <p:notesMasterId r:id="rId13"/>
  </p:notesMasterIdLst>
  <p:sldIdLst>
    <p:sldId id="256" r:id="rId2"/>
    <p:sldId id="257" r:id="rId3"/>
    <p:sldId id="278" r:id="rId4"/>
    <p:sldId id="273" r:id="rId5"/>
    <p:sldId id="277" r:id="rId6"/>
    <p:sldId id="275" r:id="rId7"/>
    <p:sldId id="269" r:id="rId8"/>
    <p:sldId id="271" r:id="rId9"/>
    <p:sldId id="272" r:id="rId10"/>
    <p:sldId id="276" r:id="rId11"/>
    <p:sldId id="258" r:id="rId12"/>
  </p:sldIdLst>
  <p:sldSz cx="12192000" cy="6858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Gilroy Bold" panose="00000800000000000000" charset="-52"/>
      <p:bold r:id="rId18"/>
    </p:embeddedFont>
    <p:embeddedFont>
      <p:font typeface="Gilroy Medium" panose="00000600000000000000" charset="-52"/>
      <p:regular r:id="rId19"/>
    </p:embeddedFont>
    <p:embeddedFont>
      <p:font typeface="Verdana" panose="020B0604030504040204" pitchFamily="34" charset="0"/>
      <p:regular r:id="rId20"/>
      <p:bold r:id="rId21"/>
      <p:italic r:id="rId22"/>
      <p:boldItalic r:id="rId23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70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150" y="22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9DC91-30C7-46AB-ADDB-A80A0533D77A}" type="datetimeFigureOut">
              <a:rPr lang="ru-RU" smtClean="0"/>
              <a:t>16.12.2025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B6BEC5-E5BF-4073-B59F-AF429BC831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394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5845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8830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341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81598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41061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18248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84069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10064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38939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7783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6BEC5-E5BF-4073-B59F-AF429BC83136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2913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39528" y="2001837"/>
            <a:ext cx="10087276" cy="1508125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039528" y="4129238"/>
            <a:ext cx="10087276" cy="11285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6097" y="5654764"/>
            <a:ext cx="2860213" cy="1632459"/>
          </a:xfrm>
          <a:prstGeom prst="rect">
            <a:avLst/>
          </a:prstGeom>
        </p:spPr>
      </p:pic>
      <p:cxnSp>
        <p:nvCxnSpPr>
          <p:cNvPr id="12" name="Прямая соединительная линия 11"/>
          <p:cNvCxnSpPr/>
          <p:nvPr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530" y="-100001"/>
            <a:ext cx="3006013" cy="2125974"/>
          </a:xfrm>
          <a:prstGeom prst="rect">
            <a:avLst/>
          </a:prstGeom>
        </p:spPr>
      </p:pic>
      <p:cxnSp>
        <p:nvCxnSpPr>
          <p:cNvPr id="9" name="Прямая соединительная линия 8"/>
          <p:cNvCxnSpPr/>
          <p:nvPr userDrawn="1"/>
        </p:nvCxnSpPr>
        <p:spPr>
          <a:xfrm>
            <a:off x="4555671" y="1224644"/>
            <a:ext cx="7740000" cy="0"/>
          </a:xfrm>
          <a:prstGeom prst="line">
            <a:avLst/>
          </a:prstGeom>
          <a:ln w="5715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9507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959430"/>
            <a:ext cx="10281557" cy="364943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D3C23-8038-4008-B24E-40A94D79456D}" type="datetime1">
              <a:rPr lang="ru-RU" smtClean="0"/>
              <a:t>16.12.2025</a:t>
            </a:fld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080171" y="5698671"/>
            <a:ext cx="1787979" cy="1047296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7370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58779" y="1286227"/>
            <a:ext cx="10087276" cy="215961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58779" y="4165953"/>
            <a:ext cx="10087276" cy="1445576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24272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9993084" y="5390016"/>
            <a:ext cx="1828800" cy="1331459"/>
          </a:xfrm>
        </p:spPr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252357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3543300" cy="41098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ADD92-CC98-4900-BE8A-2068547BBC1A}" type="datetime1">
              <a:rPr lang="ru-RU" smtClean="0"/>
              <a:t>16.12.2025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0800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992085"/>
            <a:ext cx="420574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702379"/>
            <a:ext cx="420574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372100" y="1992085"/>
            <a:ext cx="4327071" cy="51298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372100" y="2702379"/>
            <a:ext cx="4327071" cy="32167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38898-160C-4747-9301-0B5702FA49D8}" type="datetime1">
              <a:rPr lang="ru-RU" smtClean="0"/>
              <a:t>16.12.2025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8859383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53670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BB16F-DABE-4712-B47F-7722E1CB50FE}" type="datetime1">
              <a:rPr lang="ru-RU" smtClean="0"/>
              <a:t>16.12.2025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70327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BEA22-9938-4273-8C60-D80B349E4BA9}" type="datetime1">
              <a:rPr lang="ru-RU" smtClean="0"/>
              <a:t>16.12.2025</a:t>
            </a:fld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1701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66859" y="1281339"/>
            <a:ext cx="4898069" cy="45876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D790B-F35A-4C90-BC4A-BA7F77964CA4}" type="datetime1">
              <a:rPr lang="ru-RU" smtClean="0"/>
              <a:t>16.12.2025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9784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1BE76D-E181-4177-862E-40D97C82BFEB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52672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1273629"/>
            <a:ext cx="5823902" cy="41120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32831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AEF080-AA0F-44FA-BA62-A56D8619F7E7}" type="datetime1">
              <a:rPr lang="ru-RU" smtClean="0"/>
              <a:t>16.12.2025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307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 title="0"/>
          <p:cNvSpPr>
            <a:spLocks noGrp="1" noChangeAspect="1"/>
          </p:cNvSpPr>
          <p:nvPr>
            <p:ph type="sldNum" sz="quarter" idx="4"/>
          </p:nvPr>
        </p:nvSpPr>
        <p:spPr>
          <a:xfrm>
            <a:off x="10076358" y="5731329"/>
            <a:ext cx="1787978" cy="1071890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>
            <a:lvl1pPr algn="l">
              <a:defRPr sz="9600" b="0" i="0" baseline="0">
                <a:solidFill>
                  <a:schemeClr val="bg2">
                    <a:lumMod val="90000"/>
                  </a:schemeClr>
                </a:solidFill>
                <a:latin typeface="Gilroy Medium" panose="00000600000000000000" pitchFamily="2" charset="-52"/>
              </a:defRPr>
            </a:lvl1pPr>
          </a:lstStyle>
          <a:p>
            <a:fld id="{A01BE76D-E181-4177-862E-40D97C82BFEB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959429"/>
            <a:ext cx="10281557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B8CDF-4973-4195-91CA-18BA11F1D400}" type="datetime1">
              <a:rPr lang="ru-RU" smtClean="0"/>
              <a:t>16.12.2025</a:t>
            </a:fld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5768" y="200819"/>
            <a:ext cx="1489158" cy="1053193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55171"/>
            <a:ext cx="8877300" cy="11355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 userDrawn="1"/>
        </p:nvCxnSpPr>
        <p:spPr>
          <a:xfrm>
            <a:off x="10260531" y="1094014"/>
            <a:ext cx="1980000" cy="0"/>
          </a:xfrm>
          <a:prstGeom prst="line">
            <a:avLst/>
          </a:prstGeom>
          <a:ln w="38100" cap="rnd">
            <a:rou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667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3" r:id="rId7"/>
    <p:sldLayoutId id="2147483904" r:id="rId8"/>
    <p:sldLayoutId id="2147483905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Gilroy Bold" panose="00000800000000000000" pitchFamily="2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Gilroy Medium" panose="00000600000000000000" pitchFamily="2" charset="-52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8D64222-1292-4A23-A829-4D7C56BB71FE}"/>
              </a:ext>
            </a:extLst>
          </p:cNvPr>
          <p:cNvSpPr txBox="1"/>
          <p:nvPr/>
        </p:nvSpPr>
        <p:spPr>
          <a:xfrm>
            <a:off x="4067954" y="723037"/>
            <a:ext cx="812404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n-ea"/>
                <a:cs typeface="+mn-cs"/>
              </a:rPr>
              <a:t>Веб-</a:t>
            </a:r>
            <a:r>
              <a:rPr kumimoji="0" lang="ru-RU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n-ea"/>
                <a:cs typeface="+mn-cs"/>
              </a:rPr>
              <a:t>райтинг</a:t>
            </a:r>
            <a:endParaRPr kumimoji="0" lang="ru-RU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Bold" panose="00000800000000000000" charset="-52"/>
              <a:ea typeface="+mn-ea"/>
              <a:cs typeface="+mn-cs"/>
            </a:endParaRPr>
          </a:p>
          <a:p>
            <a:pPr algn="ctr"/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  <a:p>
            <a:pPr algn="ctr"/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 </a:t>
            </a:r>
            <a:r>
              <a:rPr lang="ru-RU" dirty="0">
                <a:latin typeface="Gilroy Medium" panose="00000600000000000000" charset="-52"/>
              </a:rPr>
              <a:t>по направлению 09.03.01 Информатика и вычислительная техника</a:t>
            </a:r>
          </a:p>
          <a:p>
            <a:pPr algn="ctr"/>
            <a:r>
              <a:rPr lang="ru-RU" dirty="0">
                <a:latin typeface="Gilroy Medium" panose="00000600000000000000" charset="-52"/>
              </a:rPr>
              <a:t>Образовательная программа (профиль) «Веб-технологии»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AA36A-0422-46F0-BA3A-4B2EF754C329}"/>
              </a:ext>
            </a:extLst>
          </p:cNvPr>
          <p:cNvSpPr txBox="1"/>
          <p:nvPr/>
        </p:nvSpPr>
        <p:spPr>
          <a:xfrm>
            <a:off x="76899" y="2951946"/>
            <a:ext cx="118872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kumimoji="0" lang="ru-RU" sz="3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j-ea"/>
                <a:cs typeface="+mj-cs"/>
              </a:rPr>
              <a:t>Работа с суггестивными текстами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18C808-D44B-4FFB-A9B8-91FA34E1C60F}"/>
              </a:ext>
            </a:extLst>
          </p:cNvPr>
          <p:cNvSpPr txBox="1"/>
          <p:nvPr/>
        </p:nvSpPr>
        <p:spPr>
          <a:xfrm>
            <a:off x="5673438" y="4978637"/>
            <a:ext cx="620308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latin typeface="Gilroy Medium" panose="00000600000000000000" charset="-52"/>
              </a:rPr>
              <a:t>Студент:  Андронов Денис Андреевич 241-321, </a:t>
            </a:r>
          </a:p>
          <a:p>
            <a:pPr algn="r">
              <a:lnSpc>
                <a:spcPts val="2000"/>
              </a:lnSpc>
            </a:pPr>
            <a:r>
              <a:rPr lang="ru-RU" dirty="0">
                <a:effectLst/>
                <a:latin typeface="Helvetica Neue" panose="02000503000000020004" pitchFamily="2" charset="0"/>
              </a:rPr>
              <a:t>Романов Александр Дмитриевич </a:t>
            </a:r>
            <a:r>
              <a:rPr lang="ru-RU" dirty="0">
                <a:latin typeface="Gilroy Medium" panose="00000600000000000000" charset="-52"/>
              </a:rPr>
              <a:t>241-321</a:t>
            </a:r>
          </a:p>
          <a:p>
            <a:pPr algn="r">
              <a:lnSpc>
                <a:spcPts val="2000"/>
              </a:lnSpc>
            </a:pPr>
            <a:r>
              <a:rPr lang="ru-RU" dirty="0" err="1">
                <a:effectLst/>
                <a:latin typeface="Helvetica Neue" panose="02000503000000020004" pitchFamily="2" charset="0"/>
              </a:rPr>
              <a:t>Каматали</a:t>
            </a:r>
            <a:r>
              <a:rPr lang="ru-RU" dirty="0">
                <a:effectLst/>
                <a:latin typeface="Helvetica Neue" panose="02000503000000020004" pitchFamily="2" charset="0"/>
              </a:rPr>
              <a:t> Алина </a:t>
            </a:r>
            <a:r>
              <a:rPr lang="ru-RU" dirty="0" err="1">
                <a:effectLst/>
                <a:latin typeface="Helvetica Neue" panose="02000503000000020004" pitchFamily="2" charset="0"/>
              </a:rPr>
              <a:t>Аароновна</a:t>
            </a:r>
            <a:r>
              <a:rPr lang="ru-RU" dirty="0">
                <a:effectLst/>
                <a:latin typeface="Helvetica Neue" panose="02000503000000020004" pitchFamily="2" charset="0"/>
              </a:rPr>
              <a:t> </a:t>
            </a:r>
            <a:r>
              <a:rPr lang="ru-RU" dirty="0">
                <a:latin typeface="Gilroy Medium" panose="00000600000000000000" charset="-52"/>
              </a:rPr>
              <a:t>241-321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E4B5EE-80E5-44C9-B29C-37CD3F69DA42}"/>
              </a:ext>
            </a:extLst>
          </p:cNvPr>
          <p:cNvSpPr txBox="1"/>
          <p:nvPr/>
        </p:nvSpPr>
        <p:spPr>
          <a:xfrm>
            <a:off x="4782071" y="6353372"/>
            <a:ext cx="225034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</a:rPr>
              <a:t>2025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549EF8-B780-5DED-62AA-D959F4639613}"/>
              </a:ext>
            </a:extLst>
          </p:cNvPr>
          <p:cNvSpPr txBox="1"/>
          <p:nvPr/>
        </p:nvSpPr>
        <p:spPr>
          <a:xfrm>
            <a:off x="2994457" y="3523035"/>
            <a:ext cx="6203086" cy="348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  <a:spcBef>
                <a:spcPts val="0"/>
              </a:spcBef>
            </a:pPr>
            <a:r>
              <a:rPr lang="ru-RU" dirty="0">
                <a:latin typeface="Gilroy Medium" panose="00000600000000000000" charset="-52"/>
              </a:rPr>
              <a:t>«Нейролингвистическое программирование»</a:t>
            </a:r>
            <a:endParaRPr lang="ru-RU" dirty="0">
              <a:solidFill>
                <a:schemeClr val="tx1"/>
              </a:solidFill>
              <a:latin typeface="Gilroy Medium" panose="0000060000000000000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916414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2</a:t>
            </a:fld>
            <a:endParaRPr lang="ru-RU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69E9A5-0F30-46EE-BA6A-78421B32F98B}"/>
              </a:ext>
            </a:extLst>
          </p:cNvPr>
          <p:cNvSpPr txBox="1"/>
          <p:nvPr/>
        </p:nvSpPr>
        <p:spPr>
          <a:xfrm>
            <a:off x="457200" y="1845733"/>
            <a:ext cx="946400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Gilroy Bold" panose="00000800000000000000" charset="-52"/>
                <a:ea typeface="+mj-ea"/>
                <a:cs typeface="+mj-cs"/>
              </a:rPr>
              <a:t>Цель</a:t>
            </a:r>
            <a:r>
              <a:rPr lang="ru-RU" sz="2400" dirty="0">
                <a:latin typeface="Gilroy Bold" panose="00000800000000000000" charset="-52"/>
                <a:ea typeface="+mj-ea"/>
                <a:cs typeface="+mj-cs"/>
              </a:rPr>
              <a:t>: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 </a:t>
            </a:r>
            <a:r>
              <a:rPr kumimoji="0" lang="ru-RU" sz="24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изучить правила и особенности применения инструментов НЛП, анализ суггестивного потенциала разработанной айдентики компании (имени, слогана, рекламных текстов). Разработка эффективного продающего рекламного текста с элементами НЛП.</a:t>
            </a:r>
            <a:endParaRPr lang="ru-RU" sz="2400" dirty="0">
              <a:solidFill>
                <a:schemeClr val="tx1"/>
              </a:solidFill>
              <a:latin typeface="Gilroy Medium" panose="00000600000000000000" charset="-52"/>
            </a:endParaRPr>
          </a:p>
          <a:p>
            <a:endParaRPr kumimoji="0" lang="en-US" sz="24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8B0259-6E5B-CD0B-F8B8-C409288C91FA}"/>
              </a:ext>
            </a:extLst>
          </p:cNvPr>
          <p:cNvSpPr txBox="1"/>
          <p:nvPr/>
        </p:nvSpPr>
        <p:spPr>
          <a:xfrm>
            <a:off x="326876" y="538629"/>
            <a:ext cx="65350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dirty="0">
                <a:latin typeface="Gilroy Bold" panose="00000800000000000000" charset="-52"/>
                <a:ea typeface="+mj-ea"/>
                <a:cs typeface="+mj-cs"/>
              </a:rPr>
              <a:t>Постановка цели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30857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3</a:t>
            </a:fld>
            <a:endParaRPr lang="ru-RU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87F541-46FD-2980-378F-C5FD3729FB7E}"/>
              </a:ext>
            </a:extLst>
          </p:cNvPr>
          <p:cNvSpPr txBox="1"/>
          <p:nvPr/>
        </p:nvSpPr>
        <p:spPr>
          <a:xfrm>
            <a:off x="130029" y="328154"/>
            <a:ext cx="906946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Анализ имени, слогана и рекламного текста программой ВААЛ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D873F8-A12F-4654-B2D4-D4D405405AC5}"/>
              </a:ext>
            </a:extLst>
          </p:cNvPr>
          <p:cNvSpPr txBox="1"/>
          <p:nvPr/>
        </p:nvSpPr>
        <p:spPr>
          <a:xfrm>
            <a:off x="238893" y="1733525"/>
            <a:ext cx="115465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Gilroy Medium" panose="00000600000000000000" charset="-52"/>
              </a:rPr>
              <a:t>Анализ имени</a:t>
            </a:r>
          </a:p>
          <a:p>
            <a:r>
              <a:rPr lang="ru-RU" dirty="0" err="1">
                <a:latin typeface="Gilroy Medium" panose="00000600000000000000" charset="-52"/>
              </a:rPr>
              <a:t>W</a:t>
            </a:r>
            <a:r>
              <a:rPr lang="en-US" dirty="0" err="1">
                <a:latin typeface="Gilroy Medium" panose="00000600000000000000" charset="-52"/>
              </a:rPr>
              <a:t>ebFlow</a:t>
            </a:r>
            <a:endParaRPr lang="ru-RU" dirty="0">
              <a:latin typeface="Gilroy Medium" panose="00000600000000000000" charset="-52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3D27F29-2FB3-4BEF-8DAB-BFEE502770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7570" y="1733525"/>
            <a:ext cx="5266298" cy="392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77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4</a:t>
            </a:fld>
            <a:endParaRPr lang="ru-RU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87F541-46FD-2980-378F-C5FD3729FB7E}"/>
              </a:ext>
            </a:extLst>
          </p:cNvPr>
          <p:cNvSpPr txBox="1"/>
          <p:nvPr/>
        </p:nvSpPr>
        <p:spPr>
          <a:xfrm>
            <a:off x="130029" y="328154"/>
            <a:ext cx="906946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Анализ имени, слогана и рекламного текста программой ВААЛ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D873F8-A12F-4654-B2D4-D4D405405AC5}"/>
              </a:ext>
            </a:extLst>
          </p:cNvPr>
          <p:cNvSpPr txBox="1"/>
          <p:nvPr/>
        </p:nvSpPr>
        <p:spPr>
          <a:xfrm>
            <a:off x="238893" y="1733525"/>
            <a:ext cx="11546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Gilroy Medium" panose="00000600000000000000" charset="-52"/>
              </a:rPr>
              <a:t>Анализ слогана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817310F-4DF1-DAAA-F73E-98F794819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0497" y="1405372"/>
            <a:ext cx="5373618" cy="387696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D2B53EF-3A03-1D66-16CF-6F0DD5D47E6D}"/>
              </a:ext>
            </a:extLst>
          </p:cNvPr>
          <p:cNvSpPr txBox="1"/>
          <p:nvPr/>
        </p:nvSpPr>
        <p:spPr>
          <a:xfrm>
            <a:off x="238893" y="2107844"/>
            <a:ext cx="44544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Gilroy Medium" panose="00000600000000000000" charset="-52"/>
              </a:rPr>
              <a:t>WebFlow</a:t>
            </a:r>
            <a:r>
              <a:rPr lang="en-US" dirty="0">
                <a:latin typeface="Gilroy Medium" panose="00000600000000000000" charset="-52"/>
              </a:rPr>
              <a:t> </a:t>
            </a:r>
            <a:r>
              <a:rPr lang="ru-RU" dirty="0">
                <a:latin typeface="Gilroy Medium" panose="00000600000000000000" charset="-52"/>
              </a:rPr>
              <a:t>– </a:t>
            </a:r>
            <a:r>
              <a:rPr lang="en-US" dirty="0" err="1">
                <a:latin typeface="Gilroy Medium" panose="00000600000000000000" charset="-52"/>
              </a:rPr>
              <a:t>п</a:t>
            </a:r>
            <a:r>
              <a:rPr lang="ru-RU" dirty="0" err="1">
                <a:latin typeface="Gilroy Medium" panose="00000600000000000000" charset="-52"/>
              </a:rPr>
              <a:t>оток</a:t>
            </a:r>
            <a:r>
              <a:rPr lang="ru-RU" dirty="0">
                <a:latin typeface="Gilroy Medium" panose="00000600000000000000" charset="-52"/>
              </a:rPr>
              <a:t> идей - поток клиентов</a:t>
            </a:r>
          </a:p>
        </p:txBody>
      </p:sp>
    </p:spTree>
    <p:extLst>
      <p:ext uri="{BB962C8B-B14F-4D97-AF65-F5344CB8AC3E}">
        <p14:creationId xmlns:p14="http://schemas.microsoft.com/office/powerpoint/2010/main" val="3300319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5</a:t>
            </a:fld>
            <a:endParaRPr lang="ru-RU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87F541-46FD-2980-378F-C5FD3729FB7E}"/>
              </a:ext>
            </a:extLst>
          </p:cNvPr>
          <p:cNvSpPr txBox="1"/>
          <p:nvPr/>
        </p:nvSpPr>
        <p:spPr>
          <a:xfrm>
            <a:off x="301841" y="286466"/>
            <a:ext cx="887102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Анализ имени, слогана и рекламного текста программой ВААЛ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D873F8-A12F-4654-B2D4-D4D405405AC5}"/>
              </a:ext>
            </a:extLst>
          </p:cNvPr>
          <p:cNvSpPr txBox="1"/>
          <p:nvPr/>
        </p:nvSpPr>
        <p:spPr>
          <a:xfrm>
            <a:off x="238893" y="1390068"/>
            <a:ext cx="11546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Gilroy Medium" panose="00000600000000000000" charset="-52"/>
              </a:rPr>
              <a:t>Анализ рекламного текста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71B2BE-5605-F959-7D02-4696B423DE7D}"/>
              </a:ext>
            </a:extLst>
          </p:cNvPr>
          <p:cNvSpPr txBox="1"/>
          <p:nvPr/>
        </p:nvSpPr>
        <p:spPr>
          <a:xfrm>
            <a:off x="238893" y="2166414"/>
            <a:ext cx="4506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Gilroy Medium" panose="00000600000000000000" charset="-52"/>
              </a:rPr>
              <a:t> </a:t>
            </a:r>
            <a:endParaRPr lang="ru-RU" dirty="0">
              <a:latin typeface="Gilroy Medium" panose="00000600000000000000" charset="-52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DCAA5E-94EA-9D24-1D8D-6A0394F663DA}"/>
              </a:ext>
            </a:extLst>
          </p:cNvPr>
          <p:cNvSpPr txBox="1"/>
          <p:nvPr/>
        </p:nvSpPr>
        <p:spPr>
          <a:xfrm>
            <a:off x="238893" y="1908963"/>
            <a:ext cx="615216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quote-cjk-patch"/>
              </a:rPr>
              <a:t>Ваш </a:t>
            </a:r>
            <a:r>
              <a:rPr lang="ru-RU" b="1" u="sng" dirty="0">
                <a:latin typeface="quote-cjk-patch"/>
              </a:rPr>
              <a:t>сайт всё ещё «спит» </a:t>
            </a:r>
            <a:r>
              <a:rPr lang="ru-RU" b="1" dirty="0">
                <a:latin typeface="quote-cjk-patch"/>
              </a:rPr>
              <a:t>и </a:t>
            </a:r>
            <a:r>
              <a:rPr lang="ru-RU" b="1" u="sng" dirty="0">
                <a:latin typeface="quote-cjk-patch"/>
              </a:rPr>
              <a:t>не видит 80% клиентов</a:t>
            </a:r>
            <a:r>
              <a:rPr lang="ru-RU" b="1" dirty="0">
                <a:latin typeface="quote-cjk-patch"/>
              </a:rPr>
              <a:t>?</a:t>
            </a:r>
            <a:endParaRPr lang="en-US" b="1" dirty="0">
              <a:latin typeface="quote-cjk-patch"/>
            </a:endParaRPr>
          </a:p>
          <a:p>
            <a:endParaRPr lang="ru-RU" b="1" dirty="0">
              <a:latin typeface="quote-cjk-patch"/>
            </a:endParaRPr>
          </a:p>
          <a:p>
            <a:r>
              <a:rPr lang="ru-RU" dirty="0">
                <a:latin typeface="quote-cjk-patch"/>
              </a:rPr>
              <a:t>Большинство сайтов </a:t>
            </a:r>
            <a:r>
              <a:rPr lang="ru-RU" u="sng" dirty="0">
                <a:latin typeface="quote-cjk-patch"/>
              </a:rPr>
              <a:t>страдают цифровой слепотой: они не видят пользователей смартфонов, не чувствуют их спешки</a:t>
            </a:r>
            <a:r>
              <a:rPr lang="ru-RU" dirty="0">
                <a:latin typeface="quote-cjk-patch"/>
              </a:rPr>
              <a:t>. Результат — потеря 30% аудитории из-за </a:t>
            </a:r>
            <a:r>
              <a:rPr lang="ru-RU" dirty="0" err="1">
                <a:latin typeface="quote-cjk-patch"/>
              </a:rPr>
              <a:t>неадаптивности</a:t>
            </a:r>
            <a:r>
              <a:rPr lang="ru-RU" dirty="0">
                <a:latin typeface="quote-cjk-patch"/>
              </a:rPr>
              <a:t> и плохого </a:t>
            </a:r>
            <a:r>
              <a:rPr lang="en-US" dirty="0">
                <a:latin typeface="quote-cjk-patch"/>
              </a:rPr>
              <a:t>UX </a:t>
            </a:r>
            <a:r>
              <a:rPr lang="ru-RU" dirty="0">
                <a:latin typeface="quote-cjk-patch"/>
              </a:rPr>
              <a:t>(и это данные исследований). </a:t>
            </a:r>
            <a:r>
              <a:rPr lang="ru-RU" dirty="0" err="1">
                <a:latin typeface="quote-cjk-patch"/>
              </a:rPr>
              <a:t>WebFlow</a:t>
            </a:r>
            <a:r>
              <a:rPr lang="ru-RU" dirty="0">
                <a:latin typeface="quote-cjk-patch"/>
              </a:rPr>
              <a:t> даёт сайтам зрение и эмпатию. Мы создаём цифровых хамелеонов — платформы с </a:t>
            </a:r>
            <a:r>
              <a:rPr lang="ru-RU" u="sng" dirty="0">
                <a:latin typeface="quote-cjk-patch"/>
              </a:rPr>
              <a:t>кристальной чистотой кода</a:t>
            </a:r>
            <a:r>
              <a:rPr lang="ru-RU" dirty="0">
                <a:latin typeface="quote-cjk-patch"/>
              </a:rPr>
              <a:t>, которые ощущают, кто перед экраном, и меняются: становятся быстрыми для телефона, уютными для планшета, впечатляющим и детальным для компьютера.</a:t>
            </a:r>
          </a:p>
          <a:p>
            <a:r>
              <a:rPr lang="ru-RU" dirty="0">
                <a:latin typeface="quote-cjk-patch"/>
              </a:rPr>
              <a:t>Это не просто разработка. Это </a:t>
            </a:r>
            <a:r>
              <a:rPr lang="ru-RU" u="sng" dirty="0">
                <a:latin typeface="quote-cjk-patch"/>
              </a:rPr>
              <a:t>миниатюризация времени и сложности</a:t>
            </a:r>
            <a:r>
              <a:rPr lang="ru-RU" dirty="0">
                <a:latin typeface="quote-cjk-patch"/>
              </a:rPr>
              <a:t>: мы собрали идеальный конструктор из готовых модулей для вашего быстрого старта. Вы представляете, как ваши конкуренты, уже работая с нами, 25</a:t>
            </a:r>
            <a:r>
              <a:rPr lang="en-US" dirty="0">
                <a:latin typeface="quote-cjk-patch"/>
              </a:rPr>
              <a:t>/</a:t>
            </a:r>
            <a:r>
              <a:rPr lang="ru-RU" dirty="0">
                <a:latin typeface="quote-cjk-patch"/>
              </a:rPr>
              <a:t>7</a:t>
            </a:r>
            <a:r>
              <a:rPr lang="en-US" dirty="0">
                <a:latin typeface="quote-cjk-patch"/>
              </a:rPr>
              <a:t> </a:t>
            </a:r>
            <a:r>
              <a:rPr lang="ru-RU" dirty="0">
                <a:latin typeface="quote-cjk-patch"/>
              </a:rPr>
              <a:t>увеличивают свои продажи, пока вы откладываете решение?</a:t>
            </a:r>
          </a:p>
          <a:p>
            <a:endParaRPr lang="ru-RU" sz="1800" b="0" dirty="0">
              <a:solidFill>
                <a:srgbClr val="000000"/>
              </a:solidFill>
              <a:latin typeface="MS Sans Serif"/>
            </a:endParaRPr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D8C5562-6D6F-472A-9AE7-CF6B1422FD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053" y="1731409"/>
            <a:ext cx="5394381" cy="3932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448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6</a:t>
            </a:fld>
            <a:endParaRPr lang="ru-RU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87F541-46FD-2980-378F-C5FD3729FB7E}"/>
              </a:ext>
            </a:extLst>
          </p:cNvPr>
          <p:cNvSpPr txBox="1"/>
          <p:nvPr/>
        </p:nvSpPr>
        <p:spPr>
          <a:xfrm>
            <a:off x="130030" y="328154"/>
            <a:ext cx="795961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ru-RU" sz="3200" i="0" u="none" strike="noStrike" dirty="0" err="1">
                <a:effectLst/>
                <a:latin typeface="quote-cjk-patch"/>
              </a:rPr>
              <a:t>Фоносемантический</a:t>
            </a:r>
            <a:r>
              <a:rPr lang="ru-RU" sz="3200" i="0" u="none" strike="noStrike" dirty="0">
                <a:effectLst/>
                <a:latin typeface="quote-cjk-patch"/>
              </a:rPr>
              <a:t> анализ названия </a:t>
            </a:r>
            <a:r>
              <a:rPr lang="en" sz="3200" i="0" u="none" strike="noStrike" dirty="0" err="1">
                <a:effectLst/>
                <a:latin typeface="quote-cjk-patch"/>
              </a:rPr>
              <a:t>WebFlow</a:t>
            </a:r>
            <a:endParaRPr lang="en" sz="3200" i="0" u="none" strike="noStrike" dirty="0">
              <a:effectLst/>
              <a:latin typeface="quote-cjk-patch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3ED0D8-5315-F588-1CAB-FE637F2A75ED}"/>
              </a:ext>
            </a:extLst>
          </p:cNvPr>
          <p:cNvSpPr txBox="1"/>
          <p:nvPr/>
        </p:nvSpPr>
        <p:spPr>
          <a:xfrm>
            <a:off x="130029" y="1541281"/>
            <a:ext cx="1145042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" b="1" i="0" u="none" strike="noStrike" dirty="0">
                <a:effectLst/>
                <a:latin typeface="quote-cjk-patch"/>
              </a:rPr>
              <a:t>W</a:t>
            </a:r>
            <a:r>
              <a:rPr lang="en" b="0" i="0" u="none" strike="noStrike" dirty="0">
                <a:effectLst/>
                <a:latin typeface="quote-cjk-patch"/>
              </a:rPr>
              <a:t> [w] – </a:t>
            </a:r>
            <a:r>
              <a:rPr lang="ru-RU" b="0" i="0" u="none" strike="noStrike" dirty="0">
                <a:effectLst/>
                <a:latin typeface="quote-cjk-patch"/>
              </a:rPr>
              <a:t>звук “в” → безопасность, добро</a:t>
            </a:r>
          </a:p>
          <a:p>
            <a:pPr algn="l"/>
            <a:r>
              <a:rPr lang="en" b="1" i="0" u="none" strike="noStrike" dirty="0">
                <a:effectLst/>
                <a:latin typeface="quote-cjk-patch"/>
              </a:rPr>
              <a:t>e</a:t>
            </a:r>
            <a:r>
              <a:rPr lang="en" b="0" i="0" u="none" strike="noStrike" dirty="0">
                <a:effectLst/>
                <a:latin typeface="quote-cjk-patch"/>
              </a:rPr>
              <a:t> [e] – </a:t>
            </a:r>
            <a:r>
              <a:rPr lang="ru-RU" b="0" i="0" u="none" strike="noStrike" dirty="0">
                <a:effectLst/>
                <a:latin typeface="quote-cjk-patch"/>
              </a:rPr>
              <a:t>звук “э” → зелёный, спокойствие</a:t>
            </a:r>
          </a:p>
          <a:p>
            <a:pPr algn="l"/>
            <a:r>
              <a:rPr lang="en" b="1" i="0" u="none" strike="noStrike" dirty="0">
                <a:effectLst/>
                <a:latin typeface="quote-cjk-patch"/>
              </a:rPr>
              <a:t>b</a:t>
            </a:r>
            <a:r>
              <a:rPr lang="en" b="0" i="0" u="none" strike="noStrike" dirty="0">
                <a:effectLst/>
                <a:latin typeface="quote-cjk-patch"/>
              </a:rPr>
              <a:t> [b] → </a:t>
            </a:r>
            <a:r>
              <a:rPr lang="ru-RU" b="0" i="0" u="none" strike="noStrike" dirty="0">
                <a:effectLst/>
                <a:latin typeface="quote-cjk-patch"/>
              </a:rPr>
              <a:t>безопасность</a:t>
            </a:r>
          </a:p>
          <a:p>
            <a:pPr algn="l"/>
            <a:r>
              <a:rPr lang="en" b="1" i="0" u="none" strike="noStrike" dirty="0">
                <a:effectLst/>
                <a:latin typeface="quote-cjk-patch"/>
              </a:rPr>
              <a:t>F</a:t>
            </a:r>
            <a:r>
              <a:rPr lang="en" b="0" i="0" u="none" strike="noStrike" dirty="0">
                <a:effectLst/>
                <a:latin typeface="quote-cjk-patch"/>
              </a:rPr>
              <a:t> [f] – </a:t>
            </a:r>
            <a:r>
              <a:rPr lang="ru-RU" b="0" i="0" u="none" strike="noStrike" dirty="0">
                <a:effectLst/>
                <a:latin typeface="quote-cjk-patch"/>
              </a:rPr>
              <a:t>звук “ф” → в русском может ассоциироваться со слабостью, в английском – с активностью</a:t>
            </a:r>
          </a:p>
          <a:p>
            <a:pPr algn="l"/>
            <a:r>
              <a:rPr lang="en" b="1" i="0" u="none" strike="noStrike" dirty="0">
                <a:effectLst/>
                <a:latin typeface="quote-cjk-patch"/>
              </a:rPr>
              <a:t>l</a:t>
            </a:r>
            <a:r>
              <a:rPr lang="en" b="0" i="0" u="none" strike="noStrike" dirty="0">
                <a:effectLst/>
                <a:latin typeface="quote-cjk-patch"/>
              </a:rPr>
              <a:t> [l] → </a:t>
            </a:r>
            <a:r>
              <a:rPr lang="ru-RU" b="0" i="0" u="none" strike="noStrike" dirty="0">
                <a:effectLst/>
                <a:latin typeface="quote-cjk-patch"/>
              </a:rPr>
              <a:t>добро, безопасность</a:t>
            </a:r>
          </a:p>
          <a:p>
            <a:pPr algn="l"/>
            <a:r>
              <a:rPr lang="en" b="1" i="0" u="none" strike="noStrike" dirty="0">
                <a:effectLst/>
                <a:latin typeface="quote-cjk-patch"/>
              </a:rPr>
              <a:t>o</a:t>
            </a:r>
            <a:r>
              <a:rPr lang="en" b="0" i="0" u="none" strike="noStrike" dirty="0">
                <a:effectLst/>
                <a:latin typeface="quote-cjk-patch"/>
              </a:rPr>
              <a:t> [o] → </a:t>
            </a:r>
            <a:r>
              <a:rPr lang="ru-RU" b="0" i="0" u="none" strike="noStrike" dirty="0">
                <a:effectLst/>
                <a:latin typeface="quote-cjk-patch"/>
              </a:rPr>
              <a:t>светлый, жёлтый, открытость</a:t>
            </a:r>
          </a:p>
          <a:p>
            <a:pPr algn="l"/>
            <a:r>
              <a:rPr lang="en" b="1" i="0" u="none" strike="noStrike" dirty="0">
                <a:effectLst/>
                <a:latin typeface="quote-cjk-patch"/>
              </a:rPr>
              <a:t>w</a:t>
            </a:r>
            <a:r>
              <a:rPr lang="en" b="0" i="0" u="none" strike="noStrike" dirty="0">
                <a:effectLst/>
                <a:latin typeface="quote-cjk-patch"/>
              </a:rPr>
              <a:t> [w] → </a:t>
            </a:r>
            <a:r>
              <a:rPr lang="ru-RU" b="0" i="0" u="none" strike="noStrike" dirty="0">
                <a:effectLst/>
                <a:latin typeface="quote-cjk-patch"/>
              </a:rPr>
              <a:t>синий, глубина, надёжность</a:t>
            </a:r>
          </a:p>
          <a:p>
            <a:pPr algn="l"/>
            <a:endParaRPr lang="ru-RU" b="0" i="0" u="none" strike="noStrike" dirty="0">
              <a:effectLst/>
              <a:latin typeface="quote-cjk-patch"/>
            </a:endParaRPr>
          </a:p>
          <a:p>
            <a:pPr algn="l"/>
            <a:r>
              <a:rPr lang="ru-RU" b="1" i="0" u="none" strike="noStrike" dirty="0">
                <a:effectLst/>
                <a:latin typeface="quote-cjk-patch"/>
              </a:rPr>
              <a:t>Вывод:</a:t>
            </a:r>
            <a:br>
              <a:rPr lang="ru-RU" b="0" i="0" u="none" strike="noStrike" dirty="0">
                <a:effectLst/>
                <a:latin typeface="quote-cjk-patch"/>
              </a:rPr>
            </a:br>
            <a:r>
              <a:rPr lang="ru-RU" b="0" i="0" u="none" strike="noStrike" dirty="0">
                <a:effectLst/>
                <a:latin typeface="quote-cjk-patch"/>
              </a:rPr>
              <a:t>Название </a:t>
            </a:r>
            <a:r>
              <a:rPr lang="en" b="0" i="1" u="none" strike="noStrike" dirty="0" err="1">
                <a:effectLst/>
                <a:latin typeface="quote-cjk-patch"/>
              </a:rPr>
              <a:t>WebFlow</a:t>
            </a:r>
            <a:r>
              <a:rPr lang="en" b="0" i="0" u="none" strike="noStrike" dirty="0">
                <a:effectLst/>
                <a:latin typeface="quote-cjk-patch"/>
              </a:rPr>
              <a:t> </a:t>
            </a:r>
            <a:r>
              <a:rPr lang="ru-RU" b="0" i="0" u="none" strike="noStrike" dirty="0">
                <a:effectLst/>
                <a:latin typeface="quote-cjk-patch"/>
              </a:rPr>
              <a:t>сочетает звуки, ассоциирующиеся с </a:t>
            </a:r>
            <a:r>
              <a:rPr lang="ru-RU" b="1" i="0" u="none" strike="noStrike" dirty="0">
                <a:effectLst/>
                <a:latin typeface="quote-cjk-patch"/>
              </a:rPr>
              <a:t>безопасностью, открытостью и динамикой</a:t>
            </a:r>
            <a:r>
              <a:rPr lang="ru-RU" b="0" i="0" u="none" strike="noStrike" dirty="0">
                <a:effectLst/>
                <a:latin typeface="quote-cjk-patch"/>
              </a:rPr>
              <a:t> – идеально для веб-студии, которая создаёт удобные и эффективные сайты.</a:t>
            </a:r>
          </a:p>
          <a:p>
            <a:endParaRPr lang="ru-RU" dirty="0">
              <a:latin typeface="Gilroy Medium" panose="00000600000000000000" charset="-52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9636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7</a:t>
            </a:fld>
            <a:endParaRPr lang="ru-RU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87F541-46FD-2980-378F-C5FD3729FB7E}"/>
              </a:ext>
            </a:extLst>
          </p:cNvPr>
          <p:cNvSpPr txBox="1"/>
          <p:nvPr/>
        </p:nvSpPr>
        <p:spPr>
          <a:xfrm>
            <a:off x="130029" y="328154"/>
            <a:ext cx="781965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Речевые паттерны, подходящие нашей Веб-студии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ED8924-3C72-3C11-D4DF-BD12E99DFD0F}"/>
              </a:ext>
            </a:extLst>
          </p:cNvPr>
          <p:cNvSpPr txBox="1"/>
          <p:nvPr/>
        </p:nvSpPr>
        <p:spPr>
          <a:xfrm>
            <a:off x="130029" y="1520889"/>
            <a:ext cx="1147665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>
                <a:latin typeface="Gilroy Medium" panose="00000600000000000000" charset="-52"/>
              </a:rPr>
              <a:t>Тюризмы</a:t>
            </a:r>
            <a:r>
              <a:rPr lang="ru-RU" dirty="0">
                <a:latin typeface="Gilroy Medium" panose="00000600000000000000" charset="-52"/>
              </a:rPr>
              <a:t> –</a:t>
            </a:r>
            <a:r>
              <a:rPr lang="en-US" dirty="0">
                <a:latin typeface="Gilroy Medium" panose="00000600000000000000" charset="-52"/>
              </a:rPr>
              <a:t> </a:t>
            </a:r>
            <a:r>
              <a:rPr lang="ru-RU" dirty="0">
                <a:latin typeface="Gilroy Medium" panose="00000600000000000000" charset="-52"/>
              </a:rPr>
              <a:t>эти утверждения не требуют доказательств, что упрощает их восприятие и повышает их убедительность. </a:t>
            </a:r>
          </a:p>
          <a:p>
            <a:r>
              <a:rPr lang="en-US" dirty="0">
                <a:latin typeface="Gilroy Medium" panose="00000600000000000000" charset="-52"/>
              </a:rPr>
              <a:t>“</a:t>
            </a:r>
            <a:r>
              <a:rPr lang="ru-RU" dirty="0">
                <a:latin typeface="Gilroy Medium" panose="00000600000000000000" charset="-52"/>
              </a:rPr>
              <a:t>Каждый бизнес знает: современный и функциональный сайт — это ключ к успеху.</a:t>
            </a:r>
            <a:r>
              <a:rPr lang="en-US" dirty="0">
                <a:latin typeface="Gilroy Medium" panose="00000600000000000000" charset="-52"/>
              </a:rPr>
              <a:t>”</a:t>
            </a:r>
            <a:endParaRPr lang="ru-RU" dirty="0">
              <a:latin typeface="Gilroy Medium" panose="00000600000000000000" charset="-52"/>
            </a:endParaRPr>
          </a:p>
          <a:p>
            <a:endParaRPr lang="ru-RU" dirty="0">
              <a:latin typeface="Gilroy Medium" panose="00000600000000000000" charset="-52"/>
            </a:endParaRPr>
          </a:p>
          <a:p>
            <a:r>
              <a:rPr lang="ru-RU" dirty="0">
                <a:latin typeface="Gilroy Medium" panose="00000600000000000000" charset="-52"/>
              </a:rPr>
              <a:t>Риторические вопросы</a:t>
            </a:r>
            <a:r>
              <a:rPr lang="en-US" dirty="0">
                <a:latin typeface="Gilroy Medium" panose="00000600000000000000" charset="-52"/>
              </a:rPr>
              <a:t> –</a:t>
            </a:r>
            <a:r>
              <a:rPr lang="ru-RU" dirty="0">
                <a:latin typeface="Gilroy Medium" panose="00000600000000000000" charset="-52"/>
              </a:rPr>
              <a:t> вовлекают читателя, заставляя его согласиться с утверждением </a:t>
            </a:r>
            <a:r>
              <a:rPr lang="en-US" dirty="0">
                <a:latin typeface="Gilroy Medium" panose="00000600000000000000" charset="-52"/>
              </a:rPr>
              <a:t>.</a:t>
            </a:r>
            <a:endParaRPr lang="ru-RU" dirty="0">
              <a:latin typeface="Gilroy Medium" panose="00000600000000000000" charset="-52"/>
            </a:endParaRPr>
          </a:p>
          <a:p>
            <a:r>
              <a:rPr lang="en-US" dirty="0">
                <a:latin typeface="Gilroy Medium" panose="00000600000000000000" charset="-52"/>
              </a:rPr>
              <a:t>“</a:t>
            </a:r>
            <a:r>
              <a:rPr lang="ru-RU" dirty="0">
                <a:latin typeface="Gilroy Medium" panose="00000600000000000000" charset="-52"/>
              </a:rPr>
              <a:t>Хотите, чтобы ваш сайт привлекал клиентов и увеличивал продажи?</a:t>
            </a:r>
            <a:r>
              <a:rPr lang="en-US" dirty="0">
                <a:latin typeface="Gilroy Medium" panose="00000600000000000000" charset="-52"/>
              </a:rPr>
              <a:t>”</a:t>
            </a:r>
            <a:endParaRPr lang="ru-RU" dirty="0">
              <a:latin typeface="Gilroy Medium" panose="00000600000000000000" charset="-52"/>
            </a:endParaRPr>
          </a:p>
          <a:p>
            <a:endParaRPr lang="ru-RU" dirty="0">
              <a:latin typeface="Gilroy Medium" panose="00000600000000000000" charset="-52"/>
            </a:endParaRPr>
          </a:p>
          <a:p>
            <a:r>
              <a:rPr lang="ru-RU" dirty="0">
                <a:latin typeface="Gilroy Medium" panose="00000600000000000000" charset="-52"/>
              </a:rPr>
              <a:t>Речевое связывание – помогает усилить восприятие выгоды от работы с нами.</a:t>
            </a:r>
          </a:p>
          <a:p>
            <a:r>
              <a:rPr lang="en-US" dirty="0">
                <a:latin typeface="Gilroy Medium" panose="00000600000000000000" charset="-52"/>
              </a:rPr>
              <a:t>“</a:t>
            </a:r>
            <a:r>
              <a:rPr lang="ru-RU" dirty="0">
                <a:latin typeface="Gilroy Medium" panose="00000600000000000000" charset="-52"/>
              </a:rPr>
              <a:t>После того, как вы выберете </a:t>
            </a:r>
            <a:r>
              <a:rPr lang="ru-RU" dirty="0" err="1">
                <a:latin typeface="Gilroy Medium" panose="00000600000000000000" charset="-52"/>
              </a:rPr>
              <a:t>W</a:t>
            </a:r>
            <a:r>
              <a:rPr lang="en-US" dirty="0" err="1">
                <a:latin typeface="Gilroy Medium" panose="00000600000000000000" charset="-52"/>
              </a:rPr>
              <a:t>ebFlow</a:t>
            </a:r>
            <a:r>
              <a:rPr lang="ru-RU" dirty="0">
                <a:latin typeface="Gilroy Medium" panose="00000600000000000000" charset="-52"/>
              </a:rPr>
              <a:t>, ваш бизнес заиграет новыми красками.</a:t>
            </a:r>
            <a:r>
              <a:rPr lang="en-US" dirty="0">
                <a:latin typeface="Gilroy Medium" panose="00000600000000000000" charset="-52"/>
              </a:rPr>
              <a:t>”</a:t>
            </a:r>
          </a:p>
          <a:p>
            <a:endParaRPr lang="ru-RU" dirty="0">
              <a:latin typeface="Gilroy Medium" panose="00000600000000000000" charset="-52"/>
            </a:endParaRPr>
          </a:p>
          <a:p>
            <a:r>
              <a:rPr lang="ru-RU" dirty="0">
                <a:latin typeface="Gilroy Medium" panose="00000600000000000000" charset="-52"/>
              </a:rPr>
              <a:t>Пресуппозиция </a:t>
            </a:r>
            <a:r>
              <a:rPr lang="en-US" dirty="0">
                <a:latin typeface="Gilroy Medium" panose="00000600000000000000" charset="-52"/>
              </a:rPr>
              <a:t>– </a:t>
            </a:r>
            <a:r>
              <a:rPr lang="ru-RU" dirty="0">
                <a:latin typeface="Gilroy Medium" panose="00000600000000000000" charset="-52"/>
              </a:rPr>
              <a:t>помогает избежать сопротивления, подавая действие как уже принятое решение. </a:t>
            </a:r>
            <a:endParaRPr lang="en-US" dirty="0">
              <a:latin typeface="Gilroy Medium" panose="00000600000000000000" charset="-52"/>
            </a:endParaRPr>
          </a:p>
          <a:p>
            <a:r>
              <a:rPr lang="en-US" dirty="0">
                <a:latin typeface="Gilroy Medium" panose="00000600000000000000" charset="-52"/>
              </a:rPr>
              <a:t>“</a:t>
            </a:r>
            <a:r>
              <a:rPr lang="ru-RU" dirty="0">
                <a:latin typeface="Gilroy Medium" panose="00000600000000000000" charset="-52"/>
              </a:rPr>
              <a:t>После того, как вы выберете </a:t>
            </a:r>
            <a:r>
              <a:rPr lang="en-US" dirty="0" err="1">
                <a:latin typeface="Gilroy Medium" panose="00000600000000000000" charset="-52"/>
              </a:rPr>
              <a:t>WebFlow</a:t>
            </a:r>
            <a:r>
              <a:rPr lang="ru-RU" dirty="0">
                <a:latin typeface="Gilroy Medium" panose="00000600000000000000" charset="-52"/>
              </a:rPr>
              <a:t>, ваш бизнес заиграет новыми красками.</a:t>
            </a:r>
            <a:r>
              <a:rPr lang="en-US" dirty="0">
                <a:latin typeface="Gilroy Medium" panose="00000600000000000000" charset="-52"/>
              </a:rPr>
              <a:t>”</a:t>
            </a:r>
            <a:endParaRPr lang="ru-RU" dirty="0">
              <a:latin typeface="Gilroy Medium" panose="0000060000000000000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851683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8</a:t>
            </a:fld>
            <a:endParaRPr lang="ru-RU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87F541-46FD-2980-378F-C5FD3729FB7E}"/>
              </a:ext>
            </a:extLst>
          </p:cNvPr>
          <p:cNvSpPr txBox="1"/>
          <p:nvPr/>
        </p:nvSpPr>
        <p:spPr>
          <a:xfrm>
            <a:off x="130029" y="328154"/>
            <a:ext cx="98723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Gilroy Medium" panose="00000600000000000000" charset="-52"/>
                <a:ea typeface="+mj-ea"/>
                <a:cs typeface="+mj-cs"/>
              </a:rPr>
              <a:t>Суггестивный текст с использованием паттернов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ED8924-3C72-3C11-D4DF-BD12E99DFD0F}"/>
              </a:ext>
            </a:extLst>
          </p:cNvPr>
          <p:cNvSpPr txBox="1"/>
          <p:nvPr/>
        </p:nvSpPr>
        <p:spPr>
          <a:xfrm>
            <a:off x="130029" y="2048144"/>
            <a:ext cx="1147665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Gilroy Medium" panose="00000600000000000000" charset="-52"/>
              </a:rPr>
              <a:t>Каждый бизнес знает: современный и функциональный сайт — это ключ к успеху. </a:t>
            </a:r>
            <a:r>
              <a:rPr lang="en-US" dirty="0" err="1">
                <a:latin typeface="Gilroy Medium" panose="00000600000000000000" charset="-52"/>
              </a:rPr>
              <a:t>WebFlow</a:t>
            </a:r>
            <a:r>
              <a:rPr lang="ru-RU" dirty="0">
                <a:latin typeface="Gilroy Medium" panose="00000600000000000000" charset="-52"/>
              </a:rPr>
              <a:t> создаёт сайты, которые делают больше, чем просто выглядят красиво. Хотите, чтобы ваш сайт привлекал клиентов и увеличивал продажи? Тогда не теряйте времени — начните прямо сейчас. Чем раньше вы обратитесь, тем быстрее увидите рост прибыли. После того, как вы выберете </a:t>
            </a:r>
            <a:r>
              <a:rPr lang="en-US" dirty="0" err="1">
                <a:latin typeface="Gilroy Medium" panose="00000600000000000000" charset="-52"/>
              </a:rPr>
              <a:t>WebFlow</a:t>
            </a:r>
            <a:r>
              <a:rPr lang="ru-RU" dirty="0">
                <a:latin typeface="Gilroy Medium" panose="00000600000000000000" charset="-52"/>
              </a:rPr>
              <a:t>, ваш бизнес заиграет новыми красками.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0B9B10-FF8C-9F49-BF8F-27A1267269CD}"/>
              </a:ext>
            </a:extLst>
          </p:cNvPr>
          <p:cNvSpPr txBox="1"/>
          <p:nvPr/>
        </p:nvSpPr>
        <p:spPr>
          <a:xfrm>
            <a:off x="130029" y="4669850"/>
            <a:ext cx="11476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0" u="none" strike="noStrike" dirty="0">
                <a:effectLst/>
                <a:latin typeface="quote-cjk-patch"/>
              </a:rPr>
              <a:t>Ключевая фраза в точке золотого сечения:</a:t>
            </a:r>
            <a:endParaRPr lang="ru-RU" dirty="0">
              <a:latin typeface="Gilroy Medium" panose="00000600000000000000" charset="-5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5F1A5C-8236-AD4B-9B4A-4C172E1B56EA}"/>
              </a:ext>
            </a:extLst>
          </p:cNvPr>
          <p:cNvSpPr txBox="1"/>
          <p:nvPr/>
        </p:nvSpPr>
        <p:spPr>
          <a:xfrm>
            <a:off x="130029" y="5039488"/>
            <a:ext cx="11476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i="0" u="none" strike="noStrike" dirty="0">
                <a:effectLst/>
                <a:latin typeface="quote-cjk-patch"/>
              </a:rPr>
              <a:t>Тогда не теряйте времени — начните прямо сейчас</a:t>
            </a:r>
            <a:endParaRPr lang="ru-RU" dirty="0">
              <a:latin typeface="Gilroy Medium" panose="00000600000000000000" charset="-5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ADDB1B-AAB1-47D7-9017-1F91EAD32E58}"/>
              </a:ext>
            </a:extLst>
          </p:cNvPr>
          <p:cNvSpPr txBox="1"/>
          <p:nvPr/>
        </p:nvSpPr>
        <p:spPr>
          <a:xfrm>
            <a:off x="130029" y="912929"/>
            <a:ext cx="11476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0" u="none" strike="noStrike" dirty="0">
                <a:effectLst/>
                <a:latin typeface="quote-cjk-patch"/>
              </a:rPr>
              <a:t>Зачин:</a:t>
            </a:r>
            <a:endParaRPr lang="ru-RU" dirty="0">
              <a:latin typeface="Gilroy Medium" panose="00000600000000000000" charset="-5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80ADFF-9D07-423C-9106-B424A0850A7A}"/>
              </a:ext>
            </a:extLst>
          </p:cNvPr>
          <p:cNvSpPr txBox="1"/>
          <p:nvPr/>
        </p:nvSpPr>
        <p:spPr>
          <a:xfrm>
            <a:off x="130029" y="1224333"/>
            <a:ext cx="11476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quote-cjk-patch"/>
              </a:rPr>
              <a:t>Готовы ли вы превратить свой бизнес в магнит для клиентов?</a:t>
            </a:r>
            <a:endParaRPr lang="ru-RU" dirty="0">
              <a:latin typeface="Gilroy Medium" panose="00000600000000000000" charset="-52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2F10B68-C6F7-440F-8C03-C0F02F2EF161}"/>
              </a:ext>
            </a:extLst>
          </p:cNvPr>
          <p:cNvSpPr txBox="1"/>
          <p:nvPr/>
        </p:nvSpPr>
        <p:spPr>
          <a:xfrm>
            <a:off x="130029" y="3594281"/>
            <a:ext cx="11476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0" u="none" strike="noStrike" dirty="0">
                <a:effectLst/>
                <a:latin typeface="quote-cjk-patch"/>
              </a:rPr>
              <a:t>Эхо-фраза:</a:t>
            </a:r>
            <a:endParaRPr lang="ru-RU" dirty="0">
              <a:latin typeface="Gilroy Medium" panose="00000600000000000000" charset="-5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5F2591-EDE3-4FF7-83BA-BB6C7059AE96}"/>
              </a:ext>
            </a:extLst>
          </p:cNvPr>
          <p:cNvSpPr txBox="1"/>
          <p:nvPr/>
        </p:nvSpPr>
        <p:spPr>
          <a:xfrm>
            <a:off x="130984" y="3963613"/>
            <a:ext cx="11476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>
                <a:latin typeface="quote-cjk-patch"/>
              </a:rPr>
              <a:t>WebFlow</a:t>
            </a:r>
            <a:r>
              <a:rPr lang="ru-RU" dirty="0">
                <a:latin typeface="quote-cjk-patch"/>
              </a:rPr>
              <a:t>: поток идей — поток клиентов!</a:t>
            </a:r>
            <a:endParaRPr lang="ru-RU" dirty="0">
              <a:latin typeface="Gilroy Medium" panose="00000600000000000000" charset="-5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833500-0AF0-449F-8589-C2A75065DE5A}"/>
              </a:ext>
            </a:extLst>
          </p:cNvPr>
          <p:cNvSpPr txBox="1"/>
          <p:nvPr/>
        </p:nvSpPr>
        <p:spPr>
          <a:xfrm>
            <a:off x="130029" y="1733758"/>
            <a:ext cx="11476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0" u="none" strike="noStrike" dirty="0">
                <a:effectLst/>
                <a:latin typeface="quote-cjk-patch"/>
              </a:rPr>
              <a:t>Основной рекламный текст:</a:t>
            </a:r>
            <a:endParaRPr lang="ru-RU" dirty="0">
              <a:latin typeface="Gilroy Medium" panose="0000060000000000000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162853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>
                <a:latin typeface="quote-cjk-patch"/>
              </a:rPr>
              <a:t>9</a:t>
            </a:fld>
            <a:endParaRPr lang="ru-RU" sz="3200" dirty="0">
              <a:latin typeface="quote-cjk-patch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87F541-46FD-2980-378F-C5FD3729FB7E}"/>
              </a:ext>
            </a:extLst>
          </p:cNvPr>
          <p:cNvSpPr txBox="1"/>
          <p:nvPr/>
        </p:nvSpPr>
        <p:spPr>
          <a:xfrm>
            <a:off x="130029" y="328154"/>
            <a:ext cx="94952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quote-cjk-patch"/>
                <a:ea typeface="+mj-ea"/>
                <a:cs typeface="+mj-cs"/>
              </a:rPr>
              <a:t>Суггестивный текст с использованием рефрейминга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quote-cjk-patch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3ED0D8-5315-F588-1CAB-FE637F2A75ED}"/>
              </a:ext>
            </a:extLst>
          </p:cNvPr>
          <p:cNvSpPr txBox="1"/>
          <p:nvPr/>
        </p:nvSpPr>
        <p:spPr>
          <a:xfrm>
            <a:off x="103800" y="1996757"/>
            <a:ext cx="114504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quote-cjk-patch"/>
              </a:rPr>
              <a:t>Рефрейминг содержания</a:t>
            </a:r>
          </a:p>
          <a:p>
            <a:r>
              <a:rPr lang="ru-RU" sz="1600" dirty="0">
                <a:latin typeface="quote-cjk-patch"/>
              </a:rPr>
              <a:t>Потенциальные клиенты могут считать, что профессиональные сайты - это дорого. Вместо акцента на высокой стоимости, следует подчеркнуть, что это инвестиция, которая окупается за счет увеличения доходов и сокращения расходов на доработки.</a:t>
            </a:r>
          </a:p>
          <a:p>
            <a:r>
              <a:rPr lang="ru-RU" sz="1600" dirty="0">
                <a:latin typeface="quote-cjk-patch"/>
              </a:rPr>
              <a:t>Профессиональный сайт — это не просто траты, это инвестиция в ваш бизнес. </a:t>
            </a:r>
            <a:r>
              <a:rPr lang="en-US" sz="1600" dirty="0" err="1">
                <a:latin typeface="quote-cjk-patch"/>
              </a:rPr>
              <a:t>WebFlow</a:t>
            </a:r>
            <a:r>
              <a:rPr lang="ru-RU" sz="1600" dirty="0">
                <a:latin typeface="quote-cjk-patch"/>
              </a:rPr>
              <a:t> создаёт сайты, которые окупаются благодаря увеличению продаж и снижению затрат на доработки. Вы выбираете не просто сайт, а инструмент для роста.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730443-A6F2-0046-94D6-F5AB6D6F9BF8}"/>
              </a:ext>
            </a:extLst>
          </p:cNvPr>
          <p:cNvSpPr txBox="1"/>
          <p:nvPr/>
        </p:nvSpPr>
        <p:spPr>
          <a:xfrm>
            <a:off x="130029" y="4316939"/>
            <a:ext cx="11476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quote-cjk-patch"/>
              </a:rPr>
              <a:t>Рефрейминг рамки: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F328F3-E85B-4D46-B1F8-B7FA26BFE84C}"/>
              </a:ext>
            </a:extLst>
          </p:cNvPr>
          <p:cNvSpPr txBox="1"/>
          <p:nvPr/>
        </p:nvSpPr>
        <p:spPr>
          <a:xfrm>
            <a:off x="103800" y="4686271"/>
            <a:ext cx="114766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0" i="0" u="none" strike="noStrike" dirty="0">
                <a:effectLst/>
                <a:latin typeface="quote-cjk-patch"/>
              </a:rPr>
              <a:t>Сайт – это </a:t>
            </a:r>
            <a:r>
              <a:rPr lang="ru-RU" sz="1600" b="1" i="0" u="none" strike="noStrike" dirty="0">
                <a:effectLst/>
                <a:latin typeface="quote-cjk-patch"/>
              </a:rPr>
              <a:t>цифровой представитель вашего бренда</a:t>
            </a:r>
            <a:r>
              <a:rPr lang="ru-RU" sz="1600" b="0" i="0" u="none" strike="noStrike" dirty="0">
                <a:effectLst/>
                <a:latin typeface="quote-cjk-patch"/>
              </a:rPr>
              <a:t>, который работает 24/7, общается с клиентами и строит доверие.</a:t>
            </a:r>
            <a:endParaRPr lang="ru-RU" sz="1600" dirty="0">
              <a:latin typeface="quote-cjk-patch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620ED9-F454-9344-8E3D-B2D7833EFBCF}"/>
              </a:ext>
            </a:extLst>
          </p:cNvPr>
          <p:cNvSpPr txBox="1"/>
          <p:nvPr/>
        </p:nvSpPr>
        <p:spPr>
          <a:xfrm>
            <a:off x="103800" y="5136194"/>
            <a:ext cx="1147665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effectLst/>
                <a:latin typeface="quote-cjk-patch"/>
              </a:rPr>
              <a:t>Вопросы для рефрейминга:</a:t>
            </a:r>
          </a:p>
          <a:p>
            <a:r>
              <a:rPr lang="ru-RU" sz="1400" dirty="0">
                <a:effectLst/>
                <a:latin typeface="quote-cjk-patch"/>
              </a:rPr>
              <a:t>1 В каком контексте сайт становится не расходом, а активом?</a:t>
            </a:r>
          </a:p>
          <a:p>
            <a:r>
              <a:rPr lang="ru-RU" sz="1400" dirty="0">
                <a:effectLst/>
                <a:latin typeface="quote-cjk-patch"/>
              </a:rPr>
              <a:t>2 Какую более широкую ценность он приносит?</a:t>
            </a:r>
          </a:p>
          <a:p>
            <a:r>
              <a:rPr lang="ru-RU" sz="1400" dirty="0">
                <a:effectLst/>
                <a:latin typeface="quote-cjk-patch"/>
              </a:rPr>
              <a:t>3 Какие скрытые аспекты можно выделить?</a:t>
            </a:r>
          </a:p>
          <a:p>
            <a:r>
              <a:rPr lang="ru-RU" sz="1400" dirty="0">
                <a:effectLst/>
                <a:latin typeface="quote-cjk-patch"/>
              </a:rPr>
              <a:t>Ответ:</a:t>
            </a:r>
          </a:p>
          <a:p>
            <a:r>
              <a:rPr lang="ru-RU" sz="1400" dirty="0">
                <a:effectLst/>
                <a:latin typeface="quote-cjk-patch"/>
              </a:rPr>
              <a:t>Сайт как инвестиция в репутацию и долгосрочные отношения с клиентом.</a:t>
            </a:r>
          </a:p>
          <a:p>
            <a:endParaRPr lang="ru-RU" sz="1400" dirty="0">
              <a:latin typeface="quote-cjk-patch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4F1BEF-B4E8-4A10-9C7D-C5B805377E8A}"/>
              </a:ext>
            </a:extLst>
          </p:cNvPr>
          <p:cNvSpPr txBox="1"/>
          <p:nvPr/>
        </p:nvSpPr>
        <p:spPr>
          <a:xfrm>
            <a:off x="130029" y="3397404"/>
            <a:ext cx="11476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0" u="none" strike="noStrike" dirty="0">
                <a:effectLst/>
                <a:latin typeface="quote-cjk-patch"/>
              </a:rPr>
              <a:t>Эхо-фраза:</a:t>
            </a:r>
            <a:endParaRPr lang="ru-RU" dirty="0">
              <a:latin typeface="quote-cjk-patch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D2C726-6D41-4EAA-9868-7A175E264773}"/>
              </a:ext>
            </a:extLst>
          </p:cNvPr>
          <p:cNvSpPr txBox="1"/>
          <p:nvPr/>
        </p:nvSpPr>
        <p:spPr>
          <a:xfrm>
            <a:off x="130029" y="3730175"/>
            <a:ext cx="114766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err="1">
                <a:latin typeface="quote-cjk-patch"/>
              </a:rPr>
              <a:t>WebFlow</a:t>
            </a:r>
            <a:r>
              <a:rPr lang="ru-RU" sz="1600" dirty="0">
                <a:latin typeface="quote-cjk-patch"/>
              </a:rPr>
              <a:t>: поток идей — поток клиентов!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D1382E-7E28-4E8A-9055-12C441ACFD8B}"/>
              </a:ext>
            </a:extLst>
          </p:cNvPr>
          <p:cNvSpPr txBox="1"/>
          <p:nvPr/>
        </p:nvSpPr>
        <p:spPr>
          <a:xfrm>
            <a:off x="130029" y="912929"/>
            <a:ext cx="11476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0" u="none" strike="noStrike" dirty="0">
                <a:effectLst/>
                <a:latin typeface="quote-cjk-patch"/>
              </a:rPr>
              <a:t>Зачин:</a:t>
            </a:r>
            <a:endParaRPr lang="ru-RU" dirty="0">
              <a:latin typeface="Gilroy Medium" panose="00000600000000000000" charset="-5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D6E153-B6F6-4DF9-A4A1-DCA91815F9F0}"/>
              </a:ext>
            </a:extLst>
          </p:cNvPr>
          <p:cNvSpPr txBox="1"/>
          <p:nvPr/>
        </p:nvSpPr>
        <p:spPr>
          <a:xfrm>
            <a:off x="130029" y="1224333"/>
            <a:ext cx="114766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quote-cjk-patch"/>
              </a:rPr>
              <a:t>Ваш сайт — это траты... или инструмент роста?</a:t>
            </a:r>
            <a:endParaRPr lang="ru-RU" sz="1600" dirty="0">
              <a:latin typeface="Gilroy Medium" panose="00000600000000000000" charset="-5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358C6B-26C9-4DB0-AD67-121D9EA7A4B5}"/>
              </a:ext>
            </a:extLst>
          </p:cNvPr>
          <p:cNvSpPr txBox="1"/>
          <p:nvPr/>
        </p:nvSpPr>
        <p:spPr>
          <a:xfrm>
            <a:off x="130029" y="1644793"/>
            <a:ext cx="11476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0" u="none" strike="noStrike" dirty="0">
                <a:effectLst/>
                <a:latin typeface="quote-cjk-patch"/>
              </a:rPr>
              <a:t>Основной рекламный текст:</a:t>
            </a:r>
            <a:endParaRPr lang="ru-RU" dirty="0">
              <a:latin typeface="Gilroy Medium" panose="0000060000000000000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2077602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5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>
          <a:xfrm>
            <a:off x="11580453" y="6171414"/>
            <a:ext cx="409963" cy="610899"/>
          </a:xfrm>
        </p:spPr>
        <p:txBody>
          <a:bodyPr/>
          <a:lstStyle/>
          <a:p>
            <a:fld id="{A01BE76D-E181-4177-862E-40D97C82BFEB}" type="slidenum">
              <a:rPr lang="ru-RU" sz="3200" smtClean="0"/>
              <a:t>10</a:t>
            </a:fld>
            <a:endParaRPr lang="ru-RU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87F541-46FD-2980-378F-C5FD3729FB7E}"/>
              </a:ext>
            </a:extLst>
          </p:cNvPr>
          <p:cNvSpPr txBox="1"/>
          <p:nvPr/>
        </p:nvSpPr>
        <p:spPr>
          <a:xfrm>
            <a:off x="130030" y="328154"/>
            <a:ext cx="795961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0" i="0" u="none" strike="noStrike" dirty="0">
                <a:effectLst/>
                <a:latin typeface="quote-cjk-patch"/>
              </a:rPr>
              <a:t>Создание новых терминов через словообразование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ilroy Medium" panose="00000600000000000000" charset="-52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3ED0D8-5315-F588-1CAB-FE637F2A75ED}"/>
              </a:ext>
            </a:extLst>
          </p:cNvPr>
          <p:cNvSpPr txBox="1"/>
          <p:nvPr/>
        </p:nvSpPr>
        <p:spPr>
          <a:xfrm>
            <a:off x="130029" y="1541281"/>
            <a:ext cx="1145042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u-RU" b="1" i="0" u="none" strike="noStrike" dirty="0">
                <a:effectLst/>
                <a:latin typeface="quote-cjk-patch"/>
              </a:rPr>
              <a:t>Цель:</a:t>
            </a:r>
            <a:br>
              <a:rPr lang="ru-RU" b="0" i="0" u="none" strike="noStrike" dirty="0">
                <a:effectLst/>
                <a:latin typeface="quote-cjk-patch"/>
              </a:rPr>
            </a:br>
            <a:r>
              <a:rPr lang="ru-RU" b="0" i="0" u="none" strike="noStrike" dirty="0">
                <a:effectLst/>
                <a:latin typeface="quote-cjk-patch"/>
              </a:rPr>
              <a:t>Усилить уникальность бренда через языковые приёмы.</a:t>
            </a:r>
            <a:endParaRPr lang="en-US" b="0" i="0" u="none" strike="noStrike" dirty="0">
              <a:effectLst/>
              <a:latin typeface="quote-cjk-patch"/>
            </a:endParaRPr>
          </a:p>
          <a:p>
            <a:pPr algn="l"/>
            <a:endParaRPr lang="en" b="0" i="0" u="none" strike="noStrike" dirty="0"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r>
              <a:rPr lang="ru-RU" b="1" i="0" u="none" strike="noStrike" dirty="0">
                <a:effectLst/>
                <a:latin typeface="quote-cjk-patch"/>
              </a:rPr>
              <a:t>Каламбурное столкновение:</a:t>
            </a:r>
            <a:endParaRPr lang="ru-RU" b="0" i="0" u="none" strike="noStrike" dirty="0">
              <a:effectLst/>
              <a:latin typeface="quote-cjk-patch"/>
            </a:endParaRPr>
          </a:p>
          <a:p>
            <a:pPr algn="l"/>
            <a:r>
              <a:rPr lang="ru-RU" b="0" i="0" u="none" strike="noStrike" dirty="0">
                <a:effectLst/>
                <a:latin typeface="quote-cjk-patch"/>
              </a:rPr>
              <a:t>“</a:t>
            </a:r>
            <a:r>
              <a:rPr lang="en" b="0" i="0" u="none" strike="noStrike" dirty="0" err="1">
                <a:effectLst/>
                <a:latin typeface="quote-cjk-patch"/>
              </a:rPr>
              <a:t>WebFlow</a:t>
            </a:r>
            <a:r>
              <a:rPr lang="en" b="0" i="0" u="none" strike="noStrike" dirty="0">
                <a:effectLst/>
                <a:latin typeface="quote-cjk-patch"/>
              </a:rPr>
              <a:t> – </a:t>
            </a:r>
            <a:r>
              <a:rPr lang="ru-RU" b="0" i="0" u="none" strike="noStrike" dirty="0">
                <a:effectLst/>
                <a:latin typeface="quote-cjk-patch"/>
              </a:rPr>
              <a:t>ваш </a:t>
            </a:r>
            <a:r>
              <a:rPr lang="ru-RU" b="0" i="1" u="none" strike="noStrike" dirty="0">
                <a:effectLst/>
                <a:latin typeface="quote-cjk-patch"/>
              </a:rPr>
              <a:t>поток успеха</a:t>
            </a:r>
            <a:r>
              <a:rPr lang="ru-RU" b="0" i="0" u="none" strike="noStrike" dirty="0">
                <a:effectLst/>
                <a:latin typeface="quote-cjk-patch"/>
              </a:rPr>
              <a:t> в интернете.”</a:t>
            </a:r>
          </a:p>
          <a:p>
            <a:pPr algn="l"/>
            <a:r>
              <a:rPr lang="en-US" b="1" i="0" u="none" strike="noStrike" dirty="0">
                <a:effectLst/>
                <a:latin typeface="quote-cjk-patch"/>
              </a:rPr>
              <a:t>2.</a:t>
            </a:r>
            <a:r>
              <a:rPr lang="ru-RU" b="1" i="0" u="none" strike="noStrike" dirty="0">
                <a:effectLst/>
                <a:latin typeface="quote-cjk-patch"/>
              </a:rPr>
              <a:t>Внедрение названия в слоган:</a:t>
            </a:r>
            <a:endParaRPr lang="ru-RU" b="0" i="0" u="none" strike="noStrike" dirty="0">
              <a:effectLst/>
              <a:latin typeface="quote-cjk-patch"/>
            </a:endParaRPr>
          </a:p>
          <a:p>
            <a:pPr algn="l"/>
            <a:r>
              <a:rPr lang="ru-RU" b="0" i="0" u="none" strike="noStrike" dirty="0">
                <a:effectLst/>
                <a:latin typeface="quote-cjk-patch"/>
              </a:rPr>
              <a:t>“От идеи – к </a:t>
            </a:r>
            <a:r>
              <a:rPr lang="en" b="0" i="1" u="none" strike="noStrike" dirty="0" err="1">
                <a:effectLst/>
                <a:latin typeface="quote-cjk-patch"/>
              </a:rPr>
              <a:t>WebFlow</a:t>
            </a:r>
            <a:r>
              <a:rPr lang="en" b="0" i="1" u="none" strike="noStrike" dirty="0">
                <a:effectLst/>
                <a:latin typeface="quote-cjk-patch"/>
              </a:rPr>
              <a:t>-</a:t>
            </a:r>
            <a:r>
              <a:rPr lang="ru-RU" b="0" i="1" u="none" strike="noStrike" dirty="0">
                <a:effectLst/>
                <a:latin typeface="quote-cjk-patch"/>
              </a:rPr>
              <a:t>реализации</a:t>
            </a:r>
            <a:r>
              <a:rPr lang="ru-RU" b="0" i="0" u="none" strike="noStrike" dirty="0">
                <a:effectLst/>
                <a:latin typeface="quote-cjk-patch"/>
              </a:rPr>
              <a:t>.”</a:t>
            </a:r>
          </a:p>
          <a:p>
            <a:pPr algn="l"/>
            <a:r>
              <a:rPr lang="en-US" b="1" i="0" u="none" strike="noStrike" dirty="0">
                <a:effectLst/>
                <a:latin typeface="quote-cjk-patch"/>
              </a:rPr>
              <a:t>3.</a:t>
            </a:r>
            <a:r>
              <a:rPr lang="ru-RU" b="1" i="0" u="none" strike="noStrike" dirty="0">
                <a:effectLst/>
                <a:latin typeface="quote-cjk-patch"/>
              </a:rPr>
              <a:t>Образование нового слова:</a:t>
            </a:r>
            <a:endParaRPr lang="ru-RU" b="0" i="0" u="none" strike="noStrike" dirty="0">
              <a:effectLst/>
              <a:latin typeface="quote-cjk-patch"/>
            </a:endParaRPr>
          </a:p>
          <a:p>
            <a:pPr algn="l"/>
            <a:r>
              <a:rPr lang="ru-RU" b="0" i="0" u="none" strike="noStrike" dirty="0">
                <a:effectLst/>
                <a:latin typeface="quote-cjk-patch"/>
              </a:rPr>
              <a:t>“Мы занимаемся </a:t>
            </a:r>
            <a:r>
              <a:rPr lang="ru-RU" b="0" i="1" u="none" strike="noStrike" dirty="0">
                <a:effectLst/>
                <a:latin typeface="quote-cjk-patch"/>
              </a:rPr>
              <a:t>веб-</a:t>
            </a:r>
            <a:r>
              <a:rPr lang="ru-RU" b="0" i="1" u="none" strike="noStrike" dirty="0" err="1">
                <a:effectLst/>
                <a:latin typeface="quote-cjk-patch"/>
              </a:rPr>
              <a:t>потоковизацией</a:t>
            </a:r>
            <a:r>
              <a:rPr lang="ru-RU" b="0" i="0" u="none" strike="noStrike" dirty="0">
                <a:effectLst/>
                <a:latin typeface="quote-cjk-patch"/>
              </a:rPr>
              <a:t> вашего бизнеса.”</a:t>
            </a:r>
          </a:p>
          <a:p>
            <a:pPr algn="l"/>
            <a:r>
              <a:rPr lang="en-US" b="1" i="0" u="none" strike="noStrike" dirty="0">
                <a:effectLst/>
                <a:latin typeface="quote-cjk-patch"/>
              </a:rPr>
              <a:t>4.</a:t>
            </a:r>
            <a:r>
              <a:rPr lang="ru-RU" b="1" i="0" u="none" strike="noStrike" dirty="0">
                <a:effectLst/>
                <a:latin typeface="quote-cjk-patch"/>
              </a:rPr>
              <a:t>Сокращение:</a:t>
            </a:r>
            <a:endParaRPr lang="ru-RU" b="0" i="0" u="none" strike="noStrike" dirty="0">
              <a:effectLst/>
              <a:latin typeface="quote-cjk-patch"/>
            </a:endParaRPr>
          </a:p>
          <a:p>
            <a:pPr algn="l"/>
            <a:r>
              <a:rPr lang="ru-RU" b="0" i="0" u="none" strike="noStrike" dirty="0">
                <a:effectLst/>
                <a:latin typeface="quote-cjk-patch"/>
              </a:rPr>
              <a:t>“</a:t>
            </a:r>
            <a:r>
              <a:rPr lang="en" b="0" i="0" u="none" strike="noStrike" dirty="0">
                <a:effectLst/>
                <a:latin typeface="quote-cjk-patch"/>
              </a:rPr>
              <a:t>WF-</a:t>
            </a:r>
            <a:r>
              <a:rPr lang="ru-RU" b="0" i="0" u="none" strike="noStrike" dirty="0">
                <a:effectLst/>
                <a:latin typeface="quote-cjk-patch"/>
              </a:rPr>
              <a:t>решения” (от </a:t>
            </a:r>
            <a:r>
              <a:rPr lang="en" b="0" i="0" u="none" strike="noStrike" dirty="0" err="1">
                <a:effectLst/>
                <a:latin typeface="quote-cjk-patch"/>
              </a:rPr>
              <a:t>WebFlow</a:t>
            </a:r>
            <a:r>
              <a:rPr lang="en" b="0" i="0" u="none" strike="noStrike" dirty="0">
                <a:effectLst/>
                <a:latin typeface="quote-cjk-patch"/>
              </a:rPr>
              <a:t>)</a:t>
            </a:r>
          </a:p>
          <a:p>
            <a:pPr algn="l"/>
            <a:r>
              <a:rPr lang="en-US" b="1" i="0" u="none" strike="noStrike" dirty="0">
                <a:effectLst/>
                <a:latin typeface="quote-cjk-patch"/>
              </a:rPr>
              <a:t>5.</a:t>
            </a:r>
            <a:r>
              <a:rPr lang="ru-RU" b="1" i="0" u="none" strike="noStrike" dirty="0">
                <a:effectLst/>
                <a:latin typeface="quote-cjk-patch"/>
              </a:rPr>
              <a:t>Обратное прочтение:</a:t>
            </a:r>
            <a:endParaRPr lang="ru-RU" b="0" i="0" u="none" strike="noStrike" dirty="0">
              <a:effectLst/>
              <a:latin typeface="quote-cjk-patch"/>
            </a:endParaRPr>
          </a:p>
          <a:p>
            <a:pPr algn="l"/>
            <a:r>
              <a:rPr lang="ru-RU" b="0" i="0" u="none" strike="noStrike" dirty="0">
                <a:effectLst/>
                <a:latin typeface="quote-cjk-patch"/>
              </a:rPr>
              <a:t>“</a:t>
            </a:r>
            <a:r>
              <a:rPr lang="en" b="0" i="0" u="none" strike="noStrike" dirty="0">
                <a:effectLst/>
                <a:latin typeface="quote-cjk-patch"/>
              </a:rPr>
              <a:t>Wolf Bew” – </a:t>
            </a:r>
            <a:r>
              <a:rPr lang="ru-RU" b="0" i="0" u="none" strike="noStrike" dirty="0">
                <a:effectLst/>
                <a:latin typeface="quote-cjk-patch"/>
              </a:rPr>
              <a:t>как символ силы и внимания (для креативной рекламы).</a:t>
            </a:r>
          </a:p>
        </p:txBody>
      </p:sp>
    </p:spTree>
    <p:extLst>
      <p:ext uri="{BB962C8B-B14F-4D97-AF65-F5344CB8AC3E}">
        <p14:creationId xmlns:p14="http://schemas.microsoft.com/office/powerpoint/2010/main" val="2184359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0" y="0"/>
            <a:ext cx="914400" cy="0"/>
          </a:xfrm>
          <a:prstGeom prst="line">
            <a:avLst/>
          </a:prstGeom>
          <a:ln w="0" cap="flat" cmpd="sng" algn="ctr">
            <a:solidFill>
              <a:srgbClr val="FBFFFF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rotWithShape="0">
                    <a:scrgbClr r="0" g="0" b="0"/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EC76724-8B7E-49E1-A5D8-0A86497396F2}"/>
              </a:ext>
            </a:extLst>
          </p:cNvPr>
          <p:cNvSpPr txBox="1"/>
          <p:nvPr/>
        </p:nvSpPr>
        <p:spPr>
          <a:xfrm>
            <a:off x="4721568" y="6454765"/>
            <a:ext cx="23057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Medium" panose="00000600000000000000" charset="-52"/>
                <a:ea typeface="+mn-ea"/>
                <a:cs typeface="+mn-cs"/>
              </a:rPr>
              <a:t>2025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C1E841-C2B3-4680-B71A-C0E060431885}"/>
              </a:ext>
            </a:extLst>
          </p:cNvPr>
          <p:cNvSpPr txBox="1"/>
          <p:nvPr/>
        </p:nvSpPr>
        <p:spPr>
          <a:xfrm>
            <a:off x="1268561" y="3044279"/>
            <a:ext cx="96548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kumimoji="0" lang="ru-RU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j-ea"/>
                <a:cs typeface="+mj-cs"/>
              </a:rPr>
              <a:t>Работа с суггестивными текстами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E13023-76F4-C3B7-2ADD-3CB7FBF2CC7A}"/>
              </a:ext>
            </a:extLst>
          </p:cNvPr>
          <p:cNvSpPr txBox="1"/>
          <p:nvPr/>
        </p:nvSpPr>
        <p:spPr>
          <a:xfrm>
            <a:off x="5219279" y="542298"/>
            <a:ext cx="65038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kumimoji="0" lang="ru-RU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roy Bold" panose="00000800000000000000" charset="-52"/>
                <a:ea typeface="+mj-ea"/>
                <a:cs typeface="+mj-cs"/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34541426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2">
  <a:themeElements>
    <a:clrScheme name="Московский Политех">
      <a:dk1>
        <a:sysClr val="windowText" lastClr="000000"/>
      </a:dk1>
      <a:lt1>
        <a:sysClr val="window" lastClr="FFFFFF"/>
      </a:lt1>
      <a:dk2>
        <a:srgbClr val="171616"/>
      </a:dk2>
      <a:lt2>
        <a:srgbClr val="E7E6E6"/>
      </a:lt2>
      <a:accent1>
        <a:srgbClr val="E61E46"/>
      </a:accent1>
      <a:accent2>
        <a:srgbClr val="1E3E8D"/>
      </a:accent2>
      <a:accent3>
        <a:srgbClr val="A5A5A5"/>
      </a:accent3>
      <a:accent4>
        <a:srgbClr val="60DCCA"/>
      </a:accent4>
      <a:accent5>
        <a:srgbClr val="3478BC"/>
      </a:accent5>
      <a:accent6>
        <a:srgbClr val="E94572"/>
      </a:accent6>
      <a:hlink>
        <a:srgbClr val="3478BC"/>
      </a:hlink>
      <a:folHlink>
        <a:srgbClr val="E94572"/>
      </a:folHlink>
    </a:clrScheme>
    <a:fontScheme name="Другая 2">
      <a:majorFont>
        <a:latin typeface="Verdana "/>
        <a:ea typeface=""/>
        <a:cs typeface=""/>
      </a:majorFont>
      <a:minorFont>
        <a:latin typeface="Verdana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резентация6" id="{2AEEDDF9-59ED-463C-8E0C-BF21DC8B3CB6}" vid="{CDD37877-5C07-4AD6-AFB2-357C367BDEC8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Shablon_Moscow_Poly_v3</Template>
  <TotalTime>1232</TotalTime>
  <Words>700</Words>
  <Application>Microsoft Office PowerPoint</Application>
  <PresentationFormat>Широкоэкранный</PresentationFormat>
  <Paragraphs>109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20" baseType="lpstr">
      <vt:lpstr>quote-cjk-patch</vt:lpstr>
      <vt:lpstr>Arial</vt:lpstr>
      <vt:lpstr>MS Sans Serif</vt:lpstr>
      <vt:lpstr>Gilroy Bold</vt:lpstr>
      <vt:lpstr>Helvetica Neue</vt:lpstr>
      <vt:lpstr>Gilroy Medium</vt:lpstr>
      <vt:lpstr>Verdana</vt:lpstr>
      <vt:lpstr>Calibri</vt:lpstr>
      <vt:lpstr>Тема2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Maibenben</dc:creator>
  <cp:lastModifiedBy>Александр Романов</cp:lastModifiedBy>
  <cp:revision>84</cp:revision>
  <dcterms:created xsi:type="dcterms:W3CDTF">2024-05-27T20:04:35Z</dcterms:created>
  <dcterms:modified xsi:type="dcterms:W3CDTF">2025-12-16T08:34:09Z</dcterms:modified>
</cp:coreProperties>
</file>