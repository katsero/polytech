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4"/>
  </p:notesMasterIdLst>
  <p:sldIdLst>
    <p:sldId id="256" r:id="rId2"/>
    <p:sldId id="257" r:id="rId3"/>
    <p:sldId id="275" r:id="rId4"/>
    <p:sldId id="276" r:id="rId5"/>
    <p:sldId id="273" r:id="rId6"/>
    <p:sldId id="277" r:id="rId7"/>
    <p:sldId id="280" r:id="rId8"/>
    <p:sldId id="278" r:id="rId9"/>
    <p:sldId id="274" r:id="rId10"/>
    <p:sldId id="272" r:id="rId11"/>
    <p:sldId id="279" r:id="rId12"/>
    <p:sldId id="25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ilroy Bold" panose="00000800000000000000" charset="-52"/>
      <p:bold r:id="rId19"/>
    </p:embeddedFont>
    <p:embeddedFont>
      <p:font typeface="Gilroy Medium" panose="00000600000000000000" charset="-52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09.12.2025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09.12.2025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09.12.2025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09.12.2025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09.12.2025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09.12.2025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09.12.2025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09.12.2025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0" i="0" dirty="0">
                <a:solidFill>
                  <a:srgbClr val="343A40"/>
                </a:solidFill>
                <a:effectLst/>
              </a:rPr>
              <a:t>Работа с рекламным текстом</a:t>
            </a:r>
            <a:endParaRPr kumimoji="0" lang="ru-RU" sz="3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Gilroy Medium" panose="00000600000000000000" charset="-52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Gilroy Medium" panose="00000600000000000000" charset="-52"/>
              </a:rPr>
              <a:t>Каматали</a:t>
            </a:r>
            <a:r>
              <a:rPr lang="ru-RU" dirty="0">
                <a:effectLst/>
                <a:latin typeface="Gilroy Medium" panose="00000600000000000000" charset="-52"/>
              </a:rPr>
              <a:t> Алина </a:t>
            </a:r>
            <a:r>
              <a:rPr lang="ru-RU" dirty="0" err="1">
                <a:effectLst/>
                <a:latin typeface="Gilroy Medium" panose="00000600000000000000" charset="-52"/>
              </a:rPr>
              <a:t>Аароновна</a:t>
            </a:r>
            <a:r>
              <a:rPr lang="ru-RU" dirty="0">
                <a:effectLst/>
                <a:latin typeface="Gilroy Medium" panose="00000600000000000000" charset="-52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662032"/>
            <a:ext cx="94640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>
                <a:ea typeface="+mj-ea"/>
                <a:cs typeface="+mj-cs"/>
              </a:rPr>
              <a:t>Цель</a:t>
            </a:r>
            <a:r>
              <a:rPr lang="ru-RU" sz="2400" dirty="0">
                <a:ea typeface="+mj-ea"/>
                <a:cs typeface="+mj-cs"/>
              </a:rPr>
              <a:t>: </a:t>
            </a:r>
            <a:r>
              <a:rPr lang="ru-RU" sz="2400" b="0" i="0" dirty="0">
                <a:solidFill>
                  <a:srgbClr val="343A40"/>
                </a:solidFill>
                <a:effectLst/>
              </a:rPr>
              <a:t>Изучение правил и особенностей работы с текстом как основным элементом рекламной кампании. Разработка «работающего» рекламного текста</a:t>
            </a:r>
            <a:br>
              <a:rPr lang="ru-RU" sz="2400" dirty="0"/>
            </a:b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18B80-1455-6C52-1217-55A675942077}"/>
              </a:ext>
            </a:extLst>
          </p:cNvPr>
          <p:cNvSpPr txBox="1"/>
          <p:nvPr/>
        </p:nvSpPr>
        <p:spPr>
          <a:xfrm>
            <a:off x="457200" y="3272383"/>
            <a:ext cx="11240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Gilroy Bold" panose="00000800000000000000" charset="-52"/>
                <a:ea typeface="+mj-ea"/>
                <a:cs typeface="+mj-cs"/>
              </a:rPr>
              <a:t>Основная задача</a:t>
            </a:r>
            <a:r>
              <a:rPr lang="ru-RU" sz="2400" dirty="0">
                <a:latin typeface="Gilroy Bold" panose="00000800000000000000" charset="-52"/>
                <a:ea typeface="+mj-ea"/>
                <a:cs typeface="+mj-cs"/>
              </a:rPr>
              <a:t>: необходимо придумать слоган вашей веб студии с логической аргументацией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Постановка цели и основной задачи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54937548-38F3-30ED-A2B6-9EB3C34B8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863" y="1690688"/>
            <a:ext cx="10281557" cy="36494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>
              <a:buFont typeface="+mj-lt"/>
              <a:buAutoNum type="arabicPeriod"/>
            </a:pPr>
            <a:r>
              <a:rPr lang="ru-RU" b="1" dirty="0"/>
              <a:t>Типографика</a:t>
            </a:r>
            <a:r>
              <a:rPr lang="ru-RU" dirty="0"/>
              <a:t>: Использование крупных, выразительных шрифтов и цветовых акцентов для выделения ключевых слов и создания уникального стиля текста.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Инфографика</a:t>
            </a:r>
            <a:r>
              <a:rPr lang="ru-RU" dirty="0"/>
              <a:t>: Представление данных и текста в виде графиков, диаграмм и иконок, чтобы упростить восприятие и сделать информацию наглядной.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Иллюстрации и изображения</a:t>
            </a:r>
            <a:r>
              <a:rPr lang="ru-RU" dirty="0"/>
              <a:t>: Использование изображений, которые дополняют текст, усиливают эмоциональный эффект и помогают быстрее донести идею.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Цветовые акценты</a:t>
            </a:r>
            <a:r>
              <a:rPr lang="ru-RU" dirty="0"/>
              <a:t>: Применение цвета для выделения ключевых слов или смысловых блоков, чтобы направлять внимание зрителя.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Анимация и видео</a:t>
            </a:r>
            <a:r>
              <a:rPr lang="ru-RU" dirty="0"/>
              <a:t>: Привлечение внимания и создание динамики с помощью коротких анимаций или видеороликов, что делает текст более живым.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Структурирование текста</a:t>
            </a:r>
            <a:r>
              <a:rPr lang="ru-RU" dirty="0"/>
              <a:t>: Использование подзаголовков, списков и разбиения на блоки для удобства чтения и быстрого восприятия информации.</a:t>
            </a:r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5CE4A8-7AD3-6269-4E5C-5C7AA6B7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82B6B7B-1EF9-D6B7-327E-88832E6C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555171"/>
            <a:ext cx="8877300" cy="1135517"/>
          </a:xfrm>
        </p:spPr>
        <p:txBody>
          <a:bodyPr/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Основные способы визуализации рекламного текста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152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9DFADAE-7066-9FDB-BF92-9AD54CA35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049237"/>
            <a:ext cx="10281557" cy="3649434"/>
          </a:xfrm>
        </p:spPr>
        <p:txBody>
          <a:bodyPr>
            <a:normAutofit/>
          </a:bodyPr>
          <a:lstStyle/>
          <a:p>
            <a:r>
              <a:rPr lang="ru-RU" sz="1400" b="1" dirty="0"/>
              <a:t>Пластические возможности фонетики</a:t>
            </a:r>
            <a:r>
              <a:rPr lang="ru-RU" sz="1400" dirty="0"/>
              <a:t> — это изменчивость звуков речи, используемая для создания различных эффектов в языке. Включает: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Акцентуация и интонация</a:t>
            </a:r>
            <a:r>
              <a:rPr lang="ru-RU" sz="1400" dirty="0"/>
              <a:t> — изменение акцента или интонации для выделения информации или создания эмоционального окраса.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Промежуточные звуки</a:t>
            </a:r>
            <a:r>
              <a:rPr lang="ru-RU" sz="1400" dirty="0"/>
              <a:t> — ассимиляция и элизия, влияющие на артикуляцию и звучание.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Аллитерация и ассонанс</a:t>
            </a:r>
            <a:r>
              <a:rPr lang="ru-RU" sz="1400" dirty="0"/>
              <a:t> — повторение звуков для создания ритма и выразительности.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Диалектные особенности</a:t>
            </a:r>
            <a:r>
              <a:rPr lang="ru-RU" sz="1400" dirty="0"/>
              <a:t> — вариативность произношения в разных регионах, добавляющая гибкость в языке.</a:t>
            </a:r>
          </a:p>
          <a:p>
            <a:endParaRPr lang="ru-RU" sz="1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B32E9F-4199-B5C1-C856-43357697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EE1C747-8991-E522-181E-CBCEBD74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  Пластические возможности фонетики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7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2A1B2247-7ADE-8DDD-3B00-974B597FF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685" y="1293768"/>
            <a:ext cx="9826375" cy="5335631"/>
          </a:xfrm>
        </p:spPr>
        <p:txBody>
          <a:bodyPr>
            <a:noAutofit/>
          </a:bodyPr>
          <a:lstStyle/>
          <a:p>
            <a:endParaRPr lang="ru-RU" sz="17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Для компании </a:t>
            </a:r>
            <a:r>
              <a:rPr lang="en" sz="17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, </a:t>
            </a:r>
            <a:r>
              <a:rPr lang="ru-RU" sz="17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синестетические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словосочетания могут передавать её динамичность, современность и ориентацию на создание интуитивного и плавного цифрового опыта. Вот несколько примеров </a:t>
            </a:r>
            <a:r>
              <a:rPr lang="ru-RU" sz="17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синестетических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фраз, которые могли бы описывать ощущения от работы с компанией или её услугами: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«Поток визуальной гармонии»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передаёт плавность, эстетическую целостность и динамику веб-дизайна, где все элементы движутся в унисон.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«Светящаяся лёгкость интерфейса»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подчёркивает интуитивность, воздушность и яркость взаимодействия, словно навигация парит в цифровом пространстве.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«Тепло цифрового потока»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создаёт ощущение комфорта, технологической плавности и дружелюбия, с которым пользователь движется по сайту.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«Кристальная чистота кода»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отражает безупречную точность, ясность и профессионализм технической реализации, лежащей в основе каждого проекта.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«Эхо инновационных решений»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усиливает образ студии как новатора, где каждое креативное решение находит отклик и создает долгий резонанс.</a:t>
            </a:r>
          </a:p>
          <a:p>
            <a:pPr marL="0" indent="0" algn="l">
              <a:buNone/>
            </a:pP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Эти фразы подчёркивают сочетание передовых технологий, визуальной привлекательности и бесшовного пользовательского опыта, что делает </a:t>
            </a:r>
            <a:r>
              <a:rPr lang="en" sz="17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современной и динамичной студией, создающей интуитивные и захватывающие веб-пространства, где каждая деталь течёт в едином ритме.</a:t>
            </a:r>
          </a:p>
          <a:p>
            <a:endParaRPr lang="ru-RU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9895606-F70F-8C09-4605-34B2011A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85B15DC-0742-41BE-F804-0857B5D1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86" y="483252"/>
            <a:ext cx="8877300" cy="1135517"/>
          </a:xfrm>
        </p:spPr>
        <p:txBody>
          <a:bodyPr/>
          <a:lstStyle/>
          <a:p>
            <a:r>
              <a:rPr lang="ru-RU" dirty="0">
                <a:solidFill>
                  <a:srgbClr val="343A40"/>
                </a:solidFill>
                <a:latin typeface="+mn-lt"/>
              </a:rPr>
              <a:t>С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оздание </a:t>
            </a:r>
            <a:r>
              <a:rPr lang="ru-RU" b="0" i="0" dirty="0" err="1">
                <a:solidFill>
                  <a:srgbClr val="343A40"/>
                </a:solidFill>
                <a:effectLst/>
                <a:latin typeface="+mn-lt"/>
              </a:rPr>
              <a:t>синестетических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 словосочетаний;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039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F323EB02-CA47-7C50-AC04-A2931755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049237"/>
            <a:ext cx="10281557" cy="3649434"/>
          </a:xfrm>
        </p:spPr>
        <p:txBody>
          <a:bodyPr>
            <a:normAutofit fontScale="92500"/>
          </a:bodyPr>
          <a:lstStyle/>
          <a:p>
            <a:endParaRPr lang="ru-RU" sz="18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Возможно ли преувеличение, гиперболизация элементов?</a:t>
            </a:r>
          </a:p>
          <a:p>
            <a:pPr marL="0" indent="0">
              <a:buNone/>
            </a:pPr>
            <a:r>
              <a:rPr lang="ru-RU" sz="1600" dirty="0"/>
              <a:t>«Вы хотели, чтобы сайт загружался быстрее мысли. Мы убрали всё лишнее. Теперь клиенты покупают, даже не успев понять, как это произошло". Или: "Сайт был настолько удобным, что первые 10 клиентов написали благодарности, думая, что общаются с живым консультантом".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2. Можно ли что-нибудь уплотнить? Применить способ миниатюризации?</a:t>
            </a:r>
          </a:p>
          <a:p>
            <a:pPr marL="0" indent="0">
              <a:buNone/>
            </a:pPr>
            <a:r>
              <a:rPr lang="ru-RU" sz="1600" dirty="0"/>
              <a:t>"Мы не строили сайт с нуля. Мы собрали идеальный </a:t>
            </a:r>
            <a:r>
              <a:rPr lang="ru-RU" sz="1600" dirty="0" err="1"/>
              <a:t>пазл</a:t>
            </a:r>
            <a:r>
              <a:rPr lang="ru-RU" sz="1600" dirty="0"/>
              <a:t> из 50 проверенных решений, и на это ушло 72 часа".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3. В какую новую среду его поместить? Возможны ли новые способы его применения?</a:t>
            </a:r>
          </a:p>
          <a:p>
            <a:pPr marL="0" indent="0">
              <a:buNone/>
            </a:pPr>
            <a:r>
              <a:rPr lang="ru-RU" sz="1600" dirty="0"/>
              <a:t>Что если сайт — это не просто "витрина", а "электронный менеджер по продажам, который не спит"? Или "мостик", который в прямом эфире соединяет предпринимателя с клиентом из другого города? 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FA4A39-6B5C-C29B-E3FB-2E95B532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D504EF-3659-D61A-0BDF-88049049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91570"/>
            <a:ext cx="8877300" cy="1135517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Конструирование </a:t>
            </a:r>
            <a:r>
              <a:rPr lang="ru-RU" b="0" i="0" dirty="0" err="1">
                <a:solidFill>
                  <a:srgbClr val="343A40"/>
                </a:solidFill>
                <a:effectLst/>
                <a:latin typeface="+mn-lt"/>
              </a:rPr>
              <a:t>минисюжетов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 с использованием контрольных вопросов Чарльза Осборна;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95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884C17A-DEF0-E3FE-B462-722997C1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94" y="2049237"/>
            <a:ext cx="10281557" cy="3649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Веб-решения, которые вдохновляют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E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Единство стиля и идей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B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Быстрота как философия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F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Функциональность и страсть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L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Легкость взаимодействия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O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Открытость к инновациям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Уверенный рост с </a:t>
            </a:r>
            <a:r>
              <a:rPr lang="en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B0B277-EB75-2BDC-0985-731BE162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7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875DC-33EA-BAB5-05FC-F7EA5EB19BB8}"/>
              </a:ext>
            </a:extLst>
          </p:cNvPr>
          <p:cNvSpPr txBox="1"/>
          <p:nvPr/>
        </p:nvSpPr>
        <p:spPr>
          <a:xfrm>
            <a:off x="601894" y="1159329"/>
            <a:ext cx="6133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Medium" panose="00000600000000000000" charset="-52"/>
                <a:ea typeface="+mj-ea"/>
                <a:cs typeface="+mj-cs"/>
              </a:rPr>
              <a:t>Акростих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3437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D05E05E-C610-4371-8755-60C0435BB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603" y="2160740"/>
            <a:ext cx="10281557" cy="3744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 dirty="0"/>
              <a:t>Типовые приемы фантазирования для конструирования </a:t>
            </a:r>
            <a:r>
              <a:rPr lang="ru-RU" sz="1400" b="1" dirty="0" err="1"/>
              <a:t>минисюжетов</a:t>
            </a:r>
            <a:r>
              <a:rPr lang="ru-RU" sz="1400" b="1" dirty="0"/>
              <a:t>:</a:t>
            </a:r>
          </a:p>
          <a:p>
            <a:pPr marL="0" indent="0">
              <a:buNone/>
            </a:pPr>
            <a:endParaRPr lang="ru-RU" sz="1400" dirty="0"/>
          </a:p>
          <a:p>
            <a:pPr>
              <a:buFont typeface="+mj-lt"/>
              <a:buAutoNum type="arabicPeriod"/>
            </a:pPr>
            <a:r>
              <a:rPr lang="ru-RU" sz="14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Антропоморфизация</a:t>
            </a:r>
            <a:r>
              <a:rPr lang="ru-RU" sz="1400" b="1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quote-cjk-patch"/>
              </a:rPr>
              <a:t>(когда объект рекламы не просто одушевляется, но наделяется признаками человека)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400" dirty="0">
                <a:solidFill>
                  <a:schemeClr val="tx1"/>
                </a:solidFill>
                <a:latin typeface="quote-cjk-patch"/>
              </a:rPr>
              <a:t> Сайт-старичок, который нашёл вторую молодость. Он жаловался на скрипучие шрифты, медленный пульс загрузки и то, что все обходят его стороной. Пришла команда </a:t>
            </a:r>
            <a:r>
              <a:rPr lang="ru-RU" sz="1400" dirty="0" err="1">
                <a:solidFill>
                  <a:schemeClr val="tx1"/>
                </a:solidFill>
                <a:latin typeface="quote-cjk-patch"/>
              </a:rPr>
              <a:t>WebFlow</a:t>
            </a:r>
            <a:r>
              <a:rPr lang="ru-RU" sz="1400" dirty="0">
                <a:solidFill>
                  <a:schemeClr val="tx1"/>
                </a:solidFill>
                <a:latin typeface="quote-cjk-patch"/>
              </a:rPr>
              <a:t> — и не просто сделала «апгрейд». Они подарили ему новую нервную систему (быстрый код), харизму (уникальный дизайн) и голос (интуитивный интерфейс). Теперь он не просто сайт. Он — главный по привлечению гостей, который сам знакомит, увлекает и убеждает. </a:t>
            </a:r>
            <a:endParaRPr lang="en" sz="1400" b="0" i="0" u="none" strike="noStrike" dirty="0">
              <a:solidFill>
                <a:schemeClr val="tx1"/>
              </a:solidFill>
              <a:effectLst/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ru-RU" sz="1400" b="1" dirty="0">
                <a:solidFill>
                  <a:schemeClr val="tx1"/>
                </a:solidFill>
                <a:latin typeface="quote-cjk-patch"/>
              </a:rPr>
              <a:t>Фантастическая хронология (Ускорение)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sz="1400" dirty="0">
                <a:solidFill>
                  <a:schemeClr val="tx1"/>
                </a:solidFill>
                <a:latin typeface="quote-cjk-patch"/>
              </a:rPr>
              <a:t>— Пользователь только навёл курсор, а сайт от </a:t>
            </a:r>
            <a:r>
              <a:rPr lang="ru-RU" sz="1400" dirty="0" err="1">
                <a:solidFill>
                  <a:schemeClr val="tx1"/>
                </a:solidFill>
                <a:latin typeface="quote-cjk-patch"/>
              </a:rPr>
              <a:t>WebFlow</a:t>
            </a:r>
            <a:r>
              <a:rPr lang="ru-RU" sz="1400" dirty="0">
                <a:solidFill>
                  <a:schemeClr val="tx1"/>
                </a:solidFill>
                <a:latin typeface="quote-cjk-patch"/>
              </a:rPr>
              <a:t> уже приготовил персональное предложение. Здесь решения принимаются на скорости мысли. Ваш бизнес начинает работать в </a:t>
            </a:r>
            <a:r>
              <a:rPr lang="ru-RU" sz="1400" dirty="0" err="1">
                <a:solidFill>
                  <a:schemeClr val="tx1"/>
                </a:solidFill>
                <a:latin typeface="quote-cjk-patch"/>
              </a:rPr>
              <a:t>временнóй</a:t>
            </a:r>
            <a:r>
              <a:rPr lang="ru-RU" sz="1400" dirty="0">
                <a:solidFill>
                  <a:schemeClr val="tx1"/>
                </a:solidFill>
                <a:latin typeface="quote-cjk-patch"/>
              </a:rPr>
              <a:t> петле эффективности, где каждый посетитель уже — потенциальный клиент. </a:t>
            </a:r>
            <a:endParaRPr lang="en" sz="1400" b="0" i="0" u="none" strike="noStrike" dirty="0">
              <a:solidFill>
                <a:schemeClr val="tx1"/>
              </a:solidFill>
              <a:effectLst/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ru-RU" sz="1400" b="1" dirty="0">
                <a:solidFill>
                  <a:schemeClr val="tx1"/>
                </a:solidFill>
                <a:latin typeface="quote-cjk-patch"/>
              </a:rPr>
              <a:t>Экстремальные последствия </a:t>
            </a:r>
            <a:r>
              <a:rPr lang="ru-RU" sz="1400" dirty="0">
                <a:solidFill>
                  <a:schemeClr val="tx1"/>
                </a:solidFill>
                <a:latin typeface="quote-cjk-patch"/>
              </a:rPr>
              <a:t>(последствия отсутствия продукта или максимального проявления его функций, его использования, его свойств и т.д.) –  Сайт был слепым. Видел только десктоп, игнорировал телефоны и планшеты и терял 80% клиентов. Мы дали ему зрение. Теперь он чувствует, кто перед ним, и меняется: становится быстрым для телефона, уютным для планшета, мощным для компьютера. Ваш сайт теперь — хамелеон. Он подстраивается под экран, а под человека. Любой гаджет стал удобной дверью в ваш бизнес. И дверь эта всегда открыта.</a:t>
            </a:r>
            <a:endParaRPr lang="ru-RU" sz="1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296072D-13DF-B58C-B7B1-CCA00641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87F8C0D-76AB-94C5-0FF7-736D9287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98" y="508076"/>
            <a:ext cx="8877300" cy="1135517"/>
          </a:xfrm>
        </p:spPr>
        <p:txBody>
          <a:bodyPr/>
          <a:lstStyle/>
          <a:p>
            <a:r>
              <a:rPr lang="ru-RU" dirty="0">
                <a:solidFill>
                  <a:srgbClr val="343A40"/>
                </a:solidFill>
                <a:latin typeface="+mn-lt"/>
              </a:rPr>
              <a:t>И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спользование типовых приемов фантазирования.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179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5691-B9A3-A62A-2EA7-FBBF34F5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59C2BC0A-6EA3-2874-F31D-1A4040DDC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103" y="1753300"/>
            <a:ext cx="11401304" cy="4103490"/>
          </a:xfrm>
        </p:spPr>
        <p:txBody>
          <a:bodyPr>
            <a:noAutofit/>
          </a:bodyPr>
          <a:lstStyle/>
          <a:p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dirty="0">
                <a:solidFill>
                  <a:schemeClr val="tx1"/>
                </a:solidFill>
                <a:latin typeface="quote-cjk-patch"/>
              </a:rPr>
              <a:t>простой, величественный, грубый, мужественный, горячий, сильный, могучий, громкий, быстрый, активный, радостный.</a:t>
            </a:r>
          </a:p>
          <a:p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E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dirty="0">
                <a:solidFill>
                  <a:schemeClr val="tx1"/>
                </a:solidFill>
                <a:latin typeface="quote-cjk-patch"/>
              </a:rPr>
              <a:t>хороший, красивый, безопасный, простой, гладкий, округлый, нежный, легкий, сильный, могучий, медлительный, тусклый.</a:t>
            </a:r>
          </a:p>
          <a:p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B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</a:t>
            </a:r>
            <a:r>
              <a:rPr lang="ru-RU" sz="1800" dirty="0">
                <a:solidFill>
                  <a:schemeClr val="tx1"/>
                </a:solidFill>
                <a:latin typeface="quote-cjk-patch"/>
              </a:rPr>
              <a:t> величественный, хороший, мужественный, грубый, холодный, громкий, могучий, активный, яркий, большой.</a:t>
            </a:r>
            <a:endParaRPr lang="ru-RU" sz="1800" b="0" i="0" u="none" strike="noStrike" dirty="0">
              <a:solidFill>
                <a:schemeClr val="tx1"/>
              </a:solidFill>
              <a:effectLst/>
              <a:latin typeface="quote-cjk-patch"/>
            </a:endParaRPr>
          </a:p>
          <a:p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F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dirty="0">
                <a:solidFill>
                  <a:schemeClr val="tx1"/>
                </a:solidFill>
                <a:latin typeface="quote-cjk-patch"/>
              </a:rPr>
              <a:t> плохой, отталкивающий, страшный, шероховатый, угловатый, злой, слабый, тихий, темный, тяжелый, медленный, пассивный, тусклый, печальный.</a:t>
            </a:r>
          </a:p>
          <a:p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L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dirty="0">
                <a:solidFill>
                  <a:schemeClr val="tx1"/>
                </a:solidFill>
                <a:latin typeface="quote-cjk-patch"/>
              </a:rPr>
              <a:t>красивый, величественный, сильный, холодный, громкий, могучий, яркий.</a:t>
            </a:r>
          </a:p>
          <a:p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O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dirty="0">
                <a:solidFill>
                  <a:schemeClr val="tx1"/>
                </a:solidFill>
                <a:latin typeface="quote-cjk-patch"/>
              </a:rPr>
              <a:t>хороший, простой, красивый, гладкий, округлый, величественный, мужественный, сильный, холод­ный, громкий, могучий.</a:t>
            </a:r>
          </a:p>
          <a:p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dirty="0">
                <a:solidFill>
                  <a:schemeClr val="tx1"/>
                </a:solidFill>
                <a:latin typeface="quote-cjk-patch"/>
              </a:rPr>
              <a:t>страшный, простой, гладкий, низменный, легкий, темный, мужественный, холодный, медленный, грустный, большой, тусклый, медлительный, печальный.</a:t>
            </a:r>
            <a:endParaRPr lang="ru-RU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3EB59F4-D385-1BDF-8C46-3F4A9FDC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2248" y="5856790"/>
            <a:ext cx="1461148" cy="1001210"/>
          </a:xfrm>
        </p:spPr>
        <p:txBody>
          <a:bodyPr/>
          <a:lstStyle/>
          <a:p>
            <a:r>
              <a:rPr lang="ru-RU" dirty="0"/>
              <a:t>11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D10F84-22F2-19CC-9688-B1C3A3E3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31" y="1001210"/>
            <a:ext cx="8877300" cy="290695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Анализ названия компании с точки зрения звукового восприятия.</a:t>
            </a:r>
            <a:br>
              <a:rPr lang="ru-RU" b="0" i="0" dirty="0">
                <a:solidFill>
                  <a:srgbClr val="343A40"/>
                </a:solidFill>
                <a:effectLst/>
                <a:latin typeface="+mn-lt"/>
              </a:rPr>
            </a:br>
            <a:br>
              <a:rPr lang="ru-RU" dirty="0">
                <a:latin typeface="+mn-lt"/>
              </a:rPr>
            </a:b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5422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10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52" y="527203"/>
            <a:ext cx="8877300" cy="1135517"/>
          </a:xfrm>
        </p:spPr>
        <p:txBody>
          <a:bodyPr>
            <a:normAutofit fontScale="90000"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DefaultFont"/>
                <a:ea typeface="+mj-ea"/>
                <a:cs typeface="+mj-cs"/>
              </a:rPr>
              <a:t>Ана</a:t>
            </a:r>
            <a:r>
              <a:rPr lang="ru-RU" sz="3200" dirty="0" err="1">
                <a:solidFill>
                  <a:srgbClr val="343A40"/>
                </a:solidFill>
                <a:latin typeface="DefaultFont"/>
                <a:ea typeface="+mj-ea"/>
                <a:cs typeface="+mj-cs"/>
              </a:rPr>
              <a:t>лиз</a:t>
            </a:r>
            <a:r>
              <a:rPr lang="ru-RU" sz="3200" dirty="0">
                <a:solidFill>
                  <a:srgbClr val="343A40"/>
                </a:solidFill>
                <a:latin typeface="DefaultFont"/>
                <a:ea typeface="+mj-ea"/>
                <a:cs typeface="+mj-cs"/>
              </a:rPr>
              <a:t> компании с точки зрения звукового восприятия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</a:b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</a:br>
            <a:endParaRPr lang="ru-RU" dirty="0">
              <a:latin typeface="+mn-lt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E09681B-EE9C-B542-A069-E55C20E2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429"/>
            <a:ext cx="2881842" cy="478653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800" b="1" u="none" strike="noStrike" dirty="0">
                <a:solidFill>
                  <a:schemeClr val="tx1"/>
                </a:solidFill>
                <a:effectLst/>
                <a:latin typeface="Gilroy Medium" panose="00000600000000000000" charset="-52"/>
              </a:rPr>
              <a:t>Сильные стороны:</a:t>
            </a:r>
          </a:p>
          <a:p>
            <a:r>
              <a:rPr lang="ru-RU" sz="2000" dirty="0">
                <a:latin typeface="Gilroy Medium" panose="00000600000000000000" charset="-52"/>
              </a:rPr>
              <a:t>могучий —5</a:t>
            </a:r>
          </a:p>
          <a:p>
            <a:r>
              <a:rPr lang="ru-RU" sz="2000" dirty="0">
                <a:latin typeface="Gilroy Medium" panose="00000600000000000000" charset="-52"/>
              </a:rPr>
              <a:t>сильный — 4 </a:t>
            </a:r>
          </a:p>
          <a:p>
            <a:r>
              <a:rPr lang="ru-RU" sz="2000" dirty="0">
                <a:latin typeface="Gilroy Medium" panose="00000600000000000000" charset="-52"/>
              </a:rPr>
              <a:t>величественный — 4</a:t>
            </a:r>
          </a:p>
          <a:p>
            <a:r>
              <a:rPr lang="ru-RU" sz="2000" dirty="0">
                <a:latin typeface="Gilroy Medium" panose="00000600000000000000" charset="-52"/>
              </a:rPr>
              <a:t>громкий — 4 </a:t>
            </a:r>
          </a:p>
          <a:p>
            <a:r>
              <a:rPr lang="ru-RU" sz="2000" dirty="0">
                <a:latin typeface="Gilroy Medium" panose="00000600000000000000" charset="-52"/>
              </a:rPr>
              <a:t>мужественный — 4 </a:t>
            </a:r>
            <a:endParaRPr lang="ru-RU" sz="20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9" name="Объект 5">
            <a:extLst>
              <a:ext uri="{FF2B5EF4-FFF2-40B4-BE49-F238E27FC236}">
                <a16:creationId xmlns:a16="http://schemas.microsoft.com/office/drawing/2014/main" id="{BEB30EBB-FBF0-DA48-92C7-D97E027361AA}"/>
              </a:ext>
            </a:extLst>
          </p:cNvPr>
          <p:cNvSpPr txBox="1">
            <a:spLocks/>
          </p:cNvSpPr>
          <p:nvPr/>
        </p:nvSpPr>
        <p:spPr>
          <a:xfrm>
            <a:off x="4378350" y="1958681"/>
            <a:ext cx="3013121" cy="364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chemeClr val="tx1"/>
                </a:solidFill>
                <a:latin typeface="Gilroy Medium" panose="00000600000000000000" charset="-52"/>
              </a:rPr>
              <a:t>Позитивные качества:</a:t>
            </a:r>
            <a:endParaRPr lang="ru-RU" sz="1800" dirty="0">
              <a:solidFill>
                <a:schemeClr val="tx1"/>
              </a:solidFill>
              <a:latin typeface="Gilroy Medium" panose="00000600000000000000" charset="-52"/>
            </a:endParaRPr>
          </a:p>
          <a:p>
            <a:r>
              <a:rPr lang="ru-RU" sz="2000" dirty="0">
                <a:latin typeface="Gilroy Medium" panose="00000600000000000000" charset="-52"/>
              </a:rPr>
              <a:t>простой — 4</a:t>
            </a:r>
          </a:p>
          <a:p>
            <a:r>
              <a:rPr lang="ru-RU" sz="2000" dirty="0">
                <a:latin typeface="Gilroy Medium" panose="00000600000000000000" charset="-52"/>
              </a:rPr>
              <a:t>хороший — 3 </a:t>
            </a:r>
          </a:p>
          <a:p>
            <a:r>
              <a:rPr lang="ru-RU" sz="2000" dirty="0">
                <a:latin typeface="Gilroy Medium" panose="00000600000000000000" charset="-52"/>
              </a:rPr>
              <a:t>красивый — 3</a:t>
            </a:r>
          </a:p>
          <a:p>
            <a:r>
              <a:rPr lang="ru-RU" sz="2000" dirty="0">
                <a:latin typeface="Gilroy Medium" panose="00000600000000000000" charset="-52"/>
              </a:rPr>
              <a:t>гладкий — 3</a:t>
            </a:r>
            <a:endParaRPr lang="ru-RU" sz="12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2BE21055-5F1C-EA41-8904-628C38A14C33}"/>
              </a:ext>
            </a:extLst>
          </p:cNvPr>
          <p:cNvSpPr txBox="1">
            <a:spLocks/>
          </p:cNvSpPr>
          <p:nvPr/>
        </p:nvSpPr>
        <p:spPr>
          <a:xfrm>
            <a:off x="7813651" y="1958681"/>
            <a:ext cx="2919452" cy="4372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chemeClr val="tx1"/>
                </a:solidFill>
                <a:latin typeface="Gilroy Medium" panose="00000600000000000000" charset="-52"/>
              </a:rPr>
              <a:t>Нейтральные/отрицательные черты:</a:t>
            </a:r>
            <a:endParaRPr lang="ru-RU" sz="1800" dirty="0">
              <a:solidFill>
                <a:schemeClr val="tx1"/>
              </a:solidFill>
              <a:latin typeface="Gilroy Medium" panose="00000600000000000000" charset="-52"/>
            </a:endParaRPr>
          </a:p>
          <a:p>
            <a:r>
              <a:rPr lang="ru-RU" sz="2000" dirty="0">
                <a:latin typeface="Gilroy Medium" panose="00000600000000000000" charset="-52"/>
              </a:rPr>
              <a:t>тусклый — 3 </a:t>
            </a:r>
          </a:p>
          <a:p>
            <a:r>
              <a:rPr lang="ru-RU" sz="2000" dirty="0">
                <a:latin typeface="Gilroy Medium" panose="00000600000000000000" charset="-52"/>
              </a:rPr>
              <a:t>медлительный — 2</a:t>
            </a:r>
          </a:p>
          <a:p>
            <a:r>
              <a:rPr lang="ru-RU" sz="2000" dirty="0">
                <a:latin typeface="Gilroy Medium" panose="00000600000000000000" charset="-52"/>
              </a:rPr>
              <a:t>печальный — 2 </a:t>
            </a:r>
          </a:p>
          <a:p>
            <a:r>
              <a:rPr lang="ru-RU" sz="2000" dirty="0">
                <a:latin typeface="Gilroy Medium" panose="00000600000000000000" charset="-52"/>
              </a:rPr>
              <a:t>страшный — 2</a:t>
            </a:r>
            <a:endParaRPr lang="ru-RU" sz="12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50334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80F00D0D-29F2-25CB-CDA3-1FCDD00C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072" y="1856689"/>
            <a:ext cx="9302393" cy="417205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quote-cjk-patch"/>
              </a:rPr>
              <a:t>Зачин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: Ваш </a:t>
            </a:r>
            <a:r>
              <a:rPr lang="ru-RU" sz="1600" u="sng" dirty="0">
                <a:solidFill>
                  <a:schemeClr val="tx1"/>
                </a:solidFill>
                <a:latin typeface="quote-cjk-patch"/>
              </a:rPr>
              <a:t>сайт всё ещё «спит»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и </a:t>
            </a:r>
            <a:r>
              <a:rPr lang="ru-RU" sz="1600" u="sng" dirty="0">
                <a:solidFill>
                  <a:schemeClr val="tx1"/>
                </a:solidFill>
                <a:latin typeface="quote-cjk-patch"/>
              </a:rPr>
              <a:t>не видит 80% клиентов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chemeClr val="tx1"/>
              </a:solidFill>
              <a:latin typeface="quote-cjk-patch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quote-cjk-patch"/>
              </a:rPr>
              <a:t>Основной текст: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Большинство сайтов </a:t>
            </a:r>
            <a:r>
              <a:rPr lang="ru-RU" sz="1600" u="sng" dirty="0">
                <a:solidFill>
                  <a:schemeClr val="tx1"/>
                </a:solidFill>
                <a:latin typeface="quote-cjk-patch"/>
              </a:rPr>
              <a:t>страдают цифровой слепотой: они не видят пользователей смартфонов, не чувствуют их спешки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. Результат — потеря 30% аудитории из-за </a:t>
            </a:r>
            <a:r>
              <a:rPr lang="ru-RU" sz="1600" dirty="0" err="1">
                <a:solidFill>
                  <a:schemeClr val="tx1"/>
                </a:solidFill>
                <a:latin typeface="quote-cjk-patch"/>
              </a:rPr>
              <a:t>неадаптивности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 и плохого </a:t>
            </a:r>
            <a:r>
              <a:rPr lang="en-US" sz="1600" dirty="0">
                <a:solidFill>
                  <a:schemeClr val="tx1"/>
                </a:solidFill>
                <a:latin typeface="quote-cjk-patch"/>
              </a:rPr>
              <a:t>UX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(и это данные исследований). </a:t>
            </a:r>
            <a:r>
              <a:rPr lang="ru-RU" sz="1600" dirty="0" err="1">
                <a:solidFill>
                  <a:schemeClr val="tx1"/>
                </a:solidFill>
                <a:latin typeface="quote-cjk-patch"/>
              </a:rPr>
              <a:t>WebFlow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 даёт сайтам зрение и эмпатию. Мы создаём цифровых хамелеонов — платформы с </a:t>
            </a:r>
            <a:r>
              <a:rPr lang="ru-RU" sz="1600" u="sng" dirty="0">
                <a:solidFill>
                  <a:schemeClr val="tx1"/>
                </a:solidFill>
                <a:latin typeface="quote-cjk-patch"/>
              </a:rPr>
              <a:t>кристальной чистотой кода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, которые ощущают, кто перед экраном, и меняются: становятся быстрыми для телефона, уютными для планшета, впечатляющим и детальным для компьютера.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Это не просто разработка. Это </a:t>
            </a:r>
            <a:r>
              <a:rPr lang="ru-RU" sz="1600" u="sng" dirty="0">
                <a:solidFill>
                  <a:schemeClr val="tx1"/>
                </a:solidFill>
                <a:latin typeface="quote-cjk-patch"/>
              </a:rPr>
              <a:t>миниатюризация времени и сложности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: мы собрали идеальный конструктор из готовых модулей для вашего быстрого старта. Вы представляете, как ваши конкуренты, уже работая с нами, 25</a:t>
            </a:r>
            <a:r>
              <a:rPr lang="en-US" sz="1600" dirty="0">
                <a:solidFill>
                  <a:schemeClr val="tx1"/>
                </a:solidFill>
                <a:latin typeface="quote-cjk-patch"/>
              </a:rPr>
              <a:t>/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7</a:t>
            </a:r>
            <a:r>
              <a:rPr lang="en-US" sz="1600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увеличивают свои продажи, пока вы откладываете решение?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chemeClr val="tx1"/>
              </a:solidFill>
              <a:latin typeface="quote-cjk-patch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quote-cjk-patch"/>
              </a:rPr>
              <a:t>Сильный довод: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Результат — потеря 30% аудитории из-за </a:t>
            </a:r>
            <a:r>
              <a:rPr lang="ru-RU" sz="1600" dirty="0" err="1">
                <a:solidFill>
                  <a:schemeClr val="tx1"/>
                </a:solidFill>
                <a:latin typeface="quote-cjk-patch"/>
              </a:rPr>
              <a:t>неадаптивности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 и плохого </a:t>
            </a:r>
            <a:r>
              <a:rPr lang="en-US" sz="1600" dirty="0">
                <a:solidFill>
                  <a:schemeClr val="tx1"/>
                </a:solidFill>
                <a:latin typeface="quote-cjk-patch"/>
              </a:rPr>
              <a:t>UX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(и это данные исследований). </a:t>
            </a:r>
            <a:endParaRPr lang="en-US" sz="1600" b="1" dirty="0">
              <a:solidFill>
                <a:schemeClr val="tx1"/>
              </a:solidFill>
              <a:latin typeface="quote-cjk-patch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quote-cjk-patch"/>
              </a:rPr>
              <a:t>Слабый довод: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Вы представляете, как ваши конкуренты, уже работая с нами, </a:t>
            </a:r>
            <a:r>
              <a:rPr lang="ru-RU" sz="1600" u="sng" dirty="0">
                <a:solidFill>
                  <a:schemeClr val="tx1"/>
                </a:solidFill>
                <a:latin typeface="quote-cjk-patch"/>
              </a:rPr>
              <a:t>25</a:t>
            </a:r>
            <a:r>
              <a:rPr lang="en-US" sz="1600" u="sng" dirty="0">
                <a:solidFill>
                  <a:schemeClr val="tx1"/>
                </a:solidFill>
                <a:latin typeface="quote-cjk-patch"/>
              </a:rPr>
              <a:t>/</a:t>
            </a:r>
            <a:r>
              <a:rPr lang="ru-RU" sz="1600" u="sng" dirty="0">
                <a:solidFill>
                  <a:schemeClr val="tx1"/>
                </a:solidFill>
                <a:latin typeface="quote-cjk-patch"/>
              </a:rPr>
              <a:t>7</a:t>
            </a:r>
            <a:r>
              <a:rPr lang="en-US" sz="1600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увеличивают свои продажи, пока вы откладываете решение?</a:t>
            </a:r>
            <a:endParaRPr lang="en-US" sz="1600" dirty="0">
              <a:solidFill>
                <a:schemeClr val="tx1"/>
              </a:solidFill>
              <a:latin typeface="quote-cjk-patch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chemeClr val="tx1"/>
              </a:solidFill>
              <a:latin typeface="quote-cjk-patch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chemeClr val="tx1"/>
                </a:solidFill>
                <a:latin typeface="quote-cjk-patch"/>
              </a:rPr>
              <a:t>Эхо-фраза: 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“</a:t>
            </a:r>
            <a:r>
              <a:rPr lang="ru-RU" sz="1600" dirty="0" err="1">
                <a:solidFill>
                  <a:schemeClr val="tx1"/>
                </a:solidFill>
                <a:latin typeface="quote-cjk-patch"/>
              </a:rPr>
              <a:t>WebFlow</a:t>
            </a:r>
            <a:r>
              <a:rPr lang="ru-RU" sz="1600" dirty="0">
                <a:solidFill>
                  <a:schemeClr val="tx1"/>
                </a:solidFill>
                <a:latin typeface="quote-cjk-patch"/>
              </a:rPr>
              <a:t>: поток идей — поток клиентов!”</a:t>
            </a:r>
            <a:endParaRPr lang="ru-RU" sz="1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E7C4FF-F3DA-23A4-DC6B-D40A7115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12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5617E0-9B2E-52E5-CEB1-1A660693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84" y="829254"/>
            <a:ext cx="8877300" cy="1135517"/>
          </a:xfrm>
        </p:spPr>
        <p:txBody>
          <a:bodyPr>
            <a:noAutofit/>
          </a:bodyPr>
          <a:lstStyle/>
          <a:p>
            <a:r>
              <a:rPr lang="ru-RU" sz="1400" b="0" i="0" dirty="0">
                <a:solidFill>
                  <a:srgbClr val="343A40"/>
                </a:solidFill>
                <a:effectLst/>
                <a:latin typeface="+mn-lt"/>
              </a:rPr>
              <a:t>Разработка рекламного текста для своей разрабатываемой компании. В рекламном тексте должны быть использованы идеи из списка контрольных вопросов по Осборну и какой-либо из типовых приемов фантазирования, а также задействованы </a:t>
            </a:r>
            <a:r>
              <a:rPr lang="ru-RU" sz="1400" b="0" i="0" dirty="0" err="1">
                <a:solidFill>
                  <a:srgbClr val="343A40"/>
                </a:solidFill>
                <a:effectLst/>
                <a:latin typeface="+mn-lt"/>
              </a:rPr>
              <a:t>синестетические</a:t>
            </a:r>
            <a:r>
              <a:rPr lang="ru-RU" sz="1400" b="0" i="0" dirty="0">
                <a:solidFill>
                  <a:srgbClr val="343A40"/>
                </a:solidFill>
                <a:effectLst/>
                <a:latin typeface="+mn-lt"/>
              </a:rPr>
              <a:t> словосочетания.</a:t>
            </a:r>
            <a:br>
              <a:rPr lang="ru-RU" sz="1400" b="0" i="0" dirty="0">
                <a:solidFill>
                  <a:srgbClr val="343A40"/>
                </a:solidFill>
                <a:effectLst/>
                <a:latin typeface="+mn-lt"/>
              </a:rPr>
            </a:br>
            <a:br>
              <a:rPr lang="ru-RU" sz="1400" dirty="0">
                <a:latin typeface="+mn-lt"/>
              </a:rPr>
            </a:br>
            <a:endParaRPr lang="ru-RU" sz="1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DC855-5775-CFB0-C3B6-A7CA5337AD49}"/>
              </a:ext>
            </a:extLst>
          </p:cNvPr>
          <p:cNvSpPr txBox="1"/>
          <p:nvPr/>
        </p:nvSpPr>
        <p:spPr>
          <a:xfrm>
            <a:off x="2395959" y="6134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2651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слогана компании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3D1DC-6121-6B4F-87CF-E4EDF1CD724E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2174</TotalTime>
  <Words>801</Words>
  <Application>Microsoft Office PowerPoint</Application>
  <PresentationFormat>Широкоэкранный</PresentationFormat>
  <Paragraphs>107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2" baseType="lpstr">
      <vt:lpstr>Arial</vt:lpstr>
      <vt:lpstr>Verdana </vt:lpstr>
      <vt:lpstr>Gilroy Bold</vt:lpstr>
      <vt:lpstr>Gilroy Medium</vt:lpstr>
      <vt:lpstr>quote-cjk-patch</vt:lpstr>
      <vt:lpstr>Verdana</vt:lpstr>
      <vt:lpstr>Helvetica Neue</vt:lpstr>
      <vt:lpstr>DefaultFont</vt:lpstr>
      <vt:lpstr>Calibri</vt:lpstr>
      <vt:lpstr>Тема2</vt:lpstr>
      <vt:lpstr>Презентация PowerPoint</vt:lpstr>
      <vt:lpstr>Презентация PowerPoint</vt:lpstr>
      <vt:lpstr>Основные способы визуализации рекламного текста</vt:lpstr>
      <vt:lpstr>  Пластические возможности фонетики</vt:lpstr>
      <vt:lpstr>Создание синестетических словосочетаний;</vt:lpstr>
      <vt:lpstr>Конструирование минисюжетов с использованием контрольных вопросов Чарльза Осборна;</vt:lpstr>
      <vt:lpstr>Презентация PowerPoint</vt:lpstr>
      <vt:lpstr>Использование типовых приемов фантазирования.</vt:lpstr>
      <vt:lpstr>Анализ названия компании с точки зрения звукового восприятия.  </vt:lpstr>
      <vt:lpstr>Анализ компании с точки зрения звукового восприятия  </vt:lpstr>
      <vt:lpstr>Разработка рекламного текста для своей разрабатываемой компании. В рекламном тексте должны быть использованы идеи из списка контрольных вопросов по Осборну и какой-либо из типовых приемов фантазирования, а также задействованы синестетические словосочетания. 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Maibenben</dc:creator>
  <cp:lastModifiedBy>K</cp:lastModifiedBy>
  <cp:revision>85</cp:revision>
  <dcterms:created xsi:type="dcterms:W3CDTF">2024-05-27T20:04:35Z</dcterms:created>
  <dcterms:modified xsi:type="dcterms:W3CDTF">2025-12-09T08:11:33Z</dcterms:modified>
</cp:coreProperties>
</file>