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9"/>
  </p:notesMasterIdLst>
  <p:sldIdLst>
    <p:sldId id="256" r:id="rId2"/>
    <p:sldId id="257" r:id="rId3"/>
    <p:sldId id="268" r:id="rId4"/>
    <p:sldId id="269" r:id="rId5"/>
    <p:sldId id="270" r:id="rId6"/>
    <p:sldId id="267" r:id="rId7"/>
    <p:sldId id="258" r:id="rId8"/>
  </p:sldIdLst>
  <p:sldSz cx="12192000" cy="6858000"/>
  <p:notesSz cx="6858000" cy="9144000"/>
  <p:embeddedFontLst>
    <p:embeddedFont>
      <p:font typeface="Gilroy Bold" panose="00000800000000000000" charset="0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ilroy Medium" panose="00000600000000000000" charset="0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93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4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88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4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23.11.2025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23.11.2025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23.11.2025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23.11.2025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23.11.2025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23.11.2025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23.11.2025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23.11.2025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классического рекламного текста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</a:t>
            </a:r>
            <a:r>
              <a:rPr lang="ru-RU" dirty="0" smtClean="0">
                <a:latin typeface="Gilroy Medium" panose="00000600000000000000" charset="-52"/>
              </a:rPr>
              <a:t>Аароновна,</a:t>
            </a:r>
            <a:endParaRPr lang="ru-RU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</a:t>
            </a:r>
            <a:r>
              <a:rPr lang="ru-RU" dirty="0" smtClean="0">
                <a:latin typeface="Gilroy Medium" panose="00000600000000000000" charset="-52"/>
              </a:rPr>
              <a:t>Дмитриевич,</a:t>
            </a:r>
            <a:endParaRPr lang="ru-RU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</a:t>
            </a:r>
            <a:r>
              <a:rPr lang="ru-RU" dirty="0" smtClean="0">
                <a:latin typeface="Gilroy Medium" panose="00000600000000000000" charset="-52"/>
              </a:rPr>
              <a:t>Андреевич, группа 241-321</a:t>
            </a:r>
            <a:endParaRPr lang="ru-RU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Преподаватели: Смирнова Юлия Владимировна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9EF8-B780-5DED-62AA-D959F4639613}"/>
              </a:ext>
            </a:extLst>
          </p:cNvPr>
          <p:cNvSpPr txBox="1"/>
          <p:nvPr/>
        </p:nvSpPr>
        <p:spPr>
          <a:xfrm>
            <a:off x="2994457" y="3523035"/>
            <a:ext cx="620308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«Рекламный текст»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Gilroy Bold" panose="00000800000000000000" charset="-52"/>
                <a:ea typeface="+mj-ea"/>
                <a:cs typeface="+mj-cs"/>
              </a:rPr>
              <a:t>Цель</a:t>
            </a:r>
            <a:r>
              <a:rPr lang="ru-RU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изучить правила и особенности разработки рекламного текста как ведущего звена внешних корпоративных коммуникаций. Разработать </a:t>
            </a:r>
            <a:r>
              <a:rPr lang="ru-RU" dirty="0">
                <a:latin typeface="Gilroy Medium" panose="00000600000000000000" charset="-52"/>
              </a:rPr>
              <a:t>«работающий» рекламный текст.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  <a:p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404862"/>
            <a:ext cx="94640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Gilroy Medium" panose="00000600000000000000" charset="0"/>
                <a:ea typeface="+mj-ea"/>
                <a:cs typeface="+mj-cs"/>
              </a:rPr>
              <a:t>Рекламный текст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— это структурированное вербальное сообщение, являющееся основным инструментом передачи коммерческого предложения и ключевой идеи бренда целевой аудитории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en-US" dirty="0" smtClean="0">
              <a:latin typeface="Gilroy Medium" panose="00000600000000000000" charset="0"/>
              <a:ea typeface="+mj-ea"/>
              <a:cs typeface="+mj-cs"/>
            </a:endParaRPr>
          </a:p>
          <a:p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noProof="0" dirty="0" smtClean="0">
                <a:latin typeface="Gilroy Medium" panose="00000600000000000000" charset="0"/>
                <a:ea typeface="+mj-ea"/>
                <a:cs typeface="+mj-cs"/>
              </a:rPr>
              <a:t>Он нужен чтобы:</a:t>
            </a: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1. Привлечь внимание.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2. Вызвать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интерес к продукту или услуге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3. Сформировать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желание приобрести товар или воспользоваться услугой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4. Стимулировать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действие (покупку, заявку, звонок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).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5. Сделать образ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бренда 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более запоминающимся.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smtClean="0">
                <a:latin typeface="Gilroy Bold" panose="00000800000000000000" charset="-52"/>
                <a:ea typeface="+mj-ea"/>
                <a:cs typeface="+mj-cs"/>
              </a:rPr>
              <a:t>Рекламный текст: назначение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546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478340"/>
            <a:ext cx="94640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Классическая модель «</a:t>
            </a:r>
            <a:r>
              <a:rPr lang="en-US" dirty="0" smtClean="0">
                <a:latin typeface="Gilroy Medium" panose="00000600000000000000" charset="0"/>
                <a:ea typeface="+mj-ea"/>
                <a:cs typeface="+mj-cs"/>
              </a:rPr>
              <a:t>AIDA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»</a:t>
            </a:r>
            <a:r>
              <a:rPr lang="en-US" dirty="0" smtClean="0">
                <a:latin typeface="Gilroy Medium" panose="00000600000000000000" charset="0"/>
                <a:ea typeface="+mj-ea"/>
                <a:cs typeface="+mj-cs"/>
              </a:rPr>
              <a:t> (Attention, Interest, Desire, Action)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 для составления рекламных текстов включает в себя:</a:t>
            </a:r>
          </a:p>
          <a:p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1. Зачин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(Цепляющий заголовок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) – нужен для привлечения внимания.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«Хотите превратить посетителей в реальных клиентов?»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2. Основной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текст (Раскрытие 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предложения) – помогает разжечь интерес лида,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сформировать желание. Здесь приводятся аргументы, выгоды и факты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«...создаем сайты, которые... эффективно решают задачи бизнеса... оснащены аналитикой...»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3. Эхо-фраза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(Слоган или призыв к 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действию) – нужен чтобы подтолкнуть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к действию и закрепить ключевую мысль в памяти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«WebFlow — ваш сайт, ваш успех!»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smtClean="0">
                <a:latin typeface="Gilroy Bold" panose="00000800000000000000" charset="-52"/>
                <a:ea typeface="+mj-ea"/>
                <a:cs typeface="+mj-cs"/>
              </a:rPr>
              <a:t>Рекламный текст: структура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980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853897"/>
            <a:ext cx="94640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1. Использование риторического вопроса: заставляет задуматься и помогает вовлечь аудиторию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в диалог.</a:t>
            </a: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Пример: «Хотите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превратить посетителей в реальных клиентов?»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2. Акцент на проблеме/боли: сразу дает понять, чем занимается компания и какую выгоду получает клиент. </a:t>
            </a: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Пример: «Устали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от низких продаж с сайта?»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3. Интрига/Неожиданное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утверждение: 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нарушает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шаблон мышления, чтобы зацепить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</a:t>
            </a:r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Пример: «95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% ваших клиентов уходят с сайта навсегда. Мы знаем, как это исправить</a:t>
            </a:r>
            <a:r>
              <a:rPr lang="ru-RU" dirty="0" smtClean="0">
                <a:latin typeface="Gilroy Medium" panose="00000600000000000000" charset="0"/>
                <a:ea typeface="+mj-ea"/>
                <a:cs typeface="+mj-cs"/>
              </a:rPr>
              <a:t>.» Цифры и факты сразу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создают впечатление конкретики и экспертизы.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noProof="0" dirty="0" smtClean="0">
                <a:latin typeface="Gilroy Bold" panose="00000800000000000000" charset="-52"/>
                <a:ea typeface="+mj-ea"/>
                <a:cs typeface="+mj-cs"/>
              </a:rPr>
              <a:t>Креативные приемы создания зачина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164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 smtClean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 smtClean="0">
                <a:latin typeface="Gilroy Medium" panose="00000600000000000000" charset="-52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</a:t>
            </a:r>
            <a:r>
              <a:rPr kumimoji="0" lang="ru-RU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241-321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Рекламный текст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873F8-A12F-4654-B2D4-D4D405405AC5}"/>
              </a:ext>
            </a:extLst>
          </p:cNvPr>
          <p:cNvSpPr txBox="1"/>
          <p:nvPr/>
        </p:nvSpPr>
        <p:spPr>
          <a:xfrm>
            <a:off x="130029" y="1241082"/>
            <a:ext cx="1154654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Gilroy Bold" panose="00000800000000000000" charset="-52"/>
              </a:rPr>
              <a:t>"Хотите превратить посетителей в реальных клиентов?"</a:t>
            </a:r>
          </a:p>
          <a:p>
            <a:endParaRPr lang="ru-RU" sz="1600" dirty="0">
              <a:latin typeface="Gilroy Medium" panose="00000600000000000000" charset="-52"/>
            </a:endParaRPr>
          </a:p>
          <a:p>
            <a:r>
              <a:rPr lang="ru-RU" sz="1600" b="1" dirty="0">
                <a:latin typeface="Gilroy Bold" panose="00000800000000000000" charset="-52"/>
              </a:rPr>
              <a:t>Основной текст</a:t>
            </a:r>
            <a:r>
              <a:rPr lang="en-US" sz="1600" b="1" dirty="0">
                <a:latin typeface="Gilroy Bold" panose="00000800000000000000" charset="-52"/>
              </a:rPr>
              <a:t>: </a:t>
            </a:r>
            <a:r>
              <a:rPr lang="ru-RU" sz="1600" dirty="0" smtClean="0">
                <a:latin typeface="Gilroy Medium" panose="00000600000000000000" charset="-52"/>
              </a:rPr>
              <a:t>Наша </a:t>
            </a:r>
            <a:r>
              <a:rPr lang="ru-RU" sz="1600" dirty="0">
                <a:latin typeface="Gilroy Medium" panose="00000600000000000000" charset="-52"/>
              </a:rPr>
              <a:t>веб-студия </a:t>
            </a:r>
            <a:r>
              <a:rPr lang="ru-RU" sz="1600" dirty="0" smtClean="0">
                <a:latin typeface="Gilroy Medium" panose="00000600000000000000" charset="-52"/>
              </a:rPr>
              <a:t>Web</a:t>
            </a:r>
            <a:r>
              <a:rPr lang="en-US" sz="1600" dirty="0" smtClean="0">
                <a:latin typeface="Gilroy Medium" panose="00000600000000000000" charset="-52"/>
              </a:rPr>
              <a:t>Flow</a:t>
            </a:r>
            <a:r>
              <a:rPr lang="ru-RU" sz="1600" dirty="0" smtClean="0">
                <a:latin typeface="Gilroy Medium" panose="00000600000000000000" charset="-52"/>
              </a:rPr>
              <a:t> </a:t>
            </a:r>
            <a:r>
              <a:rPr lang="ru-RU" sz="1600" dirty="0">
                <a:latin typeface="Gilroy Medium" panose="00000600000000000000" charset="-52"/>
              </a:rPr>
              <a:t>— это команда, создающая сайты, которые не просто красивы, но и функциональны, эффективно решая задачи бизнеса. Каждый день, пока вы с нами не работаете, ваш сайт теряет в конверсии, а бизнес — в прибыли. </a:t>
            </a:r>
            <a:endParaRPr lang="en-US" sz="1600" dirty="0" smtClean="0">
              <a:latin typeface="Gilroy Medium" panose="00000600000000000000" charset="-52"/>
            </a:endParaRPr>
          </a:p>
          <a:p>
            <a:endParaRPr lang="en-US" sz="1600" dirty="0" smtClean="0">
              <a:latin typeface="Gilroy Medium" panose="00000600000000000000" charset="-52"/>
            </a:endParaRPr>
          </a:p>
          <a:p>
            <a:r>
              <a:rPr lang="ru-RU" sz="1600" dirty="0" smtClean="0">
                <a:latin typeface="Gilroy Medium" panose="00000600000000000000" charset="-52"/>
              </a:rPr>
              <a:t>Сайты </a:t>
            </a:r>
            <a:r>
              <a:rPr lang="ru-RU" sz="1600" dirty="0">
                <a:latin typeface="Gilroy Medium" panose="00000600000000000000" charset="-52"/>
              </a:rPr>
              <a:t>от </a:t>
            </a:r>
            <a:r>
              <a:rPr lang="ru-RU" sz="1600" dirty="0" smtClean="0">
                <a:latin typeface="Gilroy Medium" panose="00000600000000000000" charset="-52"/>
              </a:rPr>
              <a:t>Web</a:t>
            </a:r>
            <a:r>
              <a:rPr lang="en-US" sz="1600" dirty="0" smtClean="0">
                <a:latin typeface="Gilroy Medium" panose="00000600000000000000" charset="-52"/>
              </a:rPr>
              <a:t>Flow</a:t>
            </a:r>
            <a:r>
              <a:rPr lang="ru-RU" sz="1600" dirty="0" smtClean="0">
                <a:latin typeface="Gilroy Medium" panose="00000600000000000000" charset="-52"/>
              </a:rPr>
              <a:t> </a:t>
            </a:r>
            <a:r>
              <a:rPr lang="ru-RU" sz="1600" dirty="0">
                <a:latin typeface="Gilroy Medium" panose="00000600000000000000" charset="-52"/>
              </a:rPr>
              <a:t>оснащены аналитикой и инструментами для продвижения, чтобы вы могли измерять каждый шаг и улучшать свои показатели. Мы помогаем малому и среднему бизнесу уверенно выходить в онлайн и усиливать позиции на рынке. </a:t>
            </a:r>
            <a:endParaRPr lang="en-US" sz="1600" dirty="0" smtClean="0">
              <a:latin typeface="Gilroy Medium" panose="00000600000000000000" charset="-52"/>
            </a:endParaRPr>
          </a:p>
          <a:p>
            <a:endParaRPr lang="en-US" sz="1600" dirty="0">
              <a:latin typeface="Gilroy Medium" panose="00000600000000000000" charset="-52"/>
            </a:endParaRPr>
          </a:p>
          <a:p>
            <a:r>
              <a:rPr lang="ru-RU" sz="1600" dirty="0" smtClean="0">
                <a:latin typeface="Gilroy Medium" panose="00000600000000000000" charset="-52"/>
              </a:rPr>
              <a:t>Пока </a:t>
            </a:r>
            <a:r>
              <a:rPr lang="ru-RU" sz="1600" dirty="0">
                <a:latin typeface="Gilroy Medium" panose="00000600000000000000" charset="-52"/>
              </a:rPr>
              <a:t>ваш сайт остается сложным для пользователей, часть клиентов может покинуть его, так и не добравшись до нужной информации. Мы предлагаем решения, которые просты, удобны и интуитивно понятны каждому. В нашем портфолио — успешные проекты, созданные с акцентом на современные технологии и удобство использования.</a:t>
            </a:r>
          </a:p>
          <a:p>
            <a:endParaRPr lang="ru-RU" sz="1600" dirty="0">
              <a:latin typeface="Gilroy Medium" panose="00000600000000000000" charset="-52"/>
            </a:endParaRPr>
          </a:p>
          <a:p>
            <a:r>
              <a:rPr lang="ru-RU" sz="1600" b="1" dirty="0">
                <a:latin typeface="Gilroy Bold" panose="00000800000000000000" charset="-52"/>
              </a:rPr>
              <a:t>Сильный довод</a:t>
            </a:r>
            <a:r>
              <a:rPr lang="ru-RU" sz="1600" dirty="0">
                <a:latin typeface="Gilroy Bold" panose="00000800000000000000" charset="-52"/>
              </a:rPr>
              <a:t> </a:t>
            </a:r>
            <a:r>
              <a:rPr lang="ru-RU" sz="1600" dirty="0">
                <a:latin typeface="Gilroy Medium" panose="00000600000000000000" charset="-52"/>
              </a:rPr>
              <a:t>— Каждый день, пока вы с нами не работаете, ваш сайт теряет в конверсии, а бизнес — в прибыли.</a:t>
            </a:r>
          </a:p>
          <a:p>
            <a:endParaRPr lang="ru-RU" sz="1600" dirty="0">
              <a:latin typeface="Gilroy Medium" panose="00000600000000000000" charset="-52"/>
            </a:endParaRPr>
          </a:p>
          <a:p>
            <a:r>
              <a:rPr lang="ru-RU" sz="1600" b="1" dirty="0">
                <a:latin typeface="Gilroy Bold" panose="00000800000000000000" charset="-52"/>
              </a:rPr>
              <a:t>Слабый довод</a:t>
            </a:r>
            <a:r>
              <a:rPr lang="ru-RU" sz="1600" dirty="0">
                <a:latin typeface="Gilroy Medium" panose="00000600000000000000" charset="-52"/>
              </a:rPr>
              <a:t> — Пока ваш сайт остается сложным для пользователей, часть клиентов может покинуть его, так и не добравшись до нужной информации.</a:t>
            </a:r>
          </a:p>
          <a:p>
            <a:endParaRPr lang="ru-RU" sz="1600" dirty="0">
              <a:latin typeface="Gilroy Medium" panose="00000600000000000000" charset="-52"/>
            </a:endParaRPr>
          </a:p>
          <a:p>
            <a:r>
              <a:rPr lang="ru-RU" sz="1600" b="1" dirty="0">
                <a:latin typeface="Gilroy Bold" panose="00000800000000000000" charset="-52"/>
              </a:rPr>
              <a:t>Эхо-фраза:</a:t>
            </a:r>
            <a:r>
              <a:rPr lang="ru-RU" sz="1600" dirty="0">
                <a:latin typeface="Gilroy Medium" panose="00000600000000000000" charset="-52"/>
              </a:rPr>
              <a:t> </a:t>
            </a:r>
            <a:r>
              <a:rPr lang="en-US" sz="1600" dirty="0" smtClean="0">
                <a:latin typeface="Gilroy Medium" panose="00000600000000000000" charset="-52"/>
              </a:rPr>
              <a:t>“</a:t>
            </a:r>
            <a:r>
              <a:rPr lang="ru-RU" sz="1600" dirty="0" smtClean="0">
                <a:latin typeface="Gilroy Medium" panose="00000600000000000000" charset="-52"/>
              </a:rPr>
              <a:t>Web</a:t>
            </a:r>
            <a:r>
              <a:rPr lang="en-US" sz="1600" dirty="0" smtClean="0">
                <a:latin typeface="Gilroy Medium" panose="00000600000000000000" charset="-52"/>
              </a:rPr>
              <a:t>Flow</a:t>
            </a:r>
            <a:r>
              <a:rPr lang="ru-RU" sz="1600" dirty="0" smtClean="0">
                <a:latin typeface="Gilroy Medium" panose="00000600000000000000" charset="-52"/>
              </a:rPr>
              <a:t> </a:t>
            </a:r>
            <a:r>
              <a:rPr lang="ru-RU" sz="1600" dirty="0">
                <a:latin typeface="Gilroy Medium" panose="00000600000000000000" charset="-52"/>
              </a:rPr>
              <a:t>— ваш сайт, ваш успех!</a:t>
            </a:r>
            <a:r>
              <a:rPr lang="en-US" sz="1600" dirty="0">
                <a:latin typeface="Gilroy Medium" panose="00000600000000000000" charset="-52"/>
              </a:rPr>
              <a:t>”</a:t>
            </a:r>
            <a:endParaRPr lang="ru-RU" sz="1600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1147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77777" y="3718471"/>
            <a:ext cx="6636443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</a:t>
            </a:r>
            <a:r>
              <a:rPr lang="ru-RU" dirty="0" smtClean="0">
                <a:latin typeface="Gilroy Medium" panose="00000600000000000000" charset="-52"/>
              </a:rPr>
              <a:t>Аароновна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</a:t>
            </a:r>
            <a:r>
              <a:rPr lang="ru-RU" dirty="0" smtClean="0">
                <a:latin typeface="Gilroy Medium" panose="00000600000000000000" charset="-52"/>
              </a:rPr>
              <a:t>Дмитриевич</a:t>
            </a:r>
            <a:r>
              <a:rPr lang="en-US" dirty="0" smtClean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</a:t>
            </a:r>
            <a:r>
              <a:rPr lang="ru-RU" dirty="0" smtClean="0">
                <a:latin typeface="Gilroy Medium" panose="00000600000000000000" charset="-52"/>
              </a:rPr>
              <a:t>Андреевич, группа 241-321.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Преподаватели: Смирнова Юлия </a:t>
            </a:r>
            <a:r>
              <a:rPr lang="ru-RU" dirty="0" smtClean="0">
                <a:latin typeface="Gilroy Medium" panose="00000600000000000000" charset="-52"/>
              </a:rPr>
              <a:t>Владимировна</a:t>
            </a:r>
            <a:r>
              <a:rPr lang="en-US" dirty="0" smtClean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классического рекламного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1030</TotalTime>
  <Words>685</Words>
  <Application>Microsoft Office PowerPoint</Application>
  <PresentationFormat>Widescreen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Gilroy Bold</vt:lpstr>
      <vt:lpstr>Calibri</vt:lpstr>
      <vt:lpstr>Gilroy Medium</vt:lpstr>
      <vt:lpstr>Verdana</vt:lpstr>
      <vt:lpstr>Тема2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alina</cp:lastModifiedBy>
  <cp:revision>74</cp:revision>
  <dcterms:created xsi:type="dcterms:W3CDTF">2024-05-27T20:04:35Z</dcterms:created>
  <dcterms:modified xsi:type="dcterms:W3CDTF">2025-11-23T16:18:11Z</dcterms:modified>
</cp:coreProperties>
</file>