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0"/>
  </p:notesMasterIdLst>
  <p:sldIdLst>
    <p:sldId id="256" r:id="rId2"/>
    <p:sldId id="257" r:id="rId3"/>
    <p:sldId id="267" r:id="rId4"/>
    <p:sldId id="273" r:id="rId5"/>
    <p:sldId id="274" r:id="rId6"/>
    <p:sldId id="272" r:id="rId7"/>
    <p:sldId id="275" r:id="rId8"/>
    <p:sldId id="258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ilroy Bold" panose="00000800000000000000" charset="-52"/>
      <p:bold r:id="rId15"/>
    </p:embeddedFont>
    <p:embeddedFont>
      <p:font typeface="Gilroy Medium" panose="00000600000000000000" charset="-52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4" autoAdjust="0"/>
    <p:restoredTop sz="94660"/>
  </p:normalViewPr>
  <p:slideViewPr>
    <p:cSldViewPr snapToGrid="0">
      <p:cViewPr varScale="1">
        <p:scale>
          <a:sx n="86" d="100"/>
          <a:sy n="86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998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2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02.12.2025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02.12.2025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02.12.2025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02.12.2025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02.12.2025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02.12.2025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-30347" y="2762884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 i="0" u="none" strike="noStrike" dirty="0">
                <a:effectLst/>
                <a:latin typeface="Gilroy Bold" panose="00000800000000000000" charset="0"/>
              </a:rPr>
              <a:t>Разработка имени и слогана компании</a:t>
            </a:r>
            <a:endParaRPr kumimoji="0" lang="ru-RU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Аароновна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Романов Александр Дмитриевич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Андреевич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Преподаватели: Смирнова Юлия Владимировна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Каматали</a:t>
            </a:r>
            <a:r>
              <a:rPr kumimoji="0" lang="ru-RU" sz="1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241-321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584422" cy="1292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Gilroy Bold" panose="00000800000000000000" charset="-52"/>
                <a:ea typeface="+mj-ea"/>
                <a:cs typeface="+mj-cs"/>
              </a:rPr>
              <a:t>Цель</a:t>
            </a:r>
            <a:r>
              <a:rPr lang="ru-RU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b="0" i="0" u="none" strike="noStrike" dirty="0">
                <a:effectLst/>
                <a:latin typeface="Gilroy Medium" panose="00000600000000000000" charset="0"/>
              </a:rPr>
              <a:t>Изучение правил и особенностей разработки рекламного имени и слогана компании как основных констант фирменного стиля. Выработка навыков работы с текстом и логической аргументации.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72939" y="1426120"/>
            <a:ext cx="11512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272939" y="453971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0"/>
              </a:rPr>
              <a:t>Создание нейма компании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C1B33-4300-5248-40BE-40C9D1269531}"/>
              </a:ext>
            </a:extLst>
          </p:cNvPr>
          <p:cNvSpPr txBox="1"/>
          <p:nvPr/>
        </p:nvSpPr>
        <p:spPr>
          <a:xfrm>
            <a:off x="272939" y="1273836"/>
            <a:ext cx="101955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Создание названия компании (нейминг) — это креативный процесс, в котором нужно учитывать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множество факторов:</a:t>
            </a:r>
          </a:p>
          <a:p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1) целевую аудиторию,</a:t>
            </a: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2) ценности компании и ассоциации, которые должно вызывать имя,</a:t>
            </a: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3) замопинаемость,</a:t>
            </a: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4) уникальность,</a:t>
            </a: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5) произносимость,</a:t>
            </a: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6) языковые особенности.</a:t>
            </a:r>
          </a:p>
          <a:p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В рамках данной работы нами было придумано название «</a:t>
            </a:r>
            <a:r>
              <a:rPr lang="en-US" dirty="0" err="1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WebFlow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». </a:t>
            </a:r>
          </a:p>
          <a:p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Обоснование: ключевое слово 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Web – 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прямая ассоциация с веб-разработкой, интернетом и технологиями.</a:t>
            </a:r>
          </a:p>
          <a:p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Flow –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 поток на английском. Ассоциируется с плавностью процесса разработки и современностью.</a:t>
            </a:r>
          </a:p>
          <a:p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Каматали</a:t>
            </a:r>
            <a:r>
              <a:rPr kumimoji="0" lang="ru-RU" sz="1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241-321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1147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72939" y="1426120"/>
            <a:ext cx="11512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272939" y="420673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0"/>
              </a:rPr>
              <a:t>Приемы создания </a:t>
            </a:r>
            <a:r>
              <a:rPr lang="ru-RU" sz="3200" dirty="0" err="1">
                <a:latin typeface="Gilroy Bold" panose="00000800000000000000" charset="0"/>
              </a:rPr>
              <a:t>нейма</a:t>
            </a:r>
            <a:r>
              <a:rPr lang="ru-RU" sz="3200" dirty="0">
                <a:latin typeface="Gilroy Bold" panose="00000800000000000000" charset="0"/>
              </a:rPr>
              <a:t> компании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C1B33-4300-5248-40BE-40C9D1269531}"/>
              </a:ext>
            </a:extLst>
          </p:cNvPr>
          <p:cNvSpPr txBox="1"/>
          <p:nvPr/>
        </p:nvSpPr>
        <p:spPr>
          <a:xfrm>
            <a:off x="272939" y="1005448"/>
            <a:ext cx="1019556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1. Использование значимых слов и ассоциаций:</a:t>
            </a: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Например,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Apple"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для компании, ориентированной на простоту и доступность,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Nike"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ассоциируется с победой (это имя богини победы в греческой мифологии). </a:t>
            </a:r>
          </a:p>
          <a:p>
            <a:endParaRPr lang="ru-RU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2. Составные слова (комбинации)</a:t>
            </a: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Для создания названия компании можно объединить два или более слова,описывающих бизнес. Пример —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Facebook" (face + book)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или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YouTube" (you + tube).</a:t>
            </a:r>
          </a:p>
          <a:p>
            <a:endParaRPr lang="ru-RU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3.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Акронимы, аббревиатуры:</a:t>
            </a: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Например,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BMW"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– баварские моторные заводы 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(Bayerische Motoren Werke)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или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KFC" (Kentucky Fried Chicken).</a:t>
            </a:r>
          </a:p>
          <a:p>
            <a:endParaRPr lang="ru-RU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4. Говорящая фамилия. Например, «Быстров» - продукты быстрого приготовления, «Мистер Мускул» - бытовая химия для уборки.</a:t>
            </a:r>
          </a:p>
          <a:p>
            <a:endParaRPr lang="ru-RU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5. Игра слов, метонимия, метафора, сокращение</a:t>
            </a: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Использовать рифму, например,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Snack Attack"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для компании по доставке закусок. Мастерская «Золотые руки», продуктовый «скатерть -самобранка»</a:t>
            </a: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Аллитерация: Повторение одинаковых звуков в словах. Пример —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Best Buy" </a:t>
            </a:r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или "</a:t>
            </a:r>
            <a:r>
              <a:rPr lang="en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Dunkin' Donuts«</a:t>
            </a:r>
            <a:endParaRPr lang="ru-RU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pPr lvl="1"/>
            <a:r>
              <a:rPr lang="ru-RU" sz="1600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Фантастика – «Фанта»</a:t>
            </a:r>
            <a:endParaRPr lang="en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Каматали</a:t>
            </a:r>
            <a:r>
              <a:rPr kumimoji="0" lang="ru-RU" sz="1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241-321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825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72939" y="1426120"/>
            <a:ext cx="11512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272939" y="338622"/>
            <a:ext cx="9069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charset="0"/>
                <a:ea typeface="+mj-ea"/>
                <a:cs typeface="+mj-cs"/>
              </a:rPr>
              <a:t>Создание слогана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C1B33-4300-5248-40BE-40C9D1269531}"/>
              </a:ext>
            </a:extLst>
          </p:cNvPr>
          <p:cNvSpPr txBox="1"/>
          <p:nvPr/>
        </p:nvSpPr>
        <p:spPr>
          <a:xfrm>
            <a:off x="272939" y="1005448"/>
            <a:ext cx="1019556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0"/>
              </a:rPr>
              <a:t>Слоган – это короткая фраза, сжато передающая основное рекламное сообщение. Это краткая, запоминающаяся формула, которая концентрирует в себе ключевую идею, ценность или позицию бренда. Он является стратегическим элементом идентичности, обеспечивая единство и узнаваемость всех коммуникаций. </a:t>
            </a:r>
            <a:endParaRPr lang="en-US" dirty="0">
              <a:latin typeface="Gilroy Medium" panose="00000600000000000000" charset="0"/>
            </a:endParaRPr>
          </a:p>
          <a:p>
            <a:endParaRPr lang="en-US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Слоган:</a:t>
            </a:r>
          </a:p>
          <a:p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pPr marL="342900" indent="-342900">
              <a:buAutoNum type="arabicParenR"/>
            </a:pP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отличает бренд от конкурентов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;</a:t>
            </a:r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pPr marL="342900" indent="-342900">
              <a:buAutoNum type="arabicParenR"/>
            </a:pP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выражает УТП, конкурентное преимущество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и обещания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;</a:t>
            </a:r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pPr marL="342900" indent="-342900">
              <a:buAutoNum type="arabicParenR"/>
            </a:pP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создает доверие и лояльность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;</a:t>
            </a:r>
          </a:p>
          <a:p>
            <a:pPr marL="342900" indent="-342900">
              <a:buAutoNum type="arabicParenR"/>
            </a:pP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помогает позиционировать компанию.</a:t>
            </a:r>
          </a:p>
          <a:p>
            <a:pPr marL="342900" indent="-342900">
              <a:buAutoNum type="arabicParenR"/>
            </a:pPr>
            <a:endParaRPr lang="ru-RU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Слоган должен отличатся оригинальностью, аутентичностью, запоминаемостью и релевантностью. Например, 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“Just do it” (Nike), “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Чистота – чисто Тайд</a:t>
            </a:r>
            <a:r>
              <a:rPr lang="en-US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”</a:t>
            </a:r>
            <a:r>
              <a:rPr lang="ru-RU" dirty="0">
                <a:latin typeface="Gilroy Medium" panose="00000600000000000000" charset="0"/>
                <a:ea typeface="Grantha Sangam MN" pitchFamily="2" charset="0"/>
                <a:cs typeface="Calibri" panose="020F0502020204030204" pitchFamily="34" charset="0"/>
              </a:rPr>
              <a:t>, «Без треда – не только в интернет» (Билайн).</a:t>
            </a:r>
            <a:endParaRPr lang="en-US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  <a:p>
            <a:pPr marL="342900" indent="-342900">
              <a:buAutoNum type="arabicParenR"/>
            </a:pPr>
            <a:endParaRPr lang="en" sz="1600" dirty="0">
              <a:latin typeface="Gilroy Medium" panose="00000600000000000000" charset="0"/>
              <a:ea typeface="Grantha Sangam MN" pitchFamily="2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Каматали</a:t>
            </a:r>
            <a:r>
              <a:rPr kumimoji="0" lang="ru-RU" sz="11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241-321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6816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9BEA4F9-213F-38E5-0944-C803757E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44" y="1272914"/>
            <a:ext cx="10281557" cy="47336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1. </a:t>
            </a:r>
            <a:r>
              <a:rPr lang="ru-RU" sz="1600" b="1" dirty="0"/>
              <a:t>«WebFlow: Поток идей, поток клиентов.»</a:t>
            </a:r>
          </a:p>
          <a:p>
            <a:pPr marL="0" indent="0">
              <a:buNone/>
            </a:pPr>
            <a:r>
              <a:rPr lang="ru-RU" sz="1600" dirty="0"/>
              <a:t>Создает мощную ассоциацию: наша работа (поток идей) напрямую ведет к вашему результату (поток клиентов). Название становится метафорой непрерывного движения и роста. Слоган ритмичный и легко запоминается.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2. </a:t>
            </a:r>
            <a:r>
              <a:rPr lang="ru-RU" sz="1600" b="1" dirty="0"/>
              <a:t>«Сложные технологии. Простой результат».</a:t>
            </a:r>
            <a:r>
              <a:rPr lang="en-US" sz="1600" b="1" dirty="0"/>
              <a:t> </a:t>
            </a:r>
            <a:r>
              <a:rPr lang="ru-RU" sz="1600" dirty="0"/>
              <a:t> </a:t>
            </a:r>
          </a:p>
          <a:p>
            <a:pPr marL="0" indent="0">
              <a:buNone/>
            </a:pPr>
            <a:r>
              <a:rPr lang="ru-RU" sz="1600" dirty="0"/>
              <a:t>Короткий, запоминающийся слоган, который обещает клиенту именно то, что ему нужно — понятный и работающий инструмент. Он говорит: "Мы делаем всю сложную работу за вас, а вы получаете готовый инструмент для роста".</a:t>
            </a:r>
          </a:p>
          <a:p>
            <a:pPr marL="0" indent="0">
              <a:buNone/>
            </a:pPr>
            <a:r>
              <a:rPr lang="ru-RU" sz="1600" b="1" dirty="0"/>
              <a:t>3. «Современные сайты для современного бизнеса.»</a:t>
            </a:r>
          </a:p>
          <a:p>
            <a:pPr marL="0" indent="0">
              <a:buNone/>
            </a:pPr>
            <a:r>
              <a:rPr lang="ru-RU" sz="1600" b="1" dirty="0"/>
              <a:t> </a:t>
            </a:r>
            <a:r>
              <a:rPr lang="ru-RU" sz="1600" dirty="0"/>
              <a:t>Создает четкую ассоциацию между компанией и актуальными тенденциями.</a:t>
            </a:r>
          </a:p>
          <a:p>
            <a:pPr marL="0" indent="0">
              <a:buNone/>
            </a:pPr>
            <a:r>
              <a:rPr lang="ru-RU" sz="1600" b="1" dirty="0"/>
              <a:t>4. «Ваш бизнес — наша разработка.»</a:t>
            </a:r>
          </a:p>
          <a:p>
            <a:pPr marL="0" indent="0">
              <a:buNone/>
            </a:pPr>
            <a:r>
              <a:rPr lang="ru-RU" sz="1600" dirty="0"/>
              <a:t>оказывает, что команда не просто исполнитель, а партнер, который вкладывает все свои силы («наша разработка») в успех клиента («ваш бизнес»).</a:t>
            </a:r>
          </a:p>
          <a:p>
            <a:pPr marL="0" indent="0">
              <a:buNone/>
            </a:pPr>
            <a:r>
              <a:rPr lang="ru-RU" sz="1600" b="1" dirty="0"/>
              <a:t>5. «Безупречный код. Бесперебойный клиент.»</a:t>
            </a:r>
          </a:p>
          <a:p>
            <a:pPr marL="0" indent="0">
              <a:buNone/>
            </a:pPr>
            <a:r>
              <a:rPr lang="ru-RU" sz="1600" dirty="0"/>
              <a:t>Игра слов. "Мы берем на себя всю техническую сложность, чтобы вы могли заниматься своим бизнесом без лишних хлопот". Это снимает главную "боль" заказчика.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6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44" y="232588"/>
            <a:ext cx="8877300" cy="922881"/>
          </a:xfrm>
        </p:spPr>
        <p:txBody>
          <a:bodyPr/>
          <a:lstStyle/>
          <a:p>
            <a:r>
              <a:rPr lang="ru-RU" dirty="0"/>
              <a:t>Разработка слогана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41300" y="6329985"/>
            <a:ext cx="6096000" cy="4871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5033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9BEA4F9-213F-38E5-0944-C803757E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44" y="1272914"/>
            <a:ext cx="11770521" cy="48156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highlight>
                  <a:srgbClr val="00FF00"/>
                </a:highlight>
              </a:rPr>
              <a:t>1. </a:t>
            </a:r>
            <a:r>
              <a:rPr lang="ru-RU" sz="3200" b="1" dirty="0">
                <a:highlight>
                  <a:srgbClr val="00FF00"/>
                </a:highlight>
              </a:rPr>
              <a:t>«WebFlow: Поток идей - поток клиентов.»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/>
              <a:t>2. </a:t>
            </a:r>
            <a:r>
              <a:rPr lang="ru-RU" sz="3200" b="1" dirty="0"/>
              <a:t>«Сложные технологии. Простой результат».</a:t>
            </a:r>
            <a:r>
              <a:rPr lang="en-US" sz="3200" b="1" dirty="0"/>
              <a:t> </a:t>
            </a:r>
            <a:r>
              <a:rPr lang="ru-RU" sz="32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/>
              <a:t>3. «Современные сайты для современного бизнеса.»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/>
              <a:t>4. «Ваш бизнес — наша разработка.»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3200" b="1" dirty="0"/>
              <a:t>5. «Безупречный код. Бесперебойный клиент.»</a:t>
            </a:r>
          </a:p>
          <a:p>
            <a:pPr marL="0" indent="0">
              <a:lnSpc>
                <a:spcPct val="150000"/>
              </a:lnSpc>
              <a:buNone/>
            </a:pPr>
            <a:endParaRPr lang="ru-RU" sz="3600" dirty="0"/>
          </a:p>
          <a:p>
            <a:pPr marL="0" indent="0">
              <a:lnSpc>
                <a:spcPct val="150000"/>
              </a:lnSpc>
              <a:buNone/>
            </a:pPr>
            <a:endParaRPr lang="ru-RU" sz="3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7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44" y="232588"/>
            <a:ext cx="8877300" cy="922881"/>
          </a:xfrm>
        </p:spPr>
        <p:txBody>
          <a:bodyPr/>
          <a:lstStyle/>
          <a:p>
            <a:r>
              <a:rPr lang="ru-RU" dirty="0"/>
              <a:t>Разработка слогана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41300" y="6329985"/>
            <a:ext cx="6096000" cy="4871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Каматали А.А, Романов А.Д, Андронов Д.А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– группа 241-321</a:t>
            </a:r>
          </a:p>
          <a:p>
            <a:pPr lvl="0">
              <a:lnSpc>
                <a:spcPts val="1600"/>
              </a:lnSpc>
              <a:defRPr/>
            </a:pPr>
            <a:endParaRPr lang="ru-RU" sz="1100" dirty="0">
              <a:solidFill>
                <a:prstClr val="black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2564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77777" y="3718471"/>
            <a:ext cx="6636443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Каматали Алина Аароновна,</a:t>
            </a: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Романов Александр Дмитриевич,</a:t>
            </a: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Андронов Денис Андреевич,</a:t>
            </a:r>
          </a:p>
          <a:p>
            <a:pPr algn="ctr">
              <a:lnSpc>
                <a:spcPts val="2000"/>
              </a:lnSpc>
            </a:pPr>
            <a:r>
              <a:rPr lang="ru-RU" sz="1800" dirty="0">
                <a:latin typeface="Gilroy Medium" panose="00000600000000000000" charset="-5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группа 241-321</a:t>
            </a:r>
          </a:p>
          <a:p>
            <a:pPr algn="ctr">
              <a:lnSpc>
                <a:spcPts val="2000"/>
              </a:lnSpc>
              <a:spcBef>
                <a:spcPts val="0"/>
              </a:spcBef>
            </a:pPr>
            <a:endParaRPr lang="ru-RU" dirty="0">
              <a:latin typeface="Gilroy Medium" panose="00000600000000000000" charset="-52"/>
            </a:endParaRP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Преподаватели: Смирнова Юлия Владимировна</a:t>
            </a:r>
          </a:p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Кулибаба Ирина Викторовна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9957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Разработка слогана компании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1318</TotalTime>
  <Words>864</Words>
  <Application>Microsoft Office PowerPoint</Application>
  <PresentationFormat>Широкоэкранный</PresentationFormat>
  <Paragraphs>100</Paragraphs>
  <Slides>8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Verdana</vt:lpstr>
      <vt:lpstr>Gilroy Medium</vt:lpstr>
      <vt:lpstr>Calibri</vt:lpstr>
      <vt:lpstr>Gilroy Bold</vt:lpstr>
      <vt:lpstr>Arial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Разработка слогана</vt:lpstr>
      <vt:lpstr>Разработка слогана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K</cp:lastModifiedBy>
  <cp:revision>83</cp:revision>
  <dcterms:created xsi:type="dcterms:W3CDTF">2024-05-27T20:04:35Z</dcterms:created>
  <dcterms:modified xsi:type="dcterms:W3CDTF">2025-12-02T09:01:18Z</dcterms:modified>
</cp:coreProperties>
</file>