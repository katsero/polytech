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896" r:id="rId1"/>
  </p:sldMasterIdLst>
  <p:notesMasterIdLst>
    <p:notesMasterId r:id="rId9"/>
  </p:notesMasterIdLst>
  <p:sldIdLst>
    <p:sldId id="256" r:id="rId2"/>
    <p:sldId id="257" r:id="rId3"/>
    <p:sldId id="267" r:id="rId4"/>
    <p:sldId id="273" r:id="rId5"/>
    <p:sldId id="274" r:id="rId6"/>
    <p:sldId id="272" r:id="rId7"/>
    <p:sldId id="258" r:id="rId8"/>
  </p:sldIdLst>
  <p:sldSz cx="12192000" cy="6858000"/>
  <p:notesSz cx="6858000" cy="9144000"/>
  <p:embeddedFontLs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Gilroy Bold" panose="00000800000000000000" charset="0"/>
      <p:bold r:id="rId14"/>
    </p:embeddedFont>
    <p:embeddedFont>
      <p:font typeface="Verdana" panose="020B0604030504040204" pitchFamily="34" charset="0"/>
      <p:regular r:id="rId15"/>
      <p:bold r:id="rId16"/>
      <p:italic r:id="rId17"/>
      <p:boldItalic r:id="rId18"/>
    </p:embeddedFont>
    <p:embeddedFont>
      <p:font typeface="Gilroy Medium" panose="00000600000000000000" charset="0"/>
      <p:regular r:id="rId19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244" autoAdjust="0"/>
    <p:restoredTop sz="94660"/>
  </p:normalViewPr>
  <p:slideViewPr>
    <p:cSldViewPr snapToGrid="0">
      <p:cViewPr varScale="1">
        <p:scale>
          <a:sx n="76" d="100"/>
          <a:sy n="76" d="100"/>
        </p:scale>
        <p:origin x="3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openxmlformats.org/officeDocument/2006/relationships/tableStyles" Target="tableStyles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B9DC91-30C7-46AB-ADDB-A80A0533D77A}" type="datetimeFigureOut">
              <a:rPr lang="ru-RU" smtClean="0"/>
              <a:t>23.11.2025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B6BEC5-E5BF-4073-B59F-AF429BC831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3945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85845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88304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341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39987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9021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29134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039528" y="2001837"/>
            <a:ext cx="10087276" cy="1508125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039528" y="4129238"/>
            <a:ext cx="10087276" cy="11285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30" y="-100001"/>
            <a:ext cx="3006013" cy="212597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6097" y="5654764"/>
            <a:ext cx="2860213" cy="1632459"/>
          </a:xfrm>
          <a:prstGeom prst="rect">
            <a:avLst/>
          </a:prstGeom>
        </p:spPr>
      </p:pic>
      <p:cxnSp>
        <p:nvCxnSpPr>
          <p:cNvPr id="12" name="Прямая соединительная линия 11"/>
          <p:cNvCxnSpPr/>
          <p:nvPr/>
        </p:nvCxnSpPr>
        <p:spPr>
          <a:xfrm>
            <a:off x="4555671" y="1224644"/>
            <a:ext cx="7740000" cy="0"/>
          </a:xfrm>
          <a:prstGeom prst="line">
            <a:avLst/>
          </a:prstGeom>
          <a:ln w="5715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30" y="-100001"/>
            <a:ext cx="3006013" cy="2125974"/>
          </a:xfrm>
          <a:prstGeom prst="rect">
            <a:avLst/>
          </a:prstGeom>
        </p:spPr>
      </p:pic>
      <p:cxnSp>
        <p:nvCxnSpPr>
          <p:cNvPr id="9" name="Прямая соединительная линия 8"/>
          <p:cNvCxnSpPr/>
          <p:nvPr userDrawn="1"/>
        </p:nvCxnSpPr>
        <p:spPr>
          <a:xfrm>
            <a:off x="4555671" y="1224644"/>
            <a:ext cx="7740000" cy="0"/>
          </a:xfrm>
          <a:prstGeom prst="line">
            <a:avLst/>
          </a:prstGeom>
          <a:ln w="5715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9507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959430"/>
            <a:ext cx="10281557" cy="364943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D3C23-8038-4008-B24E-40A94D79456D}" type="datetime1">
              <a:rPr lang="ru-RU" smtClean="0"/>
              <a:t>23.11.2025</a:t>
            </a:fld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10080171" y="5698671"/>
            <a:ext cx="1787979" cy="1047296"/>
          </a:xfrm>
        </p:spPr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7370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58779" y="1286227"/>
            <a:ext cx="10087276" cy="215961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58779" y="4165953"/>
            <a:ext cx="10087276" cy="1445576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424272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9993084" y="5390016"/>
            <a:ext cx="1828800" cy="1331459"/>
          </a:xfrm>
        </p:spPr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252357" cy="41098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3543300" cy="41098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DD92-CC98-4900-BE8A-2068547BBC1A}" type="datetime1">
              <a:rPr lang="ru-RU" smtClean="0"/>
              <a:t>23.11.2025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0800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992085"/>
            <a:ext cx="4205741" cy="51298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702379"/>
            <a:ext cx="4205741" cy="32167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5372100" y="1992085"/>
            <a:ext cx="4327071" cy="51298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5372100" y="2702379"/>
            <a:ext cx="4327071" cy="32167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38898-160C-4747-9301-0B5702FA49D8}" type="datetime1">
              <a:rPr lang="ru-RU" smtClean="0"/>
              <a:t>23.11.2025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8859383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53670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BB16F-DABE-4712-B47F-7722E1CB50FE}" type="datetime1">
              <a:rPr lang="ru-RU" smtClean="0"/>
              <a:t>23.11.2025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03277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BEA22-9938-4273-8C60-D80B349E4BA9}" type="datetime1">
              <a:rPr lang="ru-RU" smtClean="0"/>
              <a:t>23.11.2025</a:t>
            </a:fld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1701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526721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66859" y="1281339"/>
            <a:ext cx="4898069" cy="45876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D790B-F35A-4C90-BC4A-BA7F77964CA4}" type="datetime1">
              <a:rPr lang="ru-RU" smtClean="0"/>
              <a:t>23.11.2025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9784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526721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1273629"/>
            <a:ext cx="5823902" cy="41120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3283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EF080-AA0F-44FA-BA62-A56D8619F7E7}" type="datetime1">
              <a:rPr lang="ru-RU" smtClean="0"/>
              <a:t>23.11.2025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0307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Номер слайда 5" title="0"/>
          <p:cNvSpPr>
            <a:spLocks noGrp="1" noChangeAspect="1"/>
          </p:cNvSpPr>
          <p:nvPr>
            <p:ph type="sldNum" sz="quarter" idx="4"/>
          </p:nvPr>
        </p:nvSpPr>
        <p:spPr>
          <a:xfrm>
            <a:off x="10076358" y="5731329"/>
            <a:ext cx="1787978" cy="1071890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Autofit/>
          </a:bodyPr>
          <a:lstStyle>
            <a:lvl1pPr algn="l">
              <a:defRPr sz="9600" b="0" i="0" baseline="0">
                <a:solidFill>
                  <a:schemeClr val="bg2">
                    <a:lumMod val="90000"/>
                  </a:schemeClr>
                </a:solidFill>
                <a:latin typeface="Gilroy Medium" panose="00000600000000000000" pitchFamily="2" charset="-52"/>
              </a:defRPr>
            </a:lvl1pPr>
          </a:lstStyle>
          <a:p>
            <a:fld id="{A01BE76D-E181-4177-862E-40D97C82BFEB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959429"/>
            <a:ext cx="10281557" cy="3657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AB8CDF-4973-4195-91CA-18BA11F1D400}" type="datetime1">
              <a:rPr lang="ru-RU" smtClean="0"/>
              <a:t>23.11.2025</a:t>
            </a:fld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768" y="200819"/>
            <a:ext cx="1489158" cy="1053193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555171"/>
            <a:ext cx="8877300" cy="11355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10260531" y="1094014"/>
            <a:ext cx="1980000" cy="0"/>
          </a:xfrm>
          <a:prstGeom prst="line">
            <a:avLst/>
          </a:prstGeom>
          <a:ln w="3810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Прямая соединительная линия 10"/>
          <p:cNvCxnSpPr/>
          <p:nvPr userDrawn="1"/>
        </p:nvCxnSpPr>
        <p:spPr>
          <a:xfrm>
            <a:off x="10260531" y="1094014"/>
            <a:ext cx="1980000" cy="0"/>
          </a:xfrm>
          <a:prstGeom prst="line">
            <a:avLst/>
          </a:prstGeom>
          <a:ln w="3810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3667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7" r:id="rId1"/>
    <p:sldLayoutId id="2147483898" r:id="rId2"/>
    <p:sldLayoutId id="2147483899" r:id="rId3"/>
    <p:sldLayoutId id="2147483900" r:id="rId4"/>
    <p:sldLayoutId id="2147483901" r:id="rId5"/>
    <p:sldLayoutId id="2147483902" r:id="rId6"/>
    <p:sldLayoutId id="2147483903" r:id="rId7"/>
    <p:sldLayoutId id="2147483904" r:id="rId8"/>
    <p:sldLayoutId id="2147483905" r:id="rId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Gilroy Bold" panose="00000800000000000000" pitchFamily="2" charset="-52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8D64222-1292-4A23-A829-4D7C56BB71FE}"/>
              </a:ext>
            </a:extLst>
          </p:cNvPr>
          <p:cNvSpPr txBox="1"/>
          <p:nvPr/>
        </p:nvSpPr>
        <p:spPr>
          <a:xfrm>
            <a:off x="4067954" y="723037"/>
            <a:ext cx="812404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Веб-</a:t>
            </a:r>
            <a:r>
              <a:rPr kumimoji="0" lang="ru-RU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райтинг</a:t>
            </a:r>
            <a:endParaRPr kumimoji="0" lang="ru-RU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Bold" panose="00000800000000000000" charset="-52"/>
              <a:ea typeface="+mn-ea"/>
              <a:cs typeface="+mn-cs"/>
            </a:endParaRPr>
          </a:p>
          <a:p>
            <a:pPr algn="ctr"/>
            <a:endParaRPr kumimoji="0" lang="ru-RU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  <a:ea typeface="+mj-ea"/>
              <a:cs typeface="+mj-cs"/>
            </a:endParaRPr>
          </a:p>
          <a:p>
            <a:pPr algn="ctr"/>
            <a:r>
              <a:rPr kumimoji="0" lang="ru-RU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 </a:t>
            </a:r>
            <a:r>
              <a:rPr lang="ru-RU" dirty="0">
                <a:latin typeface="Gilroy Medium" panose="00000600000000000000" charset="-52"/>
              </a:rPr>
              <a:t>по направлению 09.03.01 Информатика и вычислительная техника</a:t>
            </a:r>
          </a:p>
          <a:p>
            <a:pPr algn="ctr"/>
            <a:r>
              <a:rPr lang="ru-RU" dirty="0">
                <a:latin typeface="Gilroy Medium" panose="00000600000000000000" charset="-52"/>
              </a:rPr>
              <a:t>Образовательная программа (профиль) «Веб-технологии»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AA36A-0422-46F0-BA3A-4B2EF754C329}"/>
              </a:ext>
            </a:extLst>
          </p:cNvPr>
          <p:cNvSpPr txBox="1"/>
          <p:nvPr/>
        </p:nvSpPr>
        <p:spPr>
          <a:xfrm>
            <a:off x="-30347" y="2762884"/>
            <a:ext cx="11887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sz="3200" b="1" i="0" u="none" strike="noStrike" dirty="0" smtClean="0">
                <a:effectLst/>
                <a:latin typeface="Gilroy Bold" panose="00000800000000000000" charset="0"/>
              </a:rPr>
              <a:t>Разработка имени и слогана компании</a:t>
            </a:r>
            <a:endParaRPr kumimoji="0" lang="ru-RU" sz="320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Gilroy Bold" panose="00000800000000000000" charset="0"/>
              <a:ea typeface="+mj-ea"/>
              <a:cs typeface="+mj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18C808-D44B-4FFB-A9B8-91FA34E1C60F}"/>
              </a:ext>
            </a:extLst>
          </p:cNvPr>
          <p:cNvSpPr txBox="1"/>
          <p:nvPr/>
        </p:nvSpPr>
        <p:spPr>
          <a:xfrm>
            <a:off x="5673438" y="4978637"/>
            <a:ext cx="6203086" cy="1374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dirty="0">
                <a:latin typeface="Gilroy Medium" panose="00000600000000000000" charset="-52"/>
              </a:rPr>
              <a:t>Студент:  </a:t>
            </a:r>
            <a:r>
              <a:rPr lang="ru-RU" dirty="0" smtClean="0">
                <a:latin typeface="Gilroy Medium" panose="00000600000000000000" charset="-52"/>
              </a:rPr>
              <a:t>Каматали Алина Аароновна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dirty="0" smtClean="0">
                <a:solidFill>
                  <a:schemeClr val="tx1"/>
                </a:solidFill>
                <a:latin typeface="Gilroy Medium" panose="00000600000000000000" charset="-52"/>
              </a:rPr>
              <a:t>Романов Александр Дмитриевич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dirty="0" smtClean="0">
                <a:latin typeface="Gilroy Medium" panose="00000600000000000000" charset="-52"/>
              </a:rPr>
              <a:t>Андронов Денис Андреевич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dirty="0" smtClean="0">
                <a:solidFill>
                  <a:schemeClr val="tx1"/>
                </a:solidFill>
                <a:latin typeface="Gilroy Medium" panose="00000600000000000000" charset="-52"/>
              </a:rPr>
              <a:t>Преподаватели</a:t>
            </a:r>
            <a:r>
              <a:rPr lang="ru-RU" dirty="0">
                <a:solidFill>
                  <a:schemeClr val="tx1"/>
                </a:solidFill>
                <a:latin typeface="Gilroy Medium" panose="00000600000000000000" charset="-52"/>
              </a:rPr>
              <a:t>: Смирнова Юлия </a:t>
            </a:r>
            <a:r>
              <a:rPr lang="ru-RU" dirty="0" smtClean="0">
                <a:solidFill>
                  <a:schemeClr val="tx1"/>
                </a:solidFill>
                <a:latin typeface="Gilroy Medium" panose="00000600000000000000" charset="-52"/>
              </a:rPr>
              <a:t>Владимировна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dirty="0" smtClean="0">
                <a:latin typeface="Gilroy Medium" panose="00000600000000000000" charset="-52"/>
              </a:rPr>
              <a:t>Кулибаба Ирина Викторовна</a:t>
            </a:r>
            <a:endParaRPr lang="ru-RU" dirty="0">
              <a:solidFill>
                <a:schemeClr val="tx1"/>
              </a:solidFill>
              <a:latin typeface="Gilroy Medium" panose="00000600000000000000" charset="-5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E4B5EE-80E5-44C9-B29C-37CD3F69DA42}"/>
              </a:ext>
            </a:extLst>
          </p:cNvPr>
          <p:cNvSpPr txBox="1"/>
          <p:nvPr/>
        </p:nvSpPr>
        <p:spPr>
          <a:xfrm>
            <a:off x="4782071" y="6353372"/>
            <a:ext cx="22503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2025</a:t>
            </a: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916414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2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130029" y="6476863"/>
            <a:ext cx="8434457" cy="502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00"/>
              </a:lnSpc>
              <a:defRPr/>
            </a:pPr>
            <a:r>
              <a:rPr kumimoji="0" lang="ru-RU" sz="11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Каматали</a:t>
            </a:r>
            <a:r>
              <a:rPr kumimoji="0" lang="ru-RU" sz="1100" b="0" i="0" u="none" strike="noStrike" kern="1200" cap="none" spc="0" normalizeH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А.А, Романов А.Д, Андронов Д.А</a:t>
            </a:r>
            <a:r>
              <a:rPr lang="ru-RU" sz="1100" dirty="0" smtClean="0">
                <a:latin typeface="Gilroy Medium" panose="00000600000000000000" charset="-52"/>
              </a:rPr>
              <a:t>. 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– группа </a:t>
            </a:r>
            <a:r>
              <a:rPr kumimoji="0" lang="ru-RU" sz="11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241-321</a:t>
            </a:r>
            <a:endParaRPr kumimoji="0" lang="ru-RU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1845733"/>
            <a:ext cx="9584422" cy="1292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>
                <a:latin typeface="Gilroy Bold" panose="00000800000000000000" charset="-52"/>
                <a:ea typeface="+mj-ea"/>
                <a:cs typeface="+mj-cs"/>
              </a:rPr>
              <a:t>Цель</a:t>
            </a:r>
            <a:r>
              <a:rPr lang="ru-RU" dirty="0">
                <a:latin typeface="Gilroy Bold" panose="00000800000000000000" charset="-52"/>
                <a:ea typeface="+mj-ea"/>
                <a:cs typeface="+mj-cs"/>
              </a:rPr>
              <a:t>:</a:t>
            </a:r>
            <a:r>
              <a:rPr kumimoji="0" lang="ru-RU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 </a:t>
            </a:r>
            <a:r>
              <a:rPr lang="ru-RU" b="0" i="0" u="none" strike="noStrike" dirty="0">
                <a:effectLst/>
                <a:latin typeface="Gilroy Medium" panose="00000600000000000000" charset="0"/>
              </a:rPr>
              <a:t>Изучение правил и особенностей разработки рекламного имени и слогана компании как основных констант фирменного стиля. Выработка навыков работы с текстом и логической аргументации.</a:t>
            </a:r>
            <a:endParaRPr kumimoji="0" lang="en-US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Gilroy Medium" panose="00000600000000000000" charset="0"/>
              <a:ea typeface="+mj-ea"/>
              <a:cs typeface="+mj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8B0259-6E5B-CD0B-F8B8-C409288C91FA}"/>
              </a:ext>
            </a:extLst>
          </p:cNvPr>
          <p:cNvSpPr txBox="1"/>
          <p:nvPr/>
        </p:nvSpPr>
        <p:spPr>
          <a:xfrm>
            <a:off x="326876" y="538629"/>
            <a:ext cx="65350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charset="-52"/>
                <a:ea typeface="+mj-ea"/>
                <a:cs typeface="+mj-cs"/>
              </a:rPr>
              <a:t>Постановка цели и основной задачи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Gilroy Medium" panose="00000600000000000000" charset="-52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308577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3</a:t>
            </a:fld>
            <a:endParaRPr lang="ru-RU" sz="3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272939" y="1426120"/>
            <a:ext cx="115124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kumimoji="0" lang="en-US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Gilroy Medium" panose="00000600000000000000" charset="-52"/>
              <a:ea typeface="+mj-ea"/>
              <a:cs typeface="+mj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87F541-46FD-2980-378F-C5FD3729FB7E}"/>
              </a:ext>
            </a:extLst>
          </p:cNvPr>
          <p:cNvSpPr txBox="1"/>
          <p:nvPr/>
        </p:nvSpPr>
        <p:spPr>
          <a:xfrm>
            <a:off x="272939" y="453971"/>
            <a:ext cx="906946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 smtClean="0">
                <a:latin typeface="Gilroy Bold" panose="00000800000000000000" charset="0"/>
              </a:rPr>
              <a:t>С</a:t>
            </a:r>
            <a:r>
              <a:rPr lang="ru-RU" sz="3200" dirty="0" smtClean="0">
                <a:latin typeface="Gilroy Bold" panose="00000800000000000000" charset="0"/>
              </a:rPr>
              <a:t>оздание </a:t>
            </a:r>
            <a:r>
              <a:rPr lang="ru-RU" sz="3200" dirty="0">
                <a:latin typeface="Gilroy Bold" panose="00000800000000000000" charset="0"/>
              </a:rPr>
              <a:t>нейма компании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Gilroy Bold" panose="00000800000000000000" charset="0"/>
              <a:ea typeface="+mj-ea"/>
              <a:cs typeface="+mj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BC1B33-4300-5248-40BE-40C9D1269531}"/>
              </a:ext>
            </a:extLst>
          </p:cNvPr>
          <p:cNvSpPr txBox="1"/>
          <p:nvPr/>
        </p:nvSpPr>
        <p:spPr>
          <a:xfrm>
            <a:off x="272939" y="1273836"/>
            <a:ext cx="101955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Создание названия компании (нейминг) — это креативный процесс, в котором нужно </a:t>
            </a:r>
            <a:r>
              <a:rPr lang="ru-RU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учитывать</a:t>
            </a:r>
            <a:r>
              <a:rPr lang="en-US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 </a:t>
            </a:r>
            <a:r>
              <a:rPr lang="ru-RU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множество факторов:</a:t>
            </a:r>
          </a:p>
          <a:p>
            <a:endParaRPr lang="ru-RU" dirty="0" smtClean="0">
              <a:latin typeface="Gilroy Medium" panose="00000600000000000000" charset="0"/>
              <a:ea typeface="Grantha Sangam MN" pitchFamily="2" charset="0"/>
              <a:cs typeface="Calibri" panose="020F0502020204030204" pitchFamily="34" charset="0"/>
            </a:endParaRPr>
          </a:p>
          <a:p>
            <a:r>
              <a:rPr lang="ru-RU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1)</a:t>
            </a:r>
            <a:r>
              <a:rPr lang="ru-RU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 целевую аудиторию,</a:t>
            </a:r>
          </a:p>
          <a:p>
            <a:r>
              <a:rPr lang="ru-RU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2)</a:t>
            </a:r>
            <a:r>
              <a:rPr lang="ru-RU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 </a:t>
            </a:r>
            <a:r>
              <a:rPr lang="ru-RU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ценности </a:t>
            </a:r>
            <a:r>
              <a:rPr lang="ru-RU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компании и ассоциации, которые должно вызывать </a:t>
            </a:r>
            <a:r>
              <a:rPr lang="ru-RU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имя,</a:t>
            </a:r>
          </a:p>
          <a:p>
            <a:r>
              <a:rPr lang="ru-RU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3) замопинаемость,</a:t>
            </a:r>
          </a:p>
          <a:p>
            <a:r>
              <a:rPr lang="ru-RU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4) уникальность,</a:t>
            </a:r>
          </a:p>
          <a:p>
            <a:r>
              <a:rPr lang="ru-RU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5) произносимость,</a:t>
            </a:r>
            <a:endParaRPr lang="ru-RU" dirty="0" smtClean="0">
              <a:latin typeface="Gilroy Medium" panose="00000600000000000000" charset="0"/>
              <a:ea typeface="Grantha Sangam MN" pitchFamily="2" charset="0"/>
              <a:cs typeface="Calibri" panose="020F0502020204030204" pitchFamily="34" charset="0"/>
            </a:endParaRPr>
          </a:p>
          <a:p>
            <a:r>
              <a:rPr lang="ru-RU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6</a:t>
            </a:r>
            <a:r>
              <a:rPr lang="ru-RU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) языковые особенности</a:t>
            </a:r>
            <a:r>
              <a:rPr lang="ru-RU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.</a:t>
            </a:r>
          </a:p>
          <a:p>
            <a:endParaRPr lang="ru-RU" dirty="0">
              <a:latin typeface="Gilroy Medium" panose="00000600000000000000" charset="0"/>
              <a:ea typeface="Grantha Sangam MN" pitchFamily="2" charset="0"/>
              <a:cs typeface="Calibri" panose="020F0502020204030204" pitchFamily="34" charset="0"/>
            </a:endParaRPr>
          </a:p>
          <a:p>
            <a:r>
              <a:rPr lang="ru-RU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В рамках данной работы нами было придумано название «</a:t>
            </a:r>
            <a:r>
              <a:rPr lang="en-US" dirty="0" err="1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WebFlow</a:t>
            </a:r>
            <a:r>
              <a:rPr lang="ru-RU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». </a:t>
            </a:r>
          </a:p>
          <a:p>
            <a:endParaRPr lang="ru-RU" dirty="0" smtClean="0">
              <a:latin typeface="Gilroy Medium" panose="00000600000000000000" charset="0"/>
              <a:ea typeface="Grantha Sangam MN" pitchFamily="2" charset="0"/>
              <a:cs typeface="Calibri" panose="020F0502020204030204" pitchFamily="34" charset="0"/>
            </a:endParaRPr>
          </a:p>
          <a:p>
            <a:r>
              <a:rPr lang="ru-RU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Обоснование: ключевое слово </a:t>
            </a:r>
            <a:r>
              <a:rPr lang="en-US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Web – </a:t>
            </a:r>
            <a:r>
              <a:rPr lang="ru-RU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прямая ассоциация с веб-разработкой, интернетом и технологиями.</a:t>
            </a:r>
          </a:p>
          <a:p>
            <a:r>
              <a:rPr lang="en-US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Flow –</a:t>
            </a:r>
            <a:r>
              <a:rPr lang="ru-RU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 поток на английском. Ассоциируется с плавностью процесса разработки и современностью.</a:t>
            </a:r>
            <a:endParaRPr lang="ru-RU" dirty="0" smtClean="0">
              <a:latin typeface="Gilroy Medium" panose="00000600000000000000" charset="0"/>
              <a:ea typeface="Grantha Sangam MN" pitchFamily="2" charset="0"/>
              <a:cs typeface="Calibri" panose="020F0502020204030204" pitchFamily="34" charset="0"/>
            </a:endParaRPr>
          </a:p>
          <a:p>
            <a:endParaRPr lang="ru-RU" dirty="0">
              <a:latin typeface="Gilroy Medium" panose="00000600000000000000" charset="0"/>
              <a:ea typeface="Grantha Sangam MN" pitchFamily="2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130029" y="6476863"/>
            <a:ext cx="8434457" cy="502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00"/>
              </a:lnSpc>
              <a:defRPr/>
            </a:pPr>
            <a:r>
              <a:rPr kumimoji="0" lang="ru-RU" sz="11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Каматали</a:t>
            </a:r>
            <a:r>
              <a:rPr kumimoji="0" lang="ru-RU" sz="1100" b="0" i="0" u="none" strike="noStrike" kern="1200" cap="none" spc="0" normalizeH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А.А, Романов А.Д, Андронов Д.А</a:t>
            </a:r>
            <a:r>
              <a:rPr lang="ru-RU" sz="1100" dirty="0" smtClean="0">
                <a:latin typeface="Gilroy Medium" panose="00000600000000000000" charset="-52"/>
              </a:rPr>
              <a:t>. 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– группа </a:t>
            </a:r>
            <a:r>
              <a:rPr kumimoji="0" lang="ru-RU" sz="11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241-321</a:t>
            </a:r>
            <a:endParaRPr kumimoji="0" lang="ru-RU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1811479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4</a:t>
            </a:fld>
            <a:endParaRPr lang="ru-RU" sz="3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272939" y="1426120"/>
            <a:ext cx="115124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kumimoji="0" lang="en-US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Gilroy Medium" panose="00000600000000000000" charset="-52"/>
              <a:ea typeface="+mj-ea"/>
              <a:cs typeface="+mj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87F541-46FD-2980-378F-C5FD3729FB7E}"/>
              </a:ext>
            </a:extLst>
          </p:cNvPr>
          <p:cNvSpPr txBox="1"/>
          <p:nvPr/>
        </p:nvSpPr>
        <p:spPr>
          <a:xfrm>
            <a:off x="272939" y="420673"/>
            <a:ext cx="906946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charset="0"/>
              </a:rPr>
              <a:t>Приемы создания </a:t>
            </a:r>
            <a:r>
              <a:rPr lang="ru-RU" sz="3200" dirty="0" err="1">
                <a:latin typeface="Gilroy Bold" panose="00000800000000000000" charset="0"/>
              </a:rPr>
              <a:t>нейма</a:t>
            </a:r>
            <a:r>
              <a:rPr lang="ru-RU" sz="3200" dirty="0">
                <a:latin typeface="Gilroy Bold" panose="00000800000000000000" charset="0"/>
              </a:rPr>
              <a:t> компании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Gilroy Bold" panose="00000800000000000000" charset="0"/>
              <a:ea typeface="+mj-ea"/>
              <a:cs typeface="+mj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BC1B33-4300-5248-40BE-40C9D1269531}"/>
              </a:ext>
            </a:extLst>
          </p:cNvPr>
          <p:cNvSpPr txBox="1"/>
          <p:nvPr/>
        </p:nvSpPr>
        <p:spPr>
          <a:xfrm>
            <a:off x="272939" y="1005448"/>
            <a:ext cx="1019556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600" dirty="0" smtClean="0">
              <a:latin typeface="Gilroy Medium" panose="00000600000000000000" charset="0"/>
              <a:ea typeface="Grantha Sangam MN" pitchFamily="2" charset="0"/>
              <a:cs typeface="Calibri" panose="020F0502020204030204" pitchFamily="34" charset="0"/>
            </a:endParaRPr>
          </a:p>
          <a:p>
            <a:r>
              <a:rPr lang="ru-RU" sz="1600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1</a:t>
            </a:r>
            <a:r>
              <a:rPr lang="ru-RU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. Использование значимых слов и </a:t>
            </a:r>
            <a:r>
              <a:rPr lang="ru-RU" sz="1600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ассоциаций:</a:t>
            </a:r>
            <a:endParaRPr lang="ru-RU" sz="1600" dirty="0">
              <a:latin typeface="Gilroy Medium" panose="00000600000000000000" charset="0"/>
              <a:ea typeface="Grantha Sangam MN" pitchFamily="2" charset="0"/>
              <a:cs typeface="Calibri" panose="020F0502020204030204" pitchFamily="34" charset="0"/>
            </a:endParaRPr>
          </a:p>
          <a:p>
            <a:pPr lvl="1"/>
            <a:r>
              <a:rPr lang="ru-RU" sz="1600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Например</a:t>
            </a:r>
            <a:r>
              <a:rPr lang="ru-RU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, "</a:t>
            </a:r>
            <a:r>
              <a:rPr lang="en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Apple" </a:t>
            </a:r>
            <a:r>
              <a:rPr lang="ru-RU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для компании, ориентированной на простоту и </a:t>
            </a:r>
            <a:r>
              <a:rPr lang="ru-RU" sz="1600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доступность, </a:t>
            </a:r>
            <a:r>
              <a:rPr lang="ru-RU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"</a:t>
            </a:r>
            <a:r>
              <a:rPr lang="en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Nike" </a:t>
            </a:r>
            <a:r>
              <a:rPr lang="ru-RU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ассоциируется с победой (это имя богини победы в греческой мифологии</a:t>
            </a:r>
            <a:r>
              <a:rPr lang="ru-RU" sz="1600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). </a:t>
            </a:r>
            <a:endParaRPr lang="ru-RU" sz="1600" dirty="0">
              <a:latin typeface="Gilroy Medium" panose="00000600000000000000" charset="0"/>
              <a:ea typeface="Grantha Sangam MN" pitchFamily="2" charset="0"/>
              <a:cs typeface="Calibri" panose="020F0502020204030204" pitchFamily="34" charset="0"/>
            </a:endParaRPr>
          </a:p>
          <a:p>
            <a:endParaRPr lang="ru-RU" sz="1600" dirty="0" smtClean="0">
              <a:latin typeface="Gilroy Medium" panose="00000600000000000000" charset="0"/>
              <a:ea typeface="Grantha Sangam MN" pitchFamily="2" charset="0"/>
              <a:cs typeface="Calibri" panose="020F0502020204030204" pitchFamily="34" charset="0"/>
            </a:endParaRPr>
          </a:p>
          <a:p>
            <a:r>
              <a:rPr lang="ru-RU" sz="1600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2</a:t>
            </a:r>
            <a:r>
              <a:rPr lang="ru-RU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. Составные слова (комбинации)</a:t>
            </a:r>
          </a:p>
          <a:p>
            <a:pPr lvl="1"/>
            <a:r>
              <a:rPr lang="ru-RU" sz="1600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Для создания названия компании можно о</a:t>
            </a:r>
            <a:r>
              <a:rPr lang="ru-RU" sz="1600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бъединить два </a:t>
            </a:r>
            <a:r>
              <a:rPr lang="ru-RU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или более </a:t>
            </a:r>
            <a:r>
              <a:rPr lang="ru-RU" sz="1600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слова,описывающих бизнес. </a:t>
            </a:r>
            <a:r>
              <a:rPr lang="ru-RU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Пример — "</a:t>
            </a:r>
            <a:r>
              <a:rPr lang="en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Facebook" (face + book) </a:t>
            </a:r>
            <a:r>
              <a:rPr lang="ru-RU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или "</a:t>
            </a:r>
            <a:r>
              <a:rPr lang="en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YouTube" (you + tube).</a:t>
            </a:r>
          </a:p>
          <a:p>
            <a:endParaRPr lang="ru-RU" sz="1600" dirty="0" smtClean="0">
              <a:latin typeface="Gilroy Medium" panose="00000600000000000000" charset="0"/>
              <a:ea typeface="Grantha Sangam MN" pitchFamily="2" charset="0"/>
              <a:cs typeface="Calibri" panose="020F0502020204030204" pitchFamily="34" charset="0"/>
            </a:endParaRPr>
          </a:p>
          <a:p>
            <a:r>
              <a:rPr lang="en" sz="1600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3</a:t>
            </a:r>
            <a:r>
              <a:rPr lang="en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. </a:t>
            </a:r>
            <a:r>
              <a:rPr lang="ru-RU" sz="1600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Акронимы, аббревиатуры:</a:t>
            </a:r>
            <a:endParaRPr lang="ru-RU" sz="1600" dirty="0">
              <a:latin typeface="Gilroy Medium" panose="00000600000000000000" charset="0"/>
              <a:ea typeface="Grantha Sangam MN" pitchFamily="2" charset="0"/>
              <a:cs typeface="Calibri" panose="020F0502020204030204" pitchFamily="34" charset="0"/>
            </a:endParaRPr>
          </a:p>
          <a:p>
            <a:pPr lvl="1"/>
            <a:r>
              <a:rPr lang="ru-RU" sz="1600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Например, </a:t>
            </a:r>
            <a:r>
              <a:rPr lang="ru-RU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"</a:t>
            </a:r>
            <a:r>
              <a:rPr lang="en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BMW" </a:t>
            </a:r>
            <a:r>
              <a:rPr lang="ru-RU" sz="1600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– баварские моторные заводы </a:t>
            </a:r>
            <a:r>
              <a:rPr lang="en" sz="1600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(Bayerische </a:t>
            </a:r>
            <a:r>
              <a:rPr lang="en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Motoren Werke) </a:t>
            </a:r>
            <a:r>
              <a:rPr lang="ru-RU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или "</a:t>
            </a:r>
            <a:r>
              <a:rPr lang="en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KFC" (Kentucky Fried Chicken).</a:t>
            </a:r>
          </a:p>
          <a:p>
            <a:endParaRPr lang="ru-RU" sz="1600" dirty="0" smtClean="0">
              <a:latin typeface="Gilroy Medium" panose="00000600000000000000" charset="0"/>
              <a:ea typeface="Grantha Sangam MN" pitchFamily="2" charset="0"/>
              <a:cs typeface="Calibri" panose="020F0502020204030204" pitchFamily="34" charset="0"/>
            </a:endParaRPr>
          </a:p>
          <a:p>
            <a:r>
              <a:rPr lang="ru-RU" sz="1600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4</a:t>
            </a:r>
            <a:r>
              <a:rPr lang="ru-RU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. Слова с искажениями или альтернативным написанием</a:t>
            </a:r>
          </a:p>
          <a:p>
            <a:pPr lvl="1"/>
            <a:r>
              <a:rPr lang="ru-RU" sz="1600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Можно изменить написание </a:t>
            </a:r>
            <a:r>
              <a:rPr lang="ru-RU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привычного слова для создания уникального названия. Например, "</a:t>
            </a:r>
            <a:r>
              <a:rPr lang="en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Flickr" </a:t>
            </a:r>
            <a:r>
              <a:rPr lang="ru-RU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вместо "</a:t>
            </a:r>
            <a:r>
              <a:rPr lang="en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Flicker" </a:t>
            </a:r>
            <a:r>
              <a:rPr lang="ru-RU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или "</a:t>
            </a:r>
            <a:r>
              <a:rPr lang="en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Lyft" </a:t>
            </a:r>
            <a:r>
              <a:rPr lang="ru-RU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вместо "</a:t>
            </a:r>
            <a:r>
              <a:rPr lang="en" sz="1600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Lift</a:t>
            </a:r>
            <a:r>
              <a:rPr lang="en-US" sz="1600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”</a:t>
            </a:r>
            <a:r>
              <a:rPr lang="ru-RU" sz="1600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 или </a:t>
            </a:r>
            <a:r>
              <a:rPr lang="ru-RU" sz="1600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убрать часть слова, чтобы сделать его короче и привлекательнее. Например, "</a:t>
            </a:r>
            <a:r>
              <a:rPr lang="en" sz="1600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Tumblr" </a:t>
            </a:r>
            <a:r>
              <a:rPr lang="ru-RU" sz="1600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от слова "</a:t>
            </a:r>
            <a:r>
              <a:rPr lang="en" sz="1600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tumble" (</a:t>
            </a:r>
            <a:r>
              <a:rPr lang="ru-RU" sz="1600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падать).</a:t>
            </a:r>
          </a:p>
          <a:p>
            <a:endParaRPr lang="ru-RU" sz="1600" dirty="0" smtClean="0">
              <a:latin typeface="Gilroy Medium" panose="00000600000000000000" charset="0"/>
              <a:ea typeface="Grantha Sangam MN" pitchFamily="2" charset="0"/>
              <a:cs typeface="Calibri" panose="020F0502020204030204" pitchFamily="34" charset="0"/>
            </a:endParaRPr>
          </a:p>
          <a:p>
            <a:r>
              <a:rPr lang="ru-RU" sz="1600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5</a:t>
            </a:r>
            <a:r>
              <a:rPr lang="ru-RU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. Игра слов</a:t>
            </a:r>
          </a:p>
          <a:p>
            <a:pPr lvl="1"/>
            <a:r>
              <a:rPr lang="ru-RU" sz="1600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Использовать рифму, например</a:t>
            </a:r>
            <a:r>
              <a:rPr lang="ru-RU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, "</a:t>
            </a:r>
            <a:r>
              <a:rPr lang="en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Snack Attack" </a:t>
            </a:r>
            <a:r>
              <a:rPr lang="ru-RU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для компании по доставке закусок.</a:t>
            </a:r>
          </a:p>
          <a:p>
            <a:pPr lvl="1"/>
            <a:r>
              <a:rPr lang="ru-RU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Аллитерация: Повторение одинаковых звуков в словах. Пример — "</a:t>
            </a:r>
            <a:r>
              <a:rPr lang="en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Best Buy" </a:t>
            </a:r>
            <a:r>
              <a:rPr lang="ru-RU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или "</a:t>
            </a:r>
            <a:r>
              <a:rPr lang="en" sz="1600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Dunkin' Donuts"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130029" y="6476863"/>
            <a:ext cx="8434457" cy="502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00"/>
              </a:lnSpc>
              <a:defRPr/>
            </a:pPr>
            <a:r>
              <a:rPr kumimoji="0" lang="ru-RU" sz="11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Каматали</a:t>
            </a:r>
            <a:r>
              <a:rPr kumimoji="0" lang="ru-RU" sz="1100" b="0" i="0" u="none" strike="noStrike" kern="1200" cap="none" spc="0" normalizeH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А.А, Романов А.Д, Андронов Д.А</a:t>
            </a:r>
            <a:r>
              <a:rPr lang="ru-RU" sz="1100" dirty="0" smtClean="0">
                <a:latin typeface="Gilroy Medium" panose="00000600000000000000" charset="-52"/>
              </a:rPr>
              <a:t>. 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– группа </a:t>
            </a:r>
            <a:r>
              <a:rPr kumimoji="0" lang="ru-RU" sz="11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241-321</a:t>
            </a:r>
            <a:endParaRPr kumimoji="0" lang="ru-RU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358256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5</a:t>
            </a:fld>
            <a:endParaRPr lang="ru-RU" sz="3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272939" y="1426120"/>
            <a:ext cx="115124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kumimoji="0" lang="en-US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Gilroy Medium" panose="00000600000000000000" charset="-52"/>
              <a:ea typeface="+mj-ea"/>
              <a:cs typeface="+mj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87F541-46FD-2980-378F-C5FD3729FB7E}"/>
              </a:ext>
            </a:extLst>
          </p:cNvPr>
          <p:cNvSpPr txBox="1"/>
          <p:nvPr/>
        </p:nvSpPr>
        <p:spPr>
          <a:xfrm>
            <a:off x="272939" y="338622"/>
            <a:ext cx="906946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ru-RU" sz="3200" b="0" i="0" u="none" strike="noStrike" kern="1200" cap="none" spc="0" normalizeH="0" baseline="0" noProof="0" dirty="0" smtClean="0">
                <a:ln>
                  <a:noFill/>
                </a:ln>
                <a:effectLst/>
                <a:uLnTx/>
                <a:uFillTx/>
                <a:latin typeface="Gilroy Bold" panose="00000800000000000000" charset="0"/>
                <a:ea typeface="+mj-ea"/>
                <a:cs typeface="+mj-cs"/>
              </a:rPr>
              <a:t>Создание слогана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Gilroy Bold" panose="00000800000000000000" charset="0"/>
              <a:ea typeface="+mj-ea"/>
              <a:cs typeface="+mj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BC1B33-4300-5248-40BE-40C9D1269531}"/>
              </a:ext>
            </a:extLst>
          </p:cNvPr>
          <p:cNvSpPr txBox="1"/>
          <p:nvPr/>
        </p:nvSpPr>
        <p:spPr>
          <a:xfrm>
            <a:off x="272939" y="1005448"/>
            <a:ext cx="10195560" cy="42165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Gilroy Medium" panose="00000600000000000000" charset="0"/>
              </a:rPr>
              <a:t>Слоган — это краткая, запоминающаяся формула, которая концентрирует в себе ключевую идею, ценность или позицию бренда. Он является стратегическим элементом идентичности, обеспечивая единство и узнаваемость всех коммуникаций</a:t>
            </a:r>
            <a:r>
              <a:rPr lang="ru-RU" dirty="0" smtClean="0">
                <a:latin typeface="Gilroy Medium" panose="00000600000000000000" charset="0"/>
              </a:rPr>
              <a:t>. </a:t>
            </a:r>
            <a:endParaRPr lang="en-US" dirty="0" smtClean="0">
              <a:latin typeface="Gilroy Medium" panose="00000600000000000000" charset="0"/>
            </a:endParaRPr>
          </a:p>
          <a:p>
            <a:endParaRPr lang="en-US" dirty="0">
              <a:latin typeface="Gilroy Medium" panose="00000600000000000000" charset="0"/>
              <a:ea typeface="Grantha Sangam MN" pitchFamily="2" charset="0"/>
              <a:cs typeface="Calibri" panose="020F0502020204030204" pitchFamily="34" charset="0"/>
            </a:endParaRPr>
          </a:p>
          <a:p>
            <a:r>
              <a:rPr lang="ru-RU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Слоган:</a:t>
            </a:r>
          </a:p>
          <a:p>
            <a:endParaRPr lang="ru-RU" dirty="0" smtClean="0">
              <a:latin typeface="Gilroy Medium" panose="00000600000000000000" charset="0"/>
              <a:ea typeface="Grantha Sangam MN" pitchFamily="2" charset="0"/>
              <a:cs typeface="Calibri" panose="020F0502020204030204" pitchFamily="34" charset="0"/>
            </a:endParaRPr>
          </a:p>
          <a:p>
            <a:pPr marL="342900" indent="-342900">
              <a:buAutoNum type="arabicParenR"/>
            </a:pPr>
            <a:r>
              <a:rPr lang="ru-RU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о</a:t>
            </a:r>
            <a:r>
              <a:rPr lang="ru-RU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тличает бренд от конкурентов</a:t>
            </a:r>
            <a:r>
              <a:rPr lang="en-US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;</a:t>
            </a:r>
            <a:endParaRPr lang="ru-RU" dirty="0" smtClean="0">
              <a:latin typeface="Gilroy Medium" panose="00000600000000000000" charset="0"/>
              <a:ea typeface="Grantha Sangam MN" pitchFamily="2" charset="0"/>
              <a:cs typeface="Calibri" panose="020F0502020204030204" pitchFamily="34" charset="0"/>
            </a:endParaRPr>
          </a:p>
          <a:p>
            <a:pPr marL="342900" indent="-342900">
              <a:buAutoNum type="arabicParenR"/>
            </a:pPr>
            <a:r>
              <a:rPr lang="ru-RU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в</a:t>
            </a:r>
            <a:r>
              <a:rPr lang="ru-RU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ыражает УТП, конкурентное преимущество</a:t>
            </a:r>
            <a:r>
              <a:rPr lang="en-US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 </a:t>
            </a:r>
            <a:r>
              <a:rPr lang="ru-RU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и обещания</a:t>
            </a:r>
            <a:r>
              <a:rPr lang="en-US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;</a:t>
            </a:r>
            <a:endParaRPr lang="ru-RU" dirty="0" smtClean="0">
              <a:latin typeface="Gilroy Medium" panose="00000600000000000000" charset="0"/>
              <a:ea typeface="Grantha Sangam MN" pitchFamily="2" charset="0"/>
              <a:cs typeface="Calibri" panose="020F0502020204030204" pitchFamily="34" charset="0"/>
            </a:endParaRPr>
          </a:p>
          <a:p>
            <a:pPr marL="342900" indent="-342900">
              <a:buAutoNum type="arabicParenR"/>
            </a:pPr>
            <a:r>
              <a:rPr lang="ru-RU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с</a:t>
            </a:r>
            <a:r>
              <a:rPr lang="ru-RU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оздает доверие и лояльность</a:t>
            </a:r>
            <a:r>
              <a:rPr lang="en-US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;</a:t>
            </a:r>
          </a:p>
          <a:p>
            <a:pPr marL="342900" indent="-342900">
              <a:buAutoNum type="arabicParenR"/>
            </a:pPr>
            <a:r>
              <a:rPr lang="ru-RU" dirty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п</a:t>
            </a:r>
            <a:r>
              <a:rPr lang="ru-RU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омогает позиционировать компанию.</a:t>
            </a:r>
          </a:p>
          <a:p>
            <a:pPr marL="342900" indent="-342900">
              <a:buAutoNum type="arabicParenR"/>
            </a:pPr>
            <a:endParaRPr lang="ru-RU" dirty="0">
              <a:latin typeface="Gilroy Medium" panose="00000600000000000000" charset="0"/>
              <a:ea typeface="Grantha Sangam MN" pitchFamily="2" charset="0"/>
              <a:cs typeface="Calibri" panose="020F0502020204030204" pitchFamily="34" charset="0"/>
            </a:endParaRPr>
          </a:p>
          <a:p>
            <a:r>
              <a:rPr lang="ru-RU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Слоган должен отличатся оригинальностью, аутентичностью, запоминаемостью и релевантностью. Например, </a:t>
            </a:r>
            <a:r>
              <a:rPr lang="en-US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“Just do it” (Nike), “</a:t>
            </a:r>
            <a:r>
              <a:rPr lang="ru-RU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Чистота – чисто Тайд</a:t>
            </a:r>
            <a:r>
              <a:rPr lang="en-US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”</a:t>
            </a:r>
            <a:r>
              <a:rPr lang="ru-RU" dirty="0" smtClean="0">
                <a:latin typeface="Gilroy Medium" panose="00000600000000000000" charset="0"/>
                <a:ea typeface="Grantha Sangam MN" pitchFamily="2" charset="0"/>
                <a:cs typeface="Calibri" panose="020F0502020204030204" pitchFamily="34" charset="0"/>
              </a:rPr>
              <a:t>, «Без треда – не только в интернет» (Билайн).</a:t>
            </a:r>
            <a:endParaRPr lang="en-US" dirty="0" smtClean="0">
              <a:latin typeface="Gilroy Medium" panose="00000600000000000000" charset="0"/>
              <a:ea typeface="Grantha Sangam MN" pitchFamily="2" charset="0"/>
              <a:cs typeface="Calibri" panose="020F0502020204030204" pitchFamily="34" charset="0"/>
            </a:endParaRPr>
          </a:p>
          <a:p>
            <a:pPr marL="342900" indent="-342900">
              <a:buAutoNum type="arabicParenR"/>
            </a:pPr>
            <a:endParaRPr lang="en" sz="1600" dirty="0">
              <a:latin typeface="Gilroy Medium" panose="00000600000000000000" charset="0"/>
              <a:ea typeface="Grantha Sangam MN" pitchFamily="2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130029" y="6476863"/>
            <a:ext cx="8434457" cy="502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00"/>
              </a:lnSpc>
              <a:defRPr/>
            </a:pPr>
            <a:r>
              <a:rPr kumimoji="0" lang="ru-RU" sz="11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Каматали</a:t>
            </a:r>
            <a:r>
              <a:rPr kumimoji="0" lang="ru-RU" sz="1100" b="0" i="0" u="none" strike="noStrike" kern="1200" cap="none" spc="0" normalizeH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А.А, Романов А.Д, Андронов Д.А</a:t>
            </a:r>
            <a:r>
              <a:rPr lang="ru-RU" sz="1100" dirty="0" smtClean="0">
                <a:latin typeface="Gilroy Medium" panose="00000600000000000000" charset="-52"/>
              </a:rPr>
              <a:t>. </a:t>
            </a: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– группа </a:t>
            </a:r>
            <a:r>
              <a:rPr kumimoji="0" lang="ru-RU" sz="11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241-321</a:t>
            </a:r>
            <a:endParaRPr kumimoji="0" lang="ru-RU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10681662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A9BEA4F9-213F-38E5-0944-C803757EAB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9844" y="1272914"/>
            <a:ext cx="10281557" cy="473360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600" b="1" dirty="0" smtClean="0"/>
              <a:t>1. </a:t>
            </a:r>
            <a:r>
              <a:rPr lang="ru-RU" sz="1600" b="1" dirty="0"/>
              <a:t>«WebFlow: Поток идей, поток клиентов.»</a:t>
            </a:r>
          </a:p>
          <a:p>
            <a:pPr marL="0" indent="0">
              <a:buNone/>
            </a:pPr>
            <a:r>
              <a:rPr lang="ru-RU" sz="1600" dirty="0" smtClean="0"/>
              <a:t>Создает </a:t>
            </a:r>
            <a:r>
              <a:rPr lang="ru-RU" sz="1600" dirty="0"/>
              <a:t>мощную ассоциацию: наша работа (поток идей) напрямую ведет к вашему результату (поток клиентов). Название становится метафорой непрерывного движения и роста. Слоган ритмичный и легко запоминается.</a:t>
            </a:r>
            <a:endParaRPr lang="en-US" sz="1600" dirty="0" smtClean="0"/>
          </a:p>
          <a:p>
            <a:pPr marL="0" indent="0">
              <a:buNone/>
            </a:pPr>
            <a:r>
              <a:rPr lang="en-US" sz="1600" b="1" dirty="0" smtClean="0"/>
              <a:t>2. </a:t>
            </a:r>
            <a:r>
              <a:rPr lang="ru-RU" sz="1600" b="1" dirty="0" smtClean="0"/>
              <a:t>«Сложные </a:t>
            </a:r>
            <a:r>
              <a:rPr lang="ru-RU" sz="1600" b="1" dirty="0"/>
              <a:t>технологии. Простой </a:t>
            </a:r>
            <a:r>
              <a:rPr lang="ru-RU" sz="1600" b="1" dirty="0" smtClean="0"/>
              <a:t>результат»</a:t>
            </a:r>
            <a:r>
              <a:rPr lang="ru-RU" sz="1600" b="1" dirty="0"/>
              <a:t>.</a:t>
            </a:r>
            <a:r>
              <a:rPr lang="en-US" sz="1600" b="1" dirty="0" smtClean="0"/>
              <a:t> </a:t>
            </a:r>
            <a:r>
              <a:rPr lang="ru-RU" sz="1600" dirty="0" smtClean="0"/>
              <a:t> </a:t>
            </a:r>
          </a:p>
          <a:p>
            <a:pPr marL="0" indent="0">
              <a:buNone/>
            </a:pPr>
            <a:r>
              <a:rPr lang="ru-RU" sz="1600" dirty="0"/>
              <a:t>К</a:t>
            </a:r>
            <a:r>
              <a:rPr lang="ru-RU" sz="1600" dirty="0" smtClean="0"/>
              <a:t>ороткий</a:t>
            </a:r>
            <a:r>
              <a:rPr lang="ru-RU" sz="1600" dirty="0"/>
              <a:t>, запоминающийся </a:t>
            </a:r>
            <a:r>
              <a:rPr lang="ru-RU" sz="1600" dirty="0" smtClean="0"/>
              <a:t>слоган, который обещает </a:t>
            </a:r>
            <a:r>
              <a:rPr lang="ru-RU" sz="1600" dirty="0"/>
              <a:t>клиенту именно то, что ему нужно — понятный и работающий инструмент. Он говорит: "Мы делаем всю сложную работу за вас, а вы получаете готовый инструмент для роста".</a:t>
            </a:r>
          </a:p>
          <a:p>
            <a:pPr marL="0" indent="0">
              <a:buNone/>
            </a:pPr>
            <a:r>
              <a:rPr lang="ru-RU" sz="1600" b="1" dirty="0" smtClean="0"/>
              <a:t>3</a:t>
            </a:r>
            <a:r>
              <a:rPr lang="ru-RU" sz="1600" b="1" dirty="0"/>
              <a:t>. «Современные сайты для современного бизнеса</a:t>
            </a:r>
            <a:r>
              <a:rPr lang="ru-RU" sz="1600" b="1" dirty="0" smtClean="0"/>
              <a:t>.»</a:t>
            </a:r>
          </a:p>
          <a:p>
            <a:pPr marL="0" indent="0">
              <a:buNone/>
            </a:pPr>
            <a:r>
              <a:rPr lang="ru-RU" sz="1600" b="1" dirty="0"/>
              <a:t> </a:t>
            </a:r>
            <a:r>
              <a:rPr lang="ru-RU" sz="1600" dirty="0"/>
              <a:t>Создает четкую ассоциацию между компанией и актуальными тенденциями</a:t>
            </a:r>
            <a:r>
              <a:rPr lang="ru-RU" sz="1600" dirty="0" smtClean="0"/>
              <a:t>.</a:t>
            </a:r>
          </a:p>
          <a:p>
            <a:pPr marL="0" indent="0">
              <a:buNone/>
            </a:pPr>
            <a:r>
              <a:rPr lang="ru-RU" sz="1600" b="1" dirty="0"/>
              <a:t>4. «Ваш бизнес — наша разработка</a:t>
            </a:r>
            <a:r>
              <a:rPr lang="ru-RU" sz="1600" b="1" dirty="0" smtClean="0"/>
              <a:t>.»</a:t>
            </a:r>
          </a:p>
          <a:p>
            <a:pPr marL="0" indent="0">
              <a:buNone/>
            </a:pPr>
            <a:r>
              <a:rPr lang="ru-RU" sz="1600" dirty="0"/>
              <a:t>оказывает, что команда не просто исполнитель, а партнер, который вкладывает все свои силы («наша разработка») в успех клиента («ваш бизнес</a:t>
            </a:r>
            <a:r>
              <a:rPr lang="ru-RU" sz="1600" dirty="0" smtClean="0"/>
              <a:t>»).</a:t>
            </a:r>
          </a:p>
          <a:p>
            <a:pPr marL="0" indent="0">
              <a:buNone/>
            </a:pPr>
            <a:r>
              <a:rPr lang="ru-RU" sz="1600" b="1" dirty="0" smtClean="0"/>
              <a:t>5</a:t>
            </a:r>
            <a:r>
              <a:rPr lang="ru-RU" sz="1600" b="1" dirty="0"/>
              <a:t>. «Безупречный код. Беспереботный клиент</a:t>
            </a:r>
            <a:r>
              <a:rPr lang="ru-RU" sz="1600" b="1" dirty="0" smtClean="0"/>
              <a:t>.»</a:t>
            </a:r>
          </a:p>
          <a:p>
            <a:pPr marL="0" indent="0">
              <a:buNone/>
            </a:pPr>
            <a:r>
              <a:rPr lang="ru-RU" sz="1600" dirty="0"/>
              <a:t>Игра </a:t>
            </a:r>
            <a:r>
              <a:rPr lang="ru-RU" sz="1600" dirty="0" smtClean="0"/>
              <a:t>слов. "Мы </a:t>
            </a:r>
            <a:r>
              <a:rPr lang="ru-RU" sz="1600" dirty="0"/>
              <a:t>берем на себя всю техническую сложность, чтобы вы могли заниматься своим бизнесом без лишних хлопот". Это снимает главную "боль" заказчика.</a:t>
            </a:r>
          </a:p>
          <a:p>
            <a:pPr marL="0" indent="0">
              <a:buNone/>
            </a:pPr>
            <a:endParaRPr lang="ru-RU" sz="1600" dirty="0"/>
          </a:p>
          <a:p>
            <a:pPr marL="0" indent="0">
              <a:buNone/>
            </a:pPr>
            <a:endParaRPr lang="ru-RU" sz="1600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2D799139-DCEE-644C-9F09-D5348DBCD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9899" y="6088566"/>
            <a:ext cx="442686" cy="657401"/>
          </a:xfrm>
        </p:spPr>
        <p:txBody>
          <a:bodyPr/>
          <a:lstStyle/>
          <a:p>
            <a:fld id="{A01BE76D-E181-4177-862E-40D97C82BFEB}" type="slidenum">
              <a:rPr lang="ru-RU" sz="4000" smtClean="0"/>
              <a:t>6</a:t>
            </a:fld>
            <a:endParaRPr lang="ru-RU" sz="4000" dirty="0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F054DBB5-C310-668F-D13F-DDE474966B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9844" y="232588"/>
            <a:ext cx="8877300" cy="922881"/>
          </a:xfrm>
        </p:spPr>
        <p:txBody>
          <a:bodyPr/>
          <a:lstStyle/>
          <a:p>
            <a:r>
              <a:rPr lang="ru-RU" dirty="0" smtClean="0"/>
              <a:t>Разработка слогана</a:t>
            </a:r>
            <a:endParaRPr lang="ru-RU" dirty="0"/>
          </a:p>
        </p:txBody>
      </p:sp>
      <p:sp>
        <p:nvSpPr>
          <p:cNvPr id="6" name="Rectangle 5"/>
          <p:cNvSpPr/>
          <p:nvPr/>
        </p:nvSpPr>
        <p:spPr>
          <a:xfrm>
            <a:off x="241300" y="6329985"/>
            <a:ext cx="6096000" cy="487121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ts val="1600"/>
              </a:lnSpc>
              <a:defRPr/>
            </a:pP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Каматали А.А, Романов А.Д, Андронов Д.А</a:t>
            </a:r>
            <a:r>
              <a:rPr lang="ru-RU" sz="1100" dirty="0">
                <a:latin typeface="Gilroy Medium" panose="00000600000000000000" charset="-52"/>
              </a:rPr>
              <a:t>. 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– группа 241-321</a:t>
            </a:r>
          </a:p>
          <a:p>
            <a:pPr lvl="0">
              <a:lnSpc>
                <a:spcPts val="1600"/>
              </a:lnSpc>
              <a:defRPr/>
            </a:pPr>
            <a:endParaRPr lang="ru-RU" sz="1100" dirty="0">
              <a:solidFill>
                <a:prstClr val="black"/>
              </a:solidFill>
              <a:latin typeface="Gilroy Medium" panose="00000600000000000000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14503349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6E462F7-B2A7-4E4D-8555-1647177CEEFC}"/>
              </a:ext>
            </a:extLst>
          </p:cNvPr>
          <p:cNvSpPr txBox="1"/>
          <p:nvPr/>
        </p:nvSpPr>
        <p:spPr>
          <a:xfrm>
            <a:off x="2777777" y="3718471"/>
            <a:ext cx="6636443" cy="1887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00"/>
              </a:lnSpc>
              <a:spcBef>
                <a:spcPts val="0"/>
              </a:spcBef>
            </a:pPr>
            <a:r>
              <a:rPr lang="ru-RU" dirty="0">
                <a:latin typeface="Gilroy Medium" panose="00000600000000000000" charset="-52"/>
              </a:rPr>
              <a:t>Студент:  </a:t>
            </a:r>
            <a:r>
              <a:rPr lang="ru-RU" dirty="0">
                <a:latin typeface="Gilroy Medium" panose="00000600000000000000" charset="-52"/>
              </a:rPr>
              <a:t>Каматали Алина </a:t>
            </a:r>
            <a:r>
              <a:rPr lang="ru-RU" dirty="0" smtClean="0">
                <a:latin typeface="Gilroy Medium" panose="00000600000000000000" charset="-52"/>
              </a:rPr>
              <a:t>Аароновна,</a:t>
            </a:r>
            <a:endParaRPr lang="ru-RU" dirty="0">
              <a:latin typeface="Gilroy Medium" panose="00000600000000000000" charset="-52"/>
            </a:endParaRPr>
          </a:p>
          <a:p>
            <a:pPr algn="ctr">
              <a:lnSpc>
                <a:spcPts val="2000"/>
              </a:lnSpc>
              <a:spcBef>
                <a:spcPts val="0"/>
              </a:spcBef>
            </a:pPr>
            <a:r>
              <a:rPr lang="ru-RU" dirty="0">
                <a:latin typeface="Gilroy Medium" panose="00000600000000000000" charset="-52"/>
              </a:rPr>
              <a:t>Романов Александр </a:t>
            </a:r>
            <a:r>
              <a:rPr lang="ru-RU" dirty="0" smtClean="0">
                <a:latin typeface="Gilroy Medium" panose="00000600000000000000" charset="-52"/>
              </a:rPr>
              <a:t>Дмитриевич,</a:t>
            </a:r>
            <a:endParaRPr lang="ru-RU" dirty="0">
              <a:latin typeface="Gilroy Medium" panose="00000600000000000000" charset="-52"/>
            </a:endParaRPr>
          </a:p>
          <a:p>
            <a:pPr algn="ctr">
              <a:lnSpc>
                <a:spcPts val="2000"/>
              </a:lnSpc>
              <a:spcBef>
                <a:spcPts val="0"/>
              </a:spcBef>
            </a:pPr>
            <a:r>
              <a:rPr lang="ru-RU" dirty="0">
                <a:latin typeface="Gilroy Medium" panose="00000600000000000000" charset="-52"/>
              </a:rPr>
              <a:t>Андронов Денис </a:t>
            </a:r>
            <a:r>
              <a:rPr lang="ru-RU" dirty="0" smtClean="0">
                <a:latin typeface="Gilroy Medium" panose="00000600000000000000" charset="-52"/>
              </a:rPr>
              <a:t>Андреевич,</a:t>
            </a:r>
            <a:endParaRPr lang="ru-RU" dirty="0">
              <a:latin typeface="Gilroy Medium" panose="00000600000000000000" charset="-52"/>
            </a:endParaRPr>
          </a:p>
          <a:p>
            <a:pPr algn="ctr">
              <a:lnSpc>
                <a:spcPts val="2000"/>
              </a:lnSpc>
            </a:pPr>
            <a:r>
              <a:rPr lang="ru-RU" sz="1800" dirty="0" smtClean="0">
                <a:latin typeface="Gilroy Medium" panose="00000600000000000000" charset="-52"/>
              </a:rPr>
              <a:t> </a:t>
            </a:r>
            <a:r>
              <a:rPr kumimoji="0" lang="ru-RU" sz="18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группа 241-321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  <a:p>
            <a:pPr algn="ctr">
              <a:lnSpc>
                <a:spcPts val="2000"/>
              </a:lnSpc>
              <a:spcBef>
                <a:spcPts val="0"/>
              </a:spcBef>
            </a:pPr>
            <a:endParaRPr lang="ru-RU" dirty="0">
              <a:latin typeface="Gilroy Medium" panose="00000600000000000000" charset="-52"/>
            </a:endParaRPr>
          </a:p>
          <a:p>
            <a:pPr algn="ctr">
              <a:lnSpc>
                <a:spcPts val="2000"/>
              </a:lnSpc>
              <a:spcBef>
                <a:spcPts val="0"/>
              </a:spcBef>
            </a:pPr>
            <a:r>
              <a:rPr lang="ru-RU" dirty="0">
                <a:solidFill>
                  <a:schemeClr val="tx1"/>
                </a:solidFill>
                <a:latin typeface="Gilroy Medium" panose="00000600000000000000" charset="-52"/>
              </a:rPr>
              <a:t>Преподаватели: Смирнова Юлия </a:t>
            </a:r>
            <a:r>
              <a:rPr lang="ru-RU" dirty="0" smtClean="0">
                <a:solidFill>
                  <a:schemeClr val="tx1"/>
                </a:solidFill>
                <a:latin typeface="Gilroy Medium" panose="00000600000000000000" charset="-52"/>
              </a:rPr>
              <a:t>Владимировна</a:t>
            </a:r>
          </a:p>
          <a:p>
            <a:pPr algn="ctr">
              <a:lnSpc>
                <a:spcPts val="2000"/>
              </a:lnSpc>
              <a:spcBef>
                <a:spcPts val="0"/>
              </a:spcBef>
            </a:pPr>
            <a:r>
              <a:rPr lang="ru-RU" dirty="0" smtClean="0">
                <a:latin typeface="Gilroy Medium" panose="00000600000000000000" charset="-52"/>
              </a:rPr>
              <a:t>Кулибаба Ирина Викторовна</a:t>
            </a:r>
            <a:endParaRPr lang="ru-RU" dirty="0">
              <a:solidFill>
                <a:schemeClr val="tx1"/>
              </a:solidFill>
              <a:latin typeface="Gilroy Medium" panose="00000600000000000000" charset="-5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C76724-8B7E-49E1-A5D8-0A86497396F2}"/>
              </a:ext>
            </a:extLst>
          </p:cNvPr>
          <p:cNvSpPr txBox="1"/>
          <p:nvPr/>
        </p:nvSpPr>
        <p:spPr>
          <a:xfrm>
            <a:off x="4729957" y="6454765"/>
            <a:ext cx="230576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ru-RU" sz="16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n-ea"/>
                <a:cs typeface="+mn-cs"/>
              </a:rPr>
              <a:t>2025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C1E841-C2B3-4680-B71A-C0E060431885}"/>
              </a:ext>
            </a:extLst>
          </p:cNvPr>
          <p:cNvSpPr txBox="1"/>
          <p:nvPr/>
        </p:nvSpPr>
        <p:spPr>
          <a:xfrm>
            <a:off x="1268561" y="3044279"/>
            <a:ext cx="965487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kumimoji="0" lang="ru-RU" sz="28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j-ea"/>
                <a:cs typeface="+mj-cs"/>
              </a:rPr>
              <a:t>Разработка слогана компании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E13023-76F4-C3B7-2ADD-3CB7FBF2CC7A}"/>
              </a:ext>
            </a:extLst>
          </p:cNvPr>
          <p:cNvSpPr txBox="1"/>
          <p:nvPr/>
        </p:nvSpPr>
        <p:spPr>
          <a:xfrm>
            <a:off x="5219279" y="542298"/>
            <a:ext cx="65038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kumimoji="0" lang="ru-RU" sz="28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j-ea"/>
                <a:cs typeface="+mj-cs"/>
              </a:rPr>
              <a:t>Спасибо за внимание</a:t>
            </a:r>
          </a:p>
        </p:txBody>
      </p:sp>
    </p:spTree>
    <p:extLst>
      <p:ext uri="{BB962C8B-B14F-4D97-AF65-F5344CB8AC3E}">
        <p14:creationId xmlns:p14="http://schemas.microsoft.com/office/powerpoint/2010/main" val="345414264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2">
  <a:themeElements>
    <a:clrScheme name="Московский Политех">
      <a:dk1>
        <a:sysClr val="windowText" lastClr="000000"/>
      </a:dk1>
      <a:lt1>
        <a:sysClr val="window" lastClr="FFFFFF"/>
      </a:lt1>
      <a:dk2>
        <a:srgbClr val="171616"/>
      </a:dk2>
      <a:lt2>
        <a:srgbClr val="E7E6E6"/>
      </a:lt2>
      <a:accent1>
        <a:srgbClr val="E61E46"/>
      </a:accent1>
      <a:accent2>
        <a:srgbClr val="1E3E8D"/>
      </a:accent2>
      <a:accent3>
        <a:srgbClr val="A5A5A5"/>
      </a:accent3>
      <a:accent4>
        <a:srgbClr val="60DCCA"/>
      </a:accent4>
      <a:accent5>
        <a:srgbClr val="3478BC"/>
      </a:accent5>
      <a:accent6>
        <a:srgbClr val="E94572"/>
      </a:accent6>
      <a:hlink>
        <a:srgbClr val="3478BC"/>
      </a:hlink>
      <a:folHlink>
        <a:srgbClr val="E94572"/>
      </a:folHlink>
    </a:clrScheme>
    <a:fontScheme name="Другая 2">
      <a:majorFont>
        <a:latin typeface="Verdana "/>
        <a:ea typeface=""/>
        <a:cs typeface=""/>
      </a:majorFont>
      <a:minorFont>
        <a:latin typeface="Verdana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Презентация6" id="{2AEEDDF9-59ED-463C-8E0C-BF21DC8B3CB6}" vid="{CDD37877-5C07-4AD6-AFB2-357C367BDEC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Shablon_Moscow_Poly_v3</Template>
  <TotalTime>1262</TotalTime>
  <Words>767</Words>
  <Application>Microsoft Office PowerPoint</Application>
  <PresentationFormat>Widescreen</PresentationFormat>
  <Paragraphs>92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Arial</vt:lpstr>
      <vt:lpstr>Calibri</vt:lpstr>
      <vt:lpstr>Gilroy Bold</vt:lpstr>
      <vt:lpstr>Verdana</vt:lpstr>
      <vt:lpstr>Grantha Sangam MN</vt:lpstr>
      <vt:lpstr>Gilroy Medium</vt:lpstr>
      <vt:lpstr>Тема2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Разработка слогана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Maibenben</dc:creator>
  <cp:lastModifiedBy>alina</cp:lastModifiedBy>
  <cp:revision>77</cp:revision>
  <dcterms:created xsi:type="dcterms:W3CDTF">2024-05-27T20:04:35Z</dcterms:created>
  <dcterms:modified xsi:type="dcterms:W3CDTF">2025-11-23T15:28:31Z</dcterms:modified>
</cp:coreProperties>
</file>