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896" r:id="rId1"/>
  </p:sldMasterIdLst>
  <p:notesMasterIdLst>
    <p:notesMasterId r:id="rId7"/>
  </p:notesMasterIdLst>
  <p:sldIdLst>
    <p:sldId id="256" r:id="rId2"/>
    <p:sldId id="257" r:id="rId3"/>
    <p:sldId id="273" r:id="rId4"/>
    <p:sldId id="272" r:id="rId5"/>
    <p:sldId id="258" r:id="rId6"/>
  </p:sldIdLst>
  <p:sldSz cx="12192000" cy="6858000"/>
  <p:notesSz cx="6858000" cy="9144000"/>
  <p:embeddedFontLst>
    <p:embeddedFont>
      <p:font typeface="Calibri" panose="020F0502020204030204" pitchFamily="34" charset="0"/>
      <p:regular r:id="rId8"/>
      <p:bold r:id="rId9"/>
      <p:italic r:id="rId10"/>
      <p:boldItalic r:id="rId11"/>
    </p:embeddedFont>
    <p:embeddedFont>
      <p:font typeface="Cambria" panose="02040503050406030204" pitchFamily="18" charset="0"/>
      <p:regular r:id="rId12"/>
      <p:bold r:id="rId13"/>
      <p:italic r:id="rId14"/>
      <p:boldItalic r:id="rId15"/>
    </p:embeddedFont>
    <p:embeddedFont>
      <p:font typeface="Gilroy Bold" pitchFamily="2" charset="0"/>
      <p:bold r:id="rId16"/>
    </p:embeddedFont>
    <p:embeddedFont>
      <p:font typeface="Gilroy Medium" pitchFamily="2" charset="0"/>
      <p:regular r:id="rId17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57" autoAdjust="0"/>
    <p:restoredTop sz="94648"/>
  </p:normalViewPr>
  <p:slideViewPr>
    <p:cSldViewPr snapToGrid="0">
      <p:cViewPr varScale="1">
        <p:scale>
          <a:sx n="112" d="100"/>
          <a:sy n="112" d="100"/>
        </p:scale>
        <p:origin x="600" y="96"/>
      </p:cViewPr>
      <p:guideLst/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B9DC91-30C7-46AB-ADDB-A80A0533D77A}" type="datetimeFigureOut">
              <a:rPr lang="ru-RU" smtClean="0"/>
              <a:t>25.11.2025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B6BEC5-E5BF-4073-B59F-AF429BC831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3945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85845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88304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7305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83909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29134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039528" y="2001837"/>
            <a:ext cx="10087276" cy="1508125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039528" y="4129238"/>
            <a:ext cx="10087276" cy="11285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530" y="-100001"/>
            <a:ext cx="3006013" cy="2125974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6097" y="5654764"/>
            <a:ext cx="2860213" cy="1632459"/>
          </a:xfrm>
          <a:prstGeom prst="rect">
            <a:avLst/>
          </a:prstGeom>
        </p:spPr>
      </p:pic>
      <p:cxnSp>
        <p:nvCxnSpPr>
          <p:cNvPr id="12" name="Прямая соединительная линия 11"/>
          <p:cNvCxnSpPr/>
          <p:nvPr/>
        </p:nvCxnSpPr>
        <p:spPr>
          <a:xfrm>
            <a:off x="4555671" y="1224644"/>
            <a:ext cx="7740000" cy="0"/>
          </a:xfrm>
          <a:prstGeom prst="line">
            <a:avLst/>
          </a:prstGeom>
          <a:ln w="57150" cap="rnd"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530" y="-100001"/>
            <a:ext cx="3006013" cy="2125974"/>
          </a:xfrm>
          <a:prstGeom prst="rect">
            <a:avLst/>
          </a:prstGeom>
        </p:spPr>
      </p:pic>
      <p:cxnSp>
        <p:nvCxnSpPr>
          <p:cNvPr id="9" name="Прямая соединительная линия 8"/>
          <p:cNvCxnSpPr/>
          <p:nvPr userDrawn="1"/>
        </p:nvCxnSpPr>
        <p:spPr>
          <a:xfrm>
            <a:off x="4555671" y="1224644"/>
            <a:ext cx="7740000" cy="0"/>
          </a:xfrm>
          <a:prstGeom prst="line">
            <a:avLst/>
          </a:prstGeom>
          <a:ln w="57150" cap="rnd"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9507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959430"/>
            <a:ext cx="10281557" cy="364943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D3C23-8038-4008-B24E-40A94D79456D}" type="datetime1">
              <a:rPr lang="ru-RU" smtClean="0"/>
              <a:t>25.11.2025</a:t>
            </a:fld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10080171" y="5698671"/>
            <a:ext cx="1787979" cy="1047296"/>
          </a:xfrm>
        </p:spPr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73704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58779" y="1286227"/>
            <a:ext cx="10087276" cy="215961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058779" y="4165953"/>
            <a:ext cx="10087276" cy="1445576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424272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9993084" y="5390016"/>
            <a:ext cx="1828800" cy="1331459"/>
          </a:xfrm>
        </p:spPr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5252357" cy="410981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3543300" cy="410981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ADD92-CC98-4900-BE8A-2068547BBC1A}" type="datetime1">
              <a:rPr lang="ru-RU" smtClean="0"/>
              <a:t>25.11.2025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0800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992085"/>
            <a:ext cx="4205741" cy="51298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702379"/>
            <a:ext cx="4205741" cy="321672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5372100" y="1992085"/>
            <a:ext cx="4327071" cy="51298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5372100" y="2702379"/>
            <a:ext cx="4327071" cy="321672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38898-160C-4747-9301-0B5702FA49D8}" type="datetime1">
              <a:rPr lang="ru-RU" smtClean="0"/>
              <a:t>25.11.2025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8859383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536706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BB16F-DABE-4712-B47F-7722E1CB50FE}" type="datetime1">
              <a:rPr lang="ru-RU" smtClean="0"/>
              <a:t>25.11.2025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703277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BEA22-9938-4273-8C60-D80B349E4BA9}" type="datetime1">
              <a:rPr lang="ru-RU" smtClean="0"/>
              <a:t>25.11.2025</a:t>
            </a:fld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1701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52672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66859" y="1281339"/>
            <a:ext cx="4898069" cy="458764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D790B-F35A-4C90-BC4A-BA7F77964CA4}" type="datetime1">
              <a:rPr lang="ru-RU" smtClean="0"/>
              <a:t>25.11.2025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9784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52672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1273629"/>
            <a:ext cx="5823902" cy="41120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32831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EF080-AA0F-44FA-BA62-A56D8619F7E7}" type="datetime1">
              <a:rPr lang="ru-RU" smtClean="0"/>
              <a:t>25.11.2025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0307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 title="0"/>
          <p:cNvSpPr>
            <a:spLocks noGrp="1" noChangeAspect="1"/>
          </p:cNvSpPr>
          <p:nvPr>
            <p:ph type="sldNum" sz="quarter" idx="4"/>
          </p:nvPr>
        </p:nvSpPr>
        <p:spPr>
          <a:xfrm>
            <a:off x="10076358" y="5731329"/>
            <a:ext cx="1787978" cy="1071890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Autofit/>
          </a:bodyPr>
          <a:lstStyle>
            <a:lvl1pPr algn="l">
              <a:defRPr sz="9600" b="0" i="0" baseline="0">
                <a:solidFill>
                  <a:schemeClr val="bg2">
                    <a:lumMod val="90000"/>
                  </a:schemeClr>
                </a:solidFill>
                <a:latin typeface="Gilroy Medium" panose="00000600000000000000" pitchFamily="2" charset="-52"/>
              </a:defRPr>
            </a:lvl1pPr>
          </a:lstStyle>
          <a:p>
            <a:fld id="{A01BE76D-E181-4177-862E-40D97C82BFEB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959429"/>
            <a:ext cx="10281557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AB8CDF-4973-4195-91CA-18BA11F1D400}" type="datetime1">
              <a:rPr lang="ru-RU" smtClean="0"/>
              <a:t>25.11.2025</a:t>
            </a:fld>
            <a:endParaRPr lang="ru-RU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5768" y="200819"/>
            <a:ext cx="1489158" cy="1053193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555171"/>
            <a:ext cx="8877300" cy="11355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cxnSp>
        <p:nvCxnSpPr>
          <p:cNvPr id="12" name="Прямая соединительная линия 11"/>
          <p:cNvCxnSpPr/>
          <p:nvPr/>
        </p:nvCxnSpPr>
        <p:spPr>
          <a:xfrm>
            <a:off x="10260531" y="1094014"/>
            <a:ext cx="1980000" cy="0"/>
          </a:xfrm>
          <a:prstGeom prst="line">
            <a:avLst/>
          </a:prstGeom>
          <a:ln w="38100" cap="rnd"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/>
          <p:cNvCxnSpPr/>
          <p:nvPr userDrawn="1"/>
        </p:nvCxnSpPr>
        <p:spPr>
          <a:xfrm>
            <a:off x="10260531" y="1094014"/>
            <a:ext cx="1980000" cy="0"/>
          </a:xfrm>
          <a:prstGeom prst="line">
            <a:avLst/>
          </a:prstGeom>
          <a:ln w="38100" cap="rnd"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3667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7" r:id="rId1"/>
    <p:sldLayoutId id="2147483898" r:id="rId2"/>
    <p:sldLayoutId id="2147483899" r:id="rId3"/>
    <p:sldLayoutId id="2147483900" r:id="rId4"/>
    <p:sldLayoutId id="2147483901" r:id="rId5"/>
    <p:sldLayoutId id="2147483902" r:id="rId6"/>
    <p:sldLayoutId id="2147483903" r:id="rId7"/>
    <p:sldLayoutId id="2147483904" r:id="rId8"/>
    <p:sldLayoutId id="2147483905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Gilroy Bold" panose="00000800000000000000" pitchFamily="2" charset="-52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8D64222-1292-4A23-A829-4D7C56BB71FE}"/>
              </a:ext>
            </a:extLst>
          </p:cNvPr>
          <p:cNvSpPr txBox="1"/>
          <p:nvPr/>
        </p:nvSpPr>
        <p:spPr>
          <a:xfrm>
            <a:off x="4067954" y="723037"/>
            <a:ext cx="812404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Веб-</a:t>
            </a:r>
            <a:r>
              <a:rPr kumimoji="0" lang="ru-RU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райтинг</a:t>
            </a:r>
            <a:endParaRPr kumimoji="0" lang="ru-RU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kumimoji="0" lang="ru-RU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j-ea"/>
              <a:cs typeface="Calibri" panose="020F0502020204030204" pitchFamily="34" charset="0"/>
            </a:endParaRPr>
          </a:p>
          <a:p>
            <a:pPr algn="ctr"/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</a:t>
            </a: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по направлению 09.03.01 Информатика и вычислительная техника</a:t>
            </a:r>
          </a:p>
          <a:p>
            <a:pPr algn="ctr"/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Образовательная программа (профиль) «Веб-технологии»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AAA36A-0422-46F0-BA3A-4B2EF754C329}"/>
              </a:ext>
            </a:extLst>
          </p:cNvPr>
          <p:cNvSpPr txBox="1"/>
          <p:nvPr/>
        </p:nvSpPr>
        <p:spPr>
          <a:xfrm>
            <a:off x="227901" y="2742486"/>
            <a:ext cx="118872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3200" b="1" dirty="0">
                <a:solidFill>
                  <a:srgbClr val="343A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Лабораторная работа №5</a:t>
            </a:r>
            <a:br>
              <a:rPr lang="ru-RU" sz="3200" b="1" dirty="0">
                <a:solidFill>
                  <a:srgbClr val="343A4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ru-RU" sz="3200" b="1" dirty="0">
                <a:solidFill>
                  <a:srgbClr val="343A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Работа с манипулятивными приемами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E4B5EE-80E5-44C9-B29C-37CD3F69DA42}"/>
              </a:ext>
            </a:extLst>
          </p:cNvPr>
          <p:cNvSpPr txBox="1"/>
          <p:nvPr/>
        </p:nvSpPr>
        <p:spPr>
          <a:xfrm>
            <a:off x="4782071" y="6353372"/>
            <a:ext cx="225034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2025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2549EF8-B780-5DED-62AA-D959F4639613}"/>
              </a:ext>
            </a:extLst>
          </p:cNvPr>
          <p:cNvSpPr txBox="1"/>
          <p:nvPr/>
        </p:nvSpPr>
        <p:spPr>
          <a:xfrm>
            <a:off x="2994457" y="3821648"/>
            <a:ext cx="6203086" cy="348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00"/>
              </a:lnSpc>
              <a:spcBef>
                <a:spcPts val="0"/>
              </a:spcBef>
            </a:pPr>
            <a:r>
              <a:rPr lang="ru-RU" b="0" i="0" u="none" strike="noStrike" dirty="0">
                <a:solidFill>
                  <a:srgbClr val="343A4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«Манипулятивные приемы и языковая игра»</a:t>
            </a:r>
            <a:endParaRPr lang="ru-RU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A902FD-9134-5945-8861-07EF31744AA1}"/>
              </a:ext>
            </a:extLst>
          </p:cNvPr>
          <p:cNvSpPr txBox="1"/>
          <p:nvPr/>
        </p:nvSpPr>
        <p:spPr>
          <a:xfrm>
            <a:off x="5673438" y="4978637"/>
            <a:ext cx="6203086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000"/>
              </a:lnSpc>
              <a:spcBef>
                <a:spcPts val="0"/>
              </a:spcBef>
            </a:pPr>
            <a:r>
              <a:rPr lang="ru-RU" dirty="0">
                <a:latin typeface="Gilroy Medium" panose="00000600000000000000" charset="-52"/>
              </a:rPr>
              <a:t>Студент:  Андронов Денис Андреевич 241-321, </a:t>
            </a:r>
          </a:p>
          <a:p>
            <a:pPr algn="r">
              <a:lnSpc>
                <a:spcPts val="2000"/>
              </a:lnSpc>
            </a:pPr>
            <a:r>
              <a:rPr lang="ru-RU" dirty="0">
                <a:effectLst/>
                <a:latin typeface="Helvetica Neue" panose="02000503000000020004" pitchFamily="2" charset="0"/>
              </a:rPr>
              <a:t>Романов Александр Дмитриевич </a:t>
            </a:r>
            <a:r>
              <a:rPr lang="ru-RU" dirty="0">
                <a:latin typeface="Gilroy Medium" panose="00000600000000000000" charset="-52"/>
              </a:rPr>
              <a:t>241-321</a:t>
            </a:r>
          </a:p>
          <a:p>
            <a:pPr algn="r">
              <a:lnSpc>
                <a:spcPts val="2000"/>
              </a:lnSpc>
            </a:pPr>
            <a:r>
              <a:rPr lang="ru-RU" dirty="0" err="1">
                <a:effectLst/>
                <a:latin typeface="Helvetica Neue" panose="02000503000000020004" pitchFamily="2" charset="0"/>
              </a:rPr>
              <a:t>Каматали</a:t>
            </a:r>
            <a:r>
              <a:rPr lang="ru-RU" dirty="0">
                <a:effectLst/>
                <a:latin typeface="Helvetica Neue" panose="02000503000000020004" pitchFamily="2" charset="0"/>
              </a:rPr>
              <a:t> Алина </a:t>
            </a:r>
            <a:r>
              <a:rPr lang="ru-RU" dirty="0" err="1">
                <a:effectLst/>
                <a:latin typeface="Helvetica Neue" panose="02000503000000020004" pitchFamily="2" charset="0"/>
              </a:rPr>
              <a:t>Аароновна</a:t>
            </a:r>
            <a:r>
              <a:rPr lang="ru-RU" dirty="0">
                <a:effectLst/>
                <a:latin typeface="Helvetica Neue" panose="02000503000000020004" pitchFamily="2" charset="0"/>
              </a:rPr>
              <a:t> </a:t>
            </a:r>
            <a:r>
              <a:rPr lang="ru-RU" dirty="0">
                <a:latin typeface="Gilroy Medium" panose="00000600000000000000" charset="-52"/>
              </a:rPr>
              <a:t>241-321</a:t>
            </a:r>
          </a:p>
        </p:txBody>
      </p:sp>
    </p:spTree>
    <p:extLst>
      <p:ext uri="{BB962C8B-B14F-4D97-AF65-F5344CB8AC3E}">
        <p14:creationId xmlns:p14="http://schemas.microsoft.com/office/powerpoint/2010/main" val="9164140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11580453" y="6171414"/>
            <a:ext cx="409963" cy="610899"/>
          </a:xfrm>
        </p:spPr>
        <p:txBody>
          <a:bodyPr/>
          <a:lstStyle/>
          <a:p>
            <a:fld id="{A01BE76D-E181-4177-862E-40D97C82BFEB}" type="slidenum">
              <a:rPr lang="ru-RU" sz="3200" smtClean="0"/>
              <a:t>2</a:t>
            </a:fld>
            <a:endParaRPr lang="ru-RU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E8C6BD-D95E-4822-B09A-435E67225EB0}"/>
              </a:ext>
            </a:extLst>
          </p:cNvPr>
          <p:cNvSpPr txBox="1"/>
          <p:nvPr/>
        </p:nvSpPr>
        <p:spPr>
          <a:xfrm>
            <a:off x="130029" y="6476863"/>
            <a:ext cx="8434457" cy="487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Фролов А.Д, </a:t>
            </a:r>
            <a:r>
              <a:rPr lang="ru-RU" sz="1100" dirty="0" err="1">
                <a:solidFill>
                  <a:prstClr val="black"/>
                </a:solidFill>
                <a:latin typeface="Gilroy Medium" panose="00000600000000000000" charset="-52"/>
              </a:rPr>
              <a:t>Шкалдык</a:t>
            </a:r>
            <a:r>
              <a:rPr lang="ru-RU" sz="1100" dirty="0">
                <a:solidFill>
                  <a:prstClr val="black"/>
                </a:solidFill>
                <a:latin typeface="Gilroy Medium" panose="00000600000000000000" charset="-52"/>
              </a:rPr>
              <a:t> В</a:t>
            </a:r>
            <a:r>
              <a:rPr lang="en-US" sz="1100" dirty="0">
                <a:solidFill>
                  <a:prstClr val="black"/>
                </a:solidFill>
                <a:latin typeface="Gilroy Medium" panose="00000600000000000000" charset="-52"/>
              </a:rPr>
              <a:t>.</a:t>
            </a:r>
            <a:r>
              <a:rPr lang="ru-RU" sz="1100" dirty="0">
                <a:solidFill>
                  <a:prstClr val="black"/>
                </a:solidFill>
                <a:latin typeface="Gilroy Medium" panose="00000600000000000000" charset="-52"/>
              </a:rPr>
              <a:t>А</a:t>
            </a:r>
            <a:r>
              <a:rPr lang="en-US" sz="1100" dirty="0">
                <a:solidFill>
                  <a:prstClr val="black"/>
                </a:solidFill>
                <a:latin typeface="Gilroy Medium" panose="00000600000000000000" charset="-52"/>
              </a:rPr>
              <a:t>,</a:t>
            </a:r>
            <a:r>
              <a:rPr lang="ru-RU" sz="1100" dirty="0">
                <a:solidFill>
                  <a:prstClr val="black"/>
                </a:solidFill>
                <a:latin typeface="Gilroy Medium" panose="00000600000000000000" charset="-52"/>
              </a:rPr>
              <a:t> Михайлов М</a:t>
            </a:r>
            <a:r>
              <a:rPr lang="en-US" sz="1100" dirty="0">
                <a:solidFill>
                  <a:prstClr val="black"/>
                </a:solidFill>
                <a:latin typeface="Gilroy Medium" panose="00000600000000000000" charset="-52"/>
              </a:rPr>
              <a:t>.C, </a:t>
            </a:r>
            <a:r>
              <a:rPr lang="ru-RU" sz="1100" dirty="0">
                <a:solidFill>
                  <a:prstClr val="black"/>
                </a:solidFill>
                <a:latin typeface="Gilroy Medium" panose="00000600000000000000" charset="-52"/>
              </a:rPr>
              <a:t>Демченко Е</a:t>
            </a:r>
            <a:r>
              <a:rPr lang="en-US" sz="1100" dirty="0">
                <a:solidFill>
                  <a:prstClr val="black"/>
                </a:solidFill>
                <a:latin typeface="Gilroy Medium" panose="00000600000000000000" charset="-52"/>
              </a:rPr>
              <a:t>.</a:t>
            </a:r>
            <a:r>
              <a:rPr lang="ru-RU" sz="1100" dirty="0">
                <a:solidFill>
                  <a:prstClr val="black"/>
                </a:solidFill>
                <a:latin typeface="Gilroy Medium" panose="00000600000000000000" charset="-52"/>
              </a:rPr>
              <a:t>М</a:t>
            </a:r>
            <a:r>
              <a:rPr lang="ru-RU" sz="1100" dirty="0">
                <a:latin typeface="Gilroy Medium" panose="00000600000000000000" charset="-52"/>
              </a:rPr>
              <a:t>. 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– группа 231-322</a:t>
            </a:r>
          </a:p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roy Medium" panose="00000600000000000000" charset="-52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69E9A5-0F30-46EE-BA6A-78421B32F98B}"/>
              </a:ext>
            </a:extLst>
          </p:cNvPr>
          <p:cNvSpPr txBox="1"/>
          <p:nvPr/>
        </p:nvSpPr>
        <p:spPr>
          <a:xfrm>
            <a:off x="457200" y="1845733"/>
            <a:ext cx="946400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Цель</a:t>
            </a:r>
            <a:r>
              <a:rPr lang="ru-RU" sz="2400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: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</a:t>
            </a:r>
            <a:r>
              <a:rPr lang="ru-RU" sz="2400" b="0" i="0" u="none" strike="noStrike" dirty="0">
                <a:solidFill>
                  <a:srgbClr val="343A4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Изучение правил и особенностей работы с манипулятивными приемами и языковой игрой как эффективными элементами рекламного текста. Разработка эффективного продающего манипулирующего рекламного текста.</a:t>
            </a:r>
            <a:endParaRPr kumimoji="0" lang="en-US" sz="24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 pitchFamily="34" charset="0"/>
              <a:ea typeface="+mj-ea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8B0259-6E5B-CD0B-F8B8-C409288C91FA}"/>
              </a:ext>
            </a:extLst>
          </p:cNvPr>
          <p:cNvSpPr txBox="1"/>
          <p:nvPr/>
        </p:nvSpPr>
        <p:spPr>
          <a:xfrm>
            <a:off x="326876" y="538629"/>
            <a:ext cx="65350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Постановка цели и основной задачи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 pitchFamily="34" charset="0"/>
              <a:ea typeface="+mj-ea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08577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2D799139-DCEE-644C-9F09-D5348DBCD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9899" y="6088566"/>
            <a:ext cx="442686" cy="657401"/>
          </a:xfrm>
        </p:spPr>
        <p:txBody>
          <a:bodyPr/>
          <a:lstStyle/>
          <a:p>
            <a:fld id="{A01BE76D-E181-4177-862E-40D97C82BFEB}" type="slidenum">
              <a:rPr lang="ru-RU" sz="4000" smtClean="0"/>
              <a:t>3</a:t>
            </a:fld>
            <a:endParaRPr lang="ru-RU" sz="4000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F054DBB5-C310-668F-D13F-DDE474966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300" y="0"/>
            <a:ext cx="9304144" cy="1135517"/>
          </a:xfrm>
        </p:spPr>
        <p:txBody>
          <a:bodyPr/>
          <a:lstStyle/>
          <a:p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Манипулятивный прием в рекламе</a:t>
            </a:r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2A716B93-07AB-5246-B7DE-6BBB8C1FC2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6770" y="1099691"/>
            <a:ext cx="10281557" cy="5317575"/>
          </a:xfrm>
        </p:spPr>
        <p:txBody>
          <a:bodyPr>
            <a:noAutofit/>
          </a:bodyPr>
          <a:lstStyle/>
          <a:p>
            <a:pPr algn="l"/>
            <a:r>
              <a:rPr lang="ru-RU" sz="1400" b="1" i="0" u="none" strike="noStrike" dirty="0">
                <a:solidFill>
                  <a:schemeClr val="tx1"/>
                </a:solidFill>
                <a:effectLst/>
                <a:latin typeface="quote-cjk-patch"/>
              </a:rPr>
              <a:t>Зачин:</a:t>
            </a:r>
            <a:br>
              <a:rPr lang="ru-RU" sz="1400" b="0" i="0" u="none" strike="noStrike" dirty="0">
                <a:solidFill>
                  <a:schemeClr val="tx1"/>
                </a:solidFill>
                <a:effectLst/>
                <a:latin typeface="quote-cjk-patch"/>
              </a:rPr>
            </a:br>
            <a:r>
              <a:rPr lang="ru-RU" sz="1400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"Вы ведь хотите, чтобы ваш сайт работал как отлаженный механизм, приносящий прибыль?"</a:t>
            </a:r>
          </a:p>
          <a:p>
            <a:pPr algn="l"/>
            <a:r>
              <a:rPr lang="ru-RU" sz="1400" b="1" i="0" u="none" strike="noStrike" dirty="0">
                <a:solidFill>
                  <a:schemeClr val="tx1"/>
                </a:solidFill>
                <a:effectLst/>
                <a:latin typeface="quote-cjk-patch"/>
              </a:rPr>
              <a:t>Основной текст:</a:t>
            </a:r>
            <a:br>
              <a:rPr lang="ru-RU" sz="1400" b="0" i="0" u="none" strike="noStrike" dirty="0">
                <a:solidFill>
                  <a:schemeClr val="tx1"/>
                </a:solidFill>
                <a:effectLst/>
                <a:latin typeface="quote-cjk-patch"/>
              </a:rPr>
            </a:br>
            <a:r>
              <a:rPr lang="ru-RU" sz="1400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Каждый успешный бизнес сегодня понимает: сайт — это не просто визитка, это кровеносная система вашей компании. </a:t>
            </a:r>
            <a:r>
              <a:rPr lang="en" sz="1400" b="0" i="0" u="none" strike="noStrike" dirty="0" err="1">
                <a:solidFill>
                  <a:schemeClr val="tx1"/>
                </a:solidFill>
                <a:effectLst/>
                <a:latin typeface="quote-cjk-patch"/>
              </a:rPr>
              <a:t>WebFlow</a:t>
            </a:r>
            <a:r>
              <a:rPr lang="en" sz="1400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 </a:t>
            </a:r>
            <a:r>
              <a:rPr lang="ru-RU" sz="1400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создаёт не просто страницы, а почему именно нас выбирают лидеры рынка? Потому что мы превращаем посетителей в постоянных клиентов.</a:t>
            </a:r>
          </a:p>
          <a:p>
            <a:pPr algn="l"/>
            <a:r>
              <a:rPr lang="ru-RU" sz="1400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Наши решения — это не шаблонные разработки, а индивидуальный цифровой организм, который дышит в ритме вашего бизнеса. Убедитесь в этом сами: посмотрите на проекты, которые уже растут с нами.</a:t>
            </a:r>
          </a:p>
          <a:p>
            <a:pPr algn="l"/>
            <a:r>
              <a:rPr lang="ru-RU" sz="1400" b="1" i="0" u="none" strike="noStrike" dirty="0">
                <a:solidFill>
                  <a:schemeClr val="tx1"/>
                </a:solidFill>
                <a:effectLst/>
                <a:latin typeface="quote-cjk-patch"/>
              </a:rPr>
              <a:t>Эхо-фраза:</a:t>
            </a:r>
            <a:br>
              <a:rPr lang="ru-RU" sz="1400" b="0" i="0" u="none" strike="noStrike" dirty="0">
                <a:solidFill>
                  <a:schemeClr val="tx1"/>
                </a:solidFill>
                <a:effectLst/>
                <a:latin typeface="quote-cjk-patch"/>
              </a:rPr>
            </a:br>
            <a:r>
              <a:rPr lang="ru-RU" sz="1400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"</a:t>
            </a:r>
            <a:r>
              <a:rPr lang="en" sz="1400" b="0" i="0" u="none" strike="noStrike" dirty="0" err="1">
                <a:solidFill>
                  <a:schemeClr val="tx1"/>
                </a:solidFill>
                <a:effectLst/>
                <a:latin typeface="quote-cjk-patch"/>
              </a:rPr>
              <a:t>WebFlow</a:t>
            </a:r>
            <a:r>
              <a:rPr lang="en" sz="1400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 — </a:t>
            </a:r>
            <a:r>
              <a:rPr lang="ru-RU" sz="1400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ваш бизнес в правильном потоке!"</a:t>
            </a:r>
          </a:p>
          <a:p>
            <a:pPr algn="l"/>
            <a:r>
              <a:rPr lang="ru-RU" sz="1400" b="1" i="0" u="none" strike="noStrike" dirty="0">
                <a:solidFill>
                  <a:schemeClr val="tx1"/>
                </a:solidFill>
                <a:effectLst/>
                <a:latin typeface="quote-cjk-patch"/>
              </a:rPr>
              <a:t>Анализ приемов:</a:t>
            </a:r>
            <a:endParaRPr lang="ru-RU" sz="1400" b="0" i="0" u="none" strike="noStrike" dirty="0">
              <a:solidFill>
                <a:schemeClr val="tx1"/>
              </a:solidFill>
              <a:effectLst/>
              <a:latin typeface="quote-cjk-patch"/>
            </a:endParaRPr>
          </a:p>
          <a:p>
            <a:pPr algn="l"/>
            <a:r>
              <a:rPr lang="ru-RU" sz="1400" b="1" i="0" u="none" strike="noStrike" dirty="0">
                <a:solidFill>
                  <a:schemeClr val="tx1"/>
                </a:solidFill>
                <a:effectLst/>
                <a:latin typeface="quote-cjk-patch"/>
              </a:rPr>
              <a:t>Риторический вопрос в зачине</a:t>
            </a:r>
            <a:r>
              <a:rPr lang="ru-RU" sz="1400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 — создает эмоциональный якорь, апеллируя к желанию прибыли и стабильности.</a:t>
            </a:r>
          </a:p>
          <a:p>
            <a:pPr algn="l"/>
            <a:r>
              <a:rPr lang="ru-RU" sz="1400" b="1" i="0" u="none" strike="noStrike" dirty="0">
                <a:solidFill>
                  <a:schemeClr val="tx1"/>
                </a:solidFill>
                <a:effectLst/>
                <a:latin typeface="quote-cjk-patch"/>
              </a:rPr>
              <a:t>Метафора организма</a:t>
            </a:r>
            <a:r>
              <a:rPr lang="ru-RU" sz="1400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 — представление сайта как "кровеносной системы" усиливает восприятие его жизненной важности для бизнеса.</a:t>
            </a:r>
          </a:p>
          <a:p>
            <a:pPr algn="l"/>
            <a:r>
              <a:rPr lang="ru-RU" sz="1400" b="1" i="0" u="none" strike="noStrike" dirty="0" err="1">
                <a:solidFill>
                  <a:schemeClr val="tx1"/>
                </a:solidFill>
                <a:effectLst/>
                <a:latin typeface="quote-cjk-patch"/>
              </a:rPr>
              <a:t>Импликатура</a:t>
            </a:r>
            <a:r>
              <a:rPr lang="ru-RU" sz="1400" b="1" i="0" u="none" strike="noStrike" dirty="0">
                <a:solidFill>
                  <a:schemeClr val="tx1"/>
                </a:solidFill>
                <a:effectLst/>
                <a:latin typeface="quote-cjk-patch"/>
              </a:rPr>
              <a:t> эксклюзивности</a:t>
            </a:r>
            <a:r>
              <a:rPr lang="ru-RU" sz="1400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 — упоминание "лидеров рынка" формирует ассоциацию </a:t>
            </a:r>
            <a:r>
              <a:rPr lang="ru-RU" sz="1400" b="0" i="0" u="none" strike="noStrike" dirty="0" err="1">
                <a:solidFill>
                  <a:schemeClr val="tx1"/>
                </a:solidFill>
                <a:effectLst/>
                <a:latin typeface="quote-cjk-patch"/>
              </a:rPr>
              <a:t>премиальности</a:t>
            </a:r>
            <a:r>
              <a:rPr lang="ru-RU" sz="1400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 без конкретных доказательств.</a:t>
            </a:r>
          </a:p>
          <a:p>
            <a:pPr algn="l"/>
            <a:r>
              <a:rPr lang="ru-RU" sz="1400" b="1" i="0" u="none" strike="noStrike" dirty="0">
                <a:solidFill>
                  <a:schemeClr val="tx1"/>
                </a:solidFill>
                <a:effectLst/>
                <a:latin typeface="quote-cjk-patch"/>
              </a:rPr>
              <a:t>Персонификация</a:t>
            </a:r>
            <a:r>
              <a:rPr lang="ru-RU" sz="1400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 — описание "цифрового организма, который дышит" создает иллюзию живого, развивающегося продукта.</a:t>
            </a:r>
          </a:p>
          <a:p>
            <a:pPr algn="l"/>
            <a:r>
              <a:rPr lang="ru-RU" sz="1400" b="1" i="0" u="none" strike="noStrike" dirty="0">
                <a:solidFill>
                  <a:schemeClr val="tx1"/>
                </a:solidFill>
                <a:effectLst/>
                <a:latin typeface="quote-cjk-patch"/>
              </a:rPr>
              <a:t>Призыв к действию через неопределенность</a:t>
            </a:r>
            <a:r>
              <a:rPr lang="ru-RU" sz="1400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 — фраза "проекты, которые уже растут" предполагает успех, но не конкретизирует его масштабы.</a:t>
            </a:r>
          </a:p>
          <a:p>
            <a:pPr algn="l"/>
            <a:r>
              <a:rPr lang="ru-RU" sz="1400" b="1" i="0" u="none" strike="noStrike" dirty="0">
                <a:solidFill>
                  <a:schemeClr val="tx1"/>
                </a:solidFill>
                <a:effectLst/>
                <a:latin typeface="quote-cjk-patch"/>
              </a:rPr>
              <a:t>Эхо-фраза</a:t>
            </a:r>
            <a:r>
              <a:rPr lang="ru-RU" sz="1400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 — использует ключевую метафору потока, закрепляя в подсознании связь между брендом и успешным развитием.</a:t>
            </a:r>
          </a:p>
          <a:p>
            <a:endParaRPr lang="ru-RU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09887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>
            <a:extLst>
              <a:ext uri="{FF2B5EF4-FFF2-40B4-BE49-F238E27FC236}">
                <a16:creationId xmlns:a16="http://schemas.microsoft.com/office/drawing/2014/main" id="{A9BEA4F9-213F-38E5-0944-C803757EA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300" y="861883"/>
            <a:ext cx="10339614" cy="5704201"/>
          </a:xfrm>
        </p:spPr>
        <p:txBody>
          <a:bodyPr>
            <a:noAutofit/>
          </a:bodyPr>
          <a:lstStyle/>
          <a:p>
            <a:pPr algn="l"/>
            <a:r>
              <a:rPr lang="ru-RU" sz="1800" b="1" i="0" u="none" strike="noStrike" dirty="0">
                <a:solidFill>
                  <a:schemeClr val="tx1"/>
                </a:solidFill>
                <a:effectLst/>
                <a:latin typeface="quote-cjk-patch"/>
              </a:rPr>
              <a:t>Зачин:</a:t>
            </a:r>
            <a:br>
              <a:rPr lang="ru-RU" sz="1800" b="0" i="0" u="none" strike="noStrike" dirty="0">
                <a:solidFill>
                  <a:schemeClr val="tx1"/>
                </a:solidFill>
                <a:effectLst/>
                <a:latin typeface="quote-cjk-patch"/>
              </a:rPr>
            </a:br>
            <a:r>
              <a:rPr lang="ru-RU" sz="1800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Представьте: ваш сайт — это современный инструмент продаж, но вместо того чтобы привлекать клиентов, он использует методы вчерашнего дня.</a:t>
            </a:r>
          </a:p>
          <a:p>
            <a:pPr algn="l"/>
            <a:r>
              <a:rPr lang="ru-RU" sz="1800" b="1" i="0" u="none" strike="noStrike" dirty="0">
                <a:solidFill>
                  <a:schemeClr val="tx1"/>
                </a:solidFill>
                <a:effectLst/>
                <a:latin typeface="quote-cjk-patch"/>
              </a:rPr>
              <a:t>Основной текст:</a:t>
            </a:r>
            <a:br>
              <a:rPr lang="ru-RU" sz="1800" b="0" i="0" u="none" strike="noStrike" dirty="0">
                <a:solidFill>
                  <a:schemeClr val="tx1"/>
                </a:solidFill>
                <a:effectLst/>
                <a:latin typeface="quote-cjk-patch"/>
              </a:rPr>
            </a:br>
            <a:r>
              <a:rPr lang="ru-RU" sz="1800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Сайты многих студий до сих пор работают по старым шаблонам, в то время как </a:t>
            </a:r>
            <a:r>
              <a:rPr lang="en" sz="1800" b="0" i="0" u="none" strike="noStrike" dirty="0" err="1">
                <a:solidFill>
                  <a:schemeClr val="tx1"/>
                </a:solidFill>
                <a:effectLst/>
                <a:latin typeface="quote-cjk-patch"/>
              </a:rPr>
              <a:t>WebFlow</a:t>
            </a:r>
            <a:r>
              <a:rPr lang="en" sz="1800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 </a:t>
            </a:r>
            <a:r>
              <a:rPr lang="ru-RU" sz="1800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создаёт цифровые решения будущего! Мы объединили передовой дизайн, инновационные технологии и пользовательский опыт, чтобы ваш бизнес получил конкурентное преимущество. Наши сайты работают эффективнее, выглядят современнее и приносят больше прибыли. Мы не соревнуемся с конкурентами — мы задаём новые стандарты. Убедитесь сами: </a:t>
            </a:r>
            <a:r>
              <a:rPr lang="en" sz="1800" b="0" i="0" u="none" strike="noStrike" dirty="0" err="1">
                <a:solidFill>
                  <a:schemeClr val="tx1"/>
                </a:solidFill>
                <a:effectLst/>
                <a:latin typeface="quote-cjk-patch"/>
              </a:rPr>
              <a:t>WebFlow</a:t>
            </a:r>
            <a:r>
              <a:rPr lang="en" sz="1800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 — </a:t>
            </a:r>
            <a:r>
              <a:rPr lang="ru-RU" sz="1800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это ваш переход на следующий уровень.</a:t>
            </a:r>
          </a:p>
          <a:p>
            <a:pPr algn="l"/>
            <a:r>
              <a:rPr lang="ru-RU" sz="1800" b="1" i="0" u="none" strike="noStrike" dirty="0">
                <a:solidFill>
                  <a:schemeClr val="tx1"/>
                </a:solidFill>
                <a:effectLst/>
                <a:latin typeface="quote-cjk-patch"/>
              </a:rPr>
              <a:t>Эхо-фраза:</a:t>
            </a:r>
            <a:br>
              <a:rPr lang="ru-RU" sz="1800" b="0" i="0" u="none" strike="noStrike" dirty="0">
                <a:solidFill>
                  <a:schemeClr val="tx1"/>
                </a:solidFill>
                <a:effectLst/>
                <a:latin typeface="quote-cjk-patch"/>
              </a:rPr>
            </a:br>
            <a:r>
              <a:rPr lang="en" sz="1800" b="0" i="0" u="none" strike="noStrike" dirty="0" err="1">
                <a:solidFill>
                  <a:schemeClr val="tx1"/>
                </a:solidFill>
                <a:effectLst/>
                <a:latin typeface="quote-cjk-patch"/>
              </a:rPr>
              <a:t>WebFlow</a:t>
            </a:r>
            <a:r>
              <a:rPr lang="en" sz="1800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: </a:t>
            </a:r>
            <a:r>
              <a:rPr lang="ru-RU" sz="1800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Ваш успех — наш стандарт!</a:t>
            </a:r>
          </a:p>
          <a:p>
            <a:pPr marL="0" indent="0" algn="l">
              <a:buNone/>
            </a:pPr>
            <a:r>
              <a:rPr lang="ru-RU" sz="1800" b="1" i="0" u="none" strike="noStrike" dirty="0">
                <a:solidFill>
                  <a:schemeClr val="tx1"/>
                </a:solidFill>
                <a:effectLst/>
                <a:latin typeface="quote-cjk-patch"/>
              </a:rPr>
              <a:t>Приёмы некорректного сравнения:</a:t>
            </a:r>
            <a:endParaRPr lang="ru-RU" sz="1800" b="0" i="0" u="none" strike="noStrike" dirty="0">
              <a:solidFill>
                <a:schemeClr val="tx1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1" i="0" u="none" strike="noStrike" dirty="0">
                <a:solidFill>
                  <a:schemeClr val="tx1"/>
                </a:solidFill>
                <a:effectLst/>
                <a:latin typeface="quote-cjk-patch"/>
              </a:rPr>
              <a:t>Создание ложной дихотомии</a:t>
            </a:r>
            <a:r>
              <a:rPr lang="ru-RU" sz="1800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 — противопоставление "старого" и "нового" без доказательств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1" i="0" u="none" strike="noStrike" dirty="0">
                <a:solidFill>
                  <a:schemeClr val="tx1"/>
                </a:solidFill>
                <a:effectLst/>
                <a:latin typeface="quote-cjk-patch"/>
              </a:rPr>
              <a:t>Обобщение</a:t>
            </a:r>
            <a:r>
              <a:rPr lang="ru-RU" sz="1800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 — использование слов "многие", "до сих пор" для создания негативного фона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1" i="0" u="none" strike="noStrike" dirty="0">
                <a:solidFill>
                  <a:schemeClr val="tx1"/>
                </a:solidFill>
                <a:effectLst/>
                <a:latin typeface="quote-cjk-patch"/>
              </a:rPr>
              <a:t>Преувеличение преимуществ</a:t>
            </a:r>
            <a:r>
              <a:rPr lang="ru-RU" sz="1800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 — утверждения о "решениях будущего" и "новых стандартах"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1" i="0" u="none" strike="noStrike" dirty="0">
                <a:solidFill>
                  <a:schemeClr val="tx1"/>
                </a:solidFill>
                <a:effectLst/>
                <a:latin typeface="quote-cjk-patch"/>
              </a:rPr>
              <a:t>Игра на амбициях</a:t>
            </a:r>
            <a:r>
              <a:rPr lang="ru-RU" sz="1800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 — апелляция к желанию быть "на уровень выше"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1" i="0" u="none" strike="noStrike" dirty="0">
                <a:solidFill>
                  <a:schemeClr val="tx1"/>
                </a:solidFill>
                <a:effectLst/>
                <a:latin typeface="quote-cjk-patch"/>
              </a:rPr>
              <a:t>Манипуляция перспективой</a:t>
            </a:r>
            <a:r>
              <a:rPr lang="ru-RU" sz="1800" b="0" i="0" u="none" strike="noStrike" dirty="0">
                <a:solidFill>
                  <a:schemeClr val="tx1"/>
                </a:solidFill>
                <a:effectLst/>
                <a:latin typeface="quote-cjk-patch"/>
              </a:rPr>
              <a:t> — представление услуги как обязательного этапа развития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2D799139-DCEE-644C-9F09-D5348DBCD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9899" y="6088566"/>
            <a:ext cx="442686" cy="657401"/>
          </a:xfrm>
        </p:spPr>
        <p:txBody>
          <a:bodyPr/>
          <a:lstStyle/>
          <a:p>
            <a:fld id="{A01BE76D-E181-4177-862E-40D97C82BFEB}" type="slidenum">
              <a:rPr lang="ru-RU" sz="4000" smtClean="0"/>
              <a:t>4</a:t>
            </a:fld>
            <a:endParaRPr lang="ru-RU" sz="4000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F054DBB5-C310-668F-D13F-DDE474966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300" y="0"/>
            <a:ext cx="9304144" cy="1135517"/>
          </a:xfrm>
        </p:spPr>
        <p:txBody>
          <a:bodyPr/>
          <a:lstStyle/>
          <a:p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Некорректное сравнение </a:t>
            </a:r>
            <a:r>
              <a:rPr lang="ru-RU">
                <a:latin typeface="Calibri" panose="020F0502020204030204" pitchFamily="34" charset="0"/>
                <a:cs typeface="Calibri" panose="020F0502020204030204" pitchFamily="34" charset="0"/>
              </a:rPr>
              <a:t>в рекламе</a:t>
            </a:r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03349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EC76724-8B7E-49E1-A5D8-0A86497396F2}"/>
              </a:ext>
            </a:extLst>
          </p:cNvPr>
          <p:cNvSpPr txBox="1"/>
          <p:nvPr/>
        </p:nvSpPr>
        <p:spPr>
          <a:xfrm>
            <a:off x="4721568" y="6454765"/>
            <a:ext cx="230576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  <a:ea typeface="+mn-ea"/>
                <a:cs typeface="+mn-cs"/>
              </a:rPr>
              <a:t>2025</a:t>
            </a:r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C1E841-C2B3-4680-B71A-C0E060431885}"/>
              </a:ext>
            </a:extLst>
          </p:cNvPr>
          <p:cNvSpPr txBox="1"/>
          <p:nvPr/>
        </p:nvSpPr>
        <p:spPr>
          <a:xfrm>
            <a:off x="1268561" y="3044279"/>
            <a:ext cx="965487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2800" b="1" dirty="0">
                <a:solidFill>
                  <a:srgbClr val="343A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Работа с манипулятивными приемами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E13023-76F4-C3B7-2ADD-3CB7FBF2CC7A}"/>
              </a:ext>
            </a:extLst>
          </p:cNvPr>
          <p:cNvSpPr txBox="1"/>
          <p:nvPr/>
        </p:nvSpPr>
        <p:spPr>
          <a:xfrm>
            <a:off x="5219279" y="542298"/>
            <a:ext cx="650383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kumimoji="0" lang="ru-RU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Bold" panose="00000800000000000000" charset="-52"/>
                <a:ea typeface="+mj-ea"/>
                <a:cs typeface="+mj-cs"/>
              </a:rPr>
              <a:t>Спасибо за внимание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B51D8C-61F1-EE47-AB7D-0924A1112516}"/>
              </a:ext>
            </a:extLst>
          </p:cNvPr>
          <p:cNvSpPr txBox="1"/>
          <p:nvPr/>
        </p:nvSpPr>
        <p:spPr>
          <a:xfrm>
            <a:off x="5673438" y="4978637"/>
            <a:ext cx="6203086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000"/>
              </a:lnSpc>
              <a:spcBef>
                <a:spcPts val="0"/>
              </a:spcBef>
            </a:pPr>
            <a:r>
              <a:rPr lang="ru-RU" dirty="0">
                <a:latin typeface="Gilroy Medium" panose="00000600000000000000" charset="-52"/>
              </a:rPr>
              <a:t>Студент:  Андронов Денис Андреевич 241-321, </a:t>
            </a:r>
          </a:p>
          <a:p>
            <a:pPr algn="r">
              <a:lnSpc>
                <a:spcPts val="2000"/>
              </a:lnSpc>
            </a:pPr>
            <a:r>
              <a:rPr lang="ru-RU" dirty="0">
                <a:effectLst/>
                <a:latin typeface="Helvetica Neue" panose="02000503000000020004" pitchFamily="2" charset="0"/>
              </a:rPr>
              <a:t>Романов Александр Дмитриевич </a:t>
            </a:r>
            <a:r>
              <a:rPr lang="ru-RU" dirty="0">
                <a:latin typeface="Gilroy Medium" panose="00000600000000000000" charset="-52"/>
              </a:rPr>
              <a:t>241-321</a:t>
            </a:r>
          </a:p>
          <a:p>
            <a:pPr algn="r">
              <a:lnSpc>
                <a:spcPts val="2000"/>
              </a:lnSpc>
            </a:pPr>
            <a:r>
              <a:rPr lang="ru-RU" dirty="0" err="1">
                <a:effectLst/>
                <a:latin typeface="Helvetica Neue" panose="02000503000000020004" pitchFamily="2" charset="0"/>
              </a:rPr>
              <a:t>Каматали</a:t>
            </a:r>
            <a:r>
              <a:rPr lang="ru-RU" dirty="0">
                <a:effectLst/>
                <a:latin typeface="Helvetica Neue" panose="02000503000000020004" pitchFamily="2" charset="0"/>
              </a:rPr>
              <a:t> Алина </a:t>
            </a:r>
            <a:r>
              <a:rPr lang="ru-RU" dirty="0" err="1">
                <a:effectLst/>
                <a:latin typeface="Helvetica Neue" panose="02000503000000020004" pitchFamily="2" charset="0"/>
              </a:rPr>
              <a:t>Аароновна</a:t>
            </a:r>
            <a:r>
              <a:rPr lang="ru-RU" dirty="0">
                <a:effectLst/>
                <a:latin typeface="Helvetica Neue" panose="02000503000000020004" pitchFamily="2" charset="0"/>
              </a:rPr>
              <a:t> </a:t>
            </a:r>
            <a:r>
              <a:rPr lang="ru-RU" dirty="0">
                <a:latin typeface="Gilroy Medium" panose="00000600000000000000" charset="-52"/>
              </a:rPr>
              <a:t>241-321</a:t>
            </a:r>
          </a:p>
        </p:txBody>
      </p:sp>
    </p:spTree>
    <p:extLst>
      <p:ext uri="{BB962C8B-B14F-4D97-AF65-F5344CB8AC3E}">
        <p14:creationId xmlns:p14="http://schemas.microsoft.com/office/powerpoint/2010/main" val="345414264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2">
  <a:themeElements>
    <a:clrScheme name="Московский Политех">
      <a:dk1>
        <a:sysClr val="windowText" lastClr="000000"/>
      </a:dk1>
      <a:lt1>
        <a:sysClr val="window" lastClr="FFFFFF"/>
      </a:lt1>
      <a:dk2>
        <a:srgbClr val="171616"/>
      </a:dk2>
      <a:lt2>
        <a:srgbClr val="E7E6E6"/>
      </a:lt2>
      <a:accent1>
        <a:srgbClr val="E61E46"/>
      </a:accent1>
      <a:accent2>
        <a:srgbClr val="1E3E8D"/>
      </a:accent2>
      <a:accent3>
        <a:srgbClr val="A5A5A5"/>
      </a:accent3>
      <a:accent4>
        <a:srgbClr val="60DCCA"/>
      </a:accent4>
      <a:accent5>
        <a:srgbClr val="3478BC"/>
      </a:accent5>
      <a:accent6>
        <a:srgbClr val="E94572"/>
      </a:accent6>
      <a:hlink>
        <a:srgbClr val="3478BC"/>
      </a:hlink>
      <a:folHlink>
        <a:srgbClr val="E94572"/>
      </a:folHlink>
    </a:clrScheme>
    <a:fontScheme name="Cambria">
      <a:maj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Презентация6" id="{2AEEDDF9-59ED-463C-8E0C-BF21DC8B3CB6}" vid="{CDD37877-5C07-4AD6-AFB2-357C367BDEC8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Московский Политех">
    <a:dk1>
      <a:sysClr val="windowText" lastClr="000000"/>
    </a:dk1>
    <a:lt1>
      <a:sysClr val="window" lastClr="FFFFFF"/>
    </a:lt1>
    <a:dk2>
      <a:srgbClr val="171616"/>
    </a:dk2>
    <a:lt2>
      <a:srgbClr val="E7E6E6"/>
    </a:lt2>
    <a:accent1>
      <a:srgbClr val="E61E46"/>
    </a:accent1>
    <a:accent2>
      <a:srgbClr val="1E3E8D"/>
    </a:accent2>
    <a:accent3>
      <a:srgbClr val="A5A5A5"/>
    </a:accent3>
    <a:accent4>
      <a:srgbClr val="60DCCA"/>
    </a:accent4>
    <a:accent5>
      <a:srgbClr val="3478BC"/>
    </a:accent5>
    <a:accent6>
      <a:srgbClr val="E94572"/>
    </a:accent6>
    <a:hlink>
      <a:srgbClr val="3478BC"/>
    </a:hlink>
    <a:folHlink>
      <a:srgbClr val="E945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10085</TotalTime>
  <Words>548</Words>
  <Application>Microsoft Macintosh PowerPoint</Application>
  <PresentationFormat>Широкоэкранный</PresentationFormat>
  <Paragraphs>49</Paragraphs>
  <Slides>5</Slides>
  <Notes>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3" baseType="lpstr">
      <vt:lpstr>Calibri</vt:lpstr>
      <vt:lpstr>Arial</vt:lpstr>
      <vt:lpstr>Gilroy Medium</vt:lpstr>
      <vt:lpstr>Gilroy Bold</vt:lpstr>
      <vt:lpstr>Helvetica Neue</vt:lpstr>
      <vt:lpstr>quote-cjk-patch</vt:lpstr>
      <vt:lpstr>Cambria</vt:lpstr>
      <vt:lpstr>Тема2</vt:lpstr>
      <vt:lpstr>Презентация PowerPoint</vt:lpstr>
      <vt:lpstr>Презентация PowerPoint</vt:lpstr>
      <vt:lpstr>Манипулятивный прием в рекламе</vt:lpstr>
      <vt:lpstr>Некорректное сравнение в рекламе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Maibenben</dc:creator>
  <cp:lastModifiedBy>Microsoft Office User</cp:lastModifiedBy>
  <cp:revision>72</cp:revision>
  <dcterms:created xsi:type="dcterms:W3CDTF">2024-05-27T20:04:35Z</dcterms:created>
  <dcterms:modified xsi:type="dcterms:W3CDTF">2025-11-25T08:45:33Z</dcterms:modified>
</cp:coreProperties>
</file>