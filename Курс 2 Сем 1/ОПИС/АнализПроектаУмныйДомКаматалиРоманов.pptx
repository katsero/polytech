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1"/>
  </p:notesMasterIdLst>
  <p:sldIdLst>
    <p:sldId id="256" r:id="rId2"/>
    <p:sldId id="257" r:id="rId3"/>
    <p:sldId id="271" r:id="rId4"/>
    <p:sldId id="262" r:id="rId5"/>
    <p:sldId id="272" r:id="rId6"/>
    <p:sldId id="265" r:id="rId7"/>
    <p:sldId id="264" r:id="rId8"/>
    <p:sldId id="273" r:id="rId9"/>
    <p:sldId id="258" r:id="rId10"/>
  </p:sldIdLst>
  <p:sldSz cx="12192000" cy="6858000"/>
  <p:notesSz cx="6858000" cy="9144000"/>
  <p:embeddedFontLst>
    <p:embeddedFont>
      <p:font typeface="Gilroy Bold" panose="00000800000000000000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ilroy Medium" panose="00000600000000000000" charset="0"/>
      <p:regular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945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204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65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116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70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23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05.11.2025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05.11.2025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05.11.2025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05.11.2025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b="1" dirty="0">
                <a:latin typeface="Gilroy Bold" panose="00000800000000000000" charset="-52"/>
              </a:rPr>
              <a:t>Основы проектирования информационных систем</a:t>
            </a:r>
            <a:endParaRPr lang="ru-RU" dirty="0">
              <a:latin typeface="Gilroy Medium" panose="00000600000000000000" charset="-52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Основы проектирования информационных систем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Анализ проекта «Умный дом»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54180" y="5427677"/>
            <a:ext cx="62015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Студенты: </a:t>
            </a:r>
            <a:r>
              <a:rPr lang="ru-RU" sz="1800" dirty="0" err="1">
                <a:latin typeface="Gilroy Medium" panose="00000600000000000000" charset="-52"/>
              </a:rPr>
              <a:t>Каматали</a:t>
            </a:r>
            <a:r>
              <a:rPr lang="ru-RU" sz="1800" dirty="0">
                <a:latin typeface="Gilroy Medium" panose="00000600000000000000" charset="-52"/>
              </a:rPr>
              <a:t> Алина </a:t>
            </a:r>
            <a:r>
              <a:rPr lang="ru-RU" sz="1800" dirty="0" err="1">
                <a:latin typeface="Gilroy Medium" panose="00000600000000000000" charset="-52"/>
              </a:rPr>
              <a:t>Аароновна</a:t>
            </a:r>
            <a:endParaRPr lang="ru-RU" dirty="0">
              <a:latin typeface="Gilroy Medium" panose="00000600000000000000" charset="-52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Романов Александр Дмитриевич,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Преподаватель Баринов Владимир Романович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2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1584" y="6461904"/>
            <a:ext cx="8434457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914399" y="369667"/>
            <a:ext cx="57967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Что такое умный дом?</a:t>
            </a:r>
            <a:endParaRPr kumimoji="0" lang="ru-RU" sz="4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B5FAB-411A-44AC-A447-8914D609C521}"/>
              </a:ext>
            </a:extLst>
          </p:cNvPr>
          <p:cNvSpPr txBox="1"/>
          <p:nvPr/>
        </p:nvSpPr>
        <p:spPr>
          <a:xfrm>
            <a:off x="914399" y="1903844"/>
            <a:ext cx="87664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ilroy Medium" panose="00000600000000000000" charset="-52"/>
              </a:rPr>
              <a:t>Умный дом - это экосистема устройств и датчиков, объединенная в единую информационную сеть для автоматического управления системами жилья (освещение, климат, безопасность, мультимедиа).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16BB72-EE7E-4AB3-B2E7-E148825189F7}"/>
              </a:ext>
            </a:extLst>
          </p:cNvPr>
          <p:cNvSpPr txBox="1"/>
          <p:nvPr/>
        </p:nvSpPr>
        <p:spPr>
          <a:xfrm>
            <a:off x="914399" y="4184023"/>
            <a:ext cx="6501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ilroy Medium" panose="00000600000000000000" charset="-52"/>
              </a:rPr>
              <a:t>Цель: Повышение комфорта, безопасности и энергоэффективности жизни.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3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1584" y="6476863"/>
            <a:ext cx="8434457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662181" y="494951"/>
            <a:ext cx="28676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Medium" panose="00000600000000000000" charset="-52"/>
                <a:ea typeface="+mj-ea"/>
                <a:cs typeface="+mj-cs"/>
              </a:rPr>
              <a:t>Возможности</a:t>
            </a:r>
          </a:p>
          <a:p>
            <a:endParaRPr lang="ru-RU" sz="3200" dirty="0">
              <a:latin typeface="Gilroy Medium" panose="00000600000000000000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22DFB7-D5B3-4A87-B259-B034BCE54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92" y="1572169"/>
            <a:ext cx="9843016" cy="427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2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16986" y="6155066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4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006367" y="581068"/>
            <a:ext cx="81792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Принципы работы и основные составляющие</a:t>
            </a:r>
            <a:endParaRPr lang="ru-RU" sz="2800" dirty="0"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08505" y="6460516"/>
            <a:ext cx="10916724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5AAD5-C446-4BB0-BE9B-D04FA8D1B7FD}"/>
              </a:ext>
            </a:extLst>
          </p:cNvPr>
          <p:cNvSpPr txBox="1"/>
          <p:nvPr/>
        </p:nvSpPr>
        <p:spPr>
          <a:xfrm>
            <a:off x="914400" y="1398442"/>
            <a:ext cx="5998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Существуют две основные технологии подключения умного дома.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4EC57F-71C4-4734-A7D6-3824E07720E8}"/>
              </a:ext>
            </a:extLst>
          </p:cNvPr>
          <p:cNvSpPr txBox="1"/>
          <p:nvPr/>
        </p:nvSpPr>
        <p:spPr>
          <a:xfrm>
            <a:off x="914398" y="3957271"/>
            <a:ext cx="518160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ilroy Medium" panose="00000600000000000000" charset="-52"/>
              </a:rPr>
              <a:t>Беспроводная система: управляется с помощью </a:t>
            </a:r>
            <a:r>
              <a:rPr lang="ru-RU" sz="2400" dirty="0" err="1">
                <a:latin typeface="Gilroy Medium" panose="00000600000000000000" charset="-52"/>
              </a:rPr>
              <a:t>хаба</a:t>
            </a:r>
            <a:r>
              <a:rPr lang="ru-RU" sz="2400" dirty="0">
                <a:latin typeface="Gilroy Medium" panose="00000600000000000000" charset="-52"/>
              </a:rPr>
              <a:t>, роутера, приёмно-контрольного прибора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685EB-59DF-4F97-A57B-037787744212}"/>
              </a:ext>
            </a:extLst>
          </p:cNvPr>
          <p:cNvSpPr txBox="1"/>
          <p:nvPr/>
        </p:nvSpPr>
        <p:spPr>
          <a:xfrm>
            <a:off x="914398" y="2380889"/>
            <a:ext cx="518160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ilroy Medium" panose="00000600000000000000" charset="-52"/>
              </a:rPr>
              <a:t>Проводная система: управляется с помощью контроллера, вмонтированного в </a:t>
            </a:r>
            <a:r>
              <a:rPr lang="ru-RU" sz="2400" dirty="0" err="1">
                <a:latin typeface="Gilroy Medium" panose="00000600000000000000" charset="-52"/>
              </a:rPr>
              <a:t>электрощиток</a:t>
            </a:r>
            <a:endParaRPr lang="ru-RU" sz="2400" dirty="0">
              <a:latin typeface="Gilroy Medium" panose="00000600000000000000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Gilroy Medium" panose="00000600000000000000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55884D-C5C7-48CD-A105-B15EE364A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11057"/>
            <a:ext cx="5830949" cy="389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2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16986" y="6186956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5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824992" y="533351"/>
            <a:ext cx="6542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Сравнительный анализ конкурентов</a:t>
            </a:r>
            <a:endParaRPr lang="ru-RU" sz="2800" dirty="0"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08505" y="6460516"/>
            <a:ext cx="10916724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A9EBE898-7BBC-41D9-95E8-BE40CE0C1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00614"/>
              </p:ext>
            </p:extLst>
          </p:nvPr>
        </p:nvGraphicFramePr>
        <p:xfrm>
          <a:off x="1363544" y="1431203"/>
          <a:ext cx="9464909" cy="465468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96135">
                  <a:extLst>
                    <a:ext uri="{9D8B030D-6E8A-4147-A177-3AD203B41FA5}">
                      <a16:colId xmlns:a16="http://schemas.microsoft.com/office/drawing/2014/main" val="104150583"/>
                    </a:ext>
                  </a:extLst>
                </a:gridCol>
                <a:gridCol w="3751514">
                  <a:extLst>
                    <a:ext uri="{9D8B030D-6E8A-4147-A177-3AD203B41FA5}">
                      <a16:colId xmlns:a16="http://schemas.microsoft.com/office/drawing/2014/main" val="1776501522"/>
                    </a:ext>
                  </a:extLst>
                </a:gridCol>
                <a:gridCol w="4117260">
                  <a:extLst>
                    <a:ext uri="{9D8B030D-6E8A-4147-A177-3AD203B41FA5}">
                      <a16:colId xmlns:a16="http://schemas.microsoft.com/office/drawing/2014/main" val="2955678526"/>
                    </a:ext>
                  </a:extLst>
                </a:gridCol>
              </a:tblGrid>
              <a:tr h="522505">
                <a:tc>
                  <a:txBody>
                    <a:bodyPr/>
                    <a:lstStyle/>
                    <a:p>
                      <a:endParaRPr lang="ru-RU" sz="2400" b="0" dirty="0">
                        <a:latin typeface="Gilroy Medium" panose="00000600000000000000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Gilroy Medium" panose="00000600000000000000" charset="-52"/>
                        </a:rPr>
                        <a:t>Яндекс Умный Дом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err="1">
                          <a:latin typeface="Gilroy Medium" panose="00000600000000000000" charset="-52"/>
                        </a:rPr>
                        <a:t>Сбер</a:t>
                      </a:r>
                      <a:r>
                        <a:rPr lang="ru-RU" sz="2400" b="0" dirty="0">
                          <a:latin typeface="Gilroy Medium" panose="00000600000000000000" charset="-52"/>
                        </a:rPr>
                        <a:t> Умный Дом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60857"/>
                  </a:ext>
                </a:extLst>
              </a:tr>
              <a:tr h="1532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Gilroy Medium" panose="00000600000000000000" charset="-52"/>
                        </a:rPr>
                        <a:t>Плюсы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Мощный голосовой ассистент;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интеграция с сервисами (Музыка, Кино);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широкий ассортимент устройств;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узнаваемый бренд.</a:t>
                      </a:r>
                      <a:endParaRPr lang="ru-RU" sz="1600" dirty="0">
                        <a:latin typeface="Gilroy Medium" panose="00000600000000000000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Единая экосистема (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СберБанк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СберЗдоровье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т.д.);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активные инвестиции в разработку;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сильный бренд в финансовом секторе.</a:t>
                      </a:r>
                      <a:endParaRPr lang="ru-RU" sz="1600" dirty="0">
                        <a:latin typeface="Gilroy Medium" panose="00000600000000000000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53715"/>
                  </a:ext>
                </a:extLst>
              </a:tr>
              <a:tr h="2577696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  <a:latin typeface="Gilroy Medium" panose="00000600000000000000" charset="-52"/>
                        </a:rPr>
                        <a:t>Минусы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Сильная привязка к своему облаку и сервисам;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меньший акцент на безопасности "под ключ".</a:t>
                      </a:r>
                      <a:endParaRPr lang="ru-RU" sz="1600" dirty="0">
                        <a:latin typeface="Gilroy Medium" panose="00000600000000000000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Жесткая привязка к экосистеме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СберБанка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данные пользователя могут быть частью финансового профиля;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опасения по поводу конфиденциальности;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закрытая система, сложности с интеграцией сторонних устройств.</a:t>
                      </a:r>
                      <a:endParaRPr lang="ru-RU" sz="1600" dirty="0">
                        <a:latin typeface="Gilroy Medium" panose="00000600000000000000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647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97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6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1584" y="6476863"/>
            <a:ext cx="8434457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518794" y="578352"/>
            <a:ext cx="7154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Почему наше решение – лучший выбор?</a:t>
            </a:r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A107E-3717-468C-A5E5-5842107731A2}"/>
              </a:ext>
            </a:extLst>
          </p:cNvPr>
          <p:cNvSpPr txBox="1"/>
          <p:nvPr/>
        </p:nvSpPr>
        <p:spPr>
          <a:xfrm>
            <a:off x="914400" y="2081057"/>
            <a:ext cx="54667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Нет привязки к банку, агрегатору данных.</a:t>
            </a:r>
          </a:p>
          <a:p>
            <a:endParaRPr lang="ru-RU" sz="2400" dirty="0">
              <a:latin typeface="Gilroy Medium" panose="00000600000000000000" charset="-52"/>
              <a:ea typeface="+mj-ea"/>
              <a:cs typeface="+mj-cs"/>
            </a:endParaRPr>
          </a:p>
          <a:p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2. </a:t>
            </a:r>
            <a:r>
              <a:rPr lang="ru-RU" sz="2400" dirty="0">
                <a:latin typeface="Gilroy Medium" panose="00000600000000000000" charset="-52"/>
              </a:rPr>
              <a:t>Простая установка и настройка. </a:t>
            </a:r>
          </a:p>
          <a:p>
            <a:endParaRPr lang="ru-RU" sz="2400" dirty="0">
              <a:latin typeface="Gilroy Medium" panose="00000600000000000000" charset="-52"/>
            </a:endParaRPr>
          </a:p>
          <a:p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3. Безопасность и надёжность.</a:t>
            </a:r>
          </a:p>
          <a:p>
            <a:endParaRPr lang="ru-RU" sz="2400" dirty="0">
              <a:latin typeface="Gilroy Medium" panose="00000600000000000000" charset="-52"/>
              <a:ea typeface="+mj-ea"/>
              <a:cs typeface="+mj-cs"/>
            </a:endParaRPr>
          </a:p>
          <a:p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4. </a:t>
            </a:r>
            <a:r>
              <a:rPr lang="ru-RU" sz="2400" dirty="0">
                <a:latin typeface="Gilroy Medium" panose="00000600000000000000" charset="-52"/>
              </a:rPr>
              <a:t>Открытость и гибкость платформы.</a:t>
            </a:r>
          </a:p>
        </p:txBody>
      </p:sp>
      <p:pic>
        <p:nvPicPr>
          <p:cNvPr id="1026" name="Picture 2" descr="Умный дом» – продвинутый уровень безопасности — Статья компании «ГОЛЬФСТРИМ»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105" y="2206334"/>
            <a:ext cx="4750311" cy="316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79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7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1" y="521541"/>
            <a:ext cx="118729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latin typeface="Gilroy Medium" panose="00000600000000000000" charset="0"/>
                <a:ea typeface="+mj-ea"/>
                <a:cs typeface="+mj-cs"/>
              </a:rPr>
              <a:t>ТЭО – Техническо-экономическое обоснование</a:t>
            </a:r>
            <a:endParaRPr lang="ru-RU" sz="2400" dirty="0">
              <a:latin typeface="Gilroy Medium" panose="0000060000000000000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1582547"/>
            <a:ext cx="292018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Gilroy Medium" panose="00000600000000000000" charset="0"/>
              </a:rPr>
              <a:t>Перспективы комерциализации</a:t>
            </a:r>
            <a:endParaRPr lang="en-US" sz="2400" dirty="0" smtClean="0">
              <a:latin typeface="Gilroy Medium" panose="00000600000000000000" charset="0"/>
            </a:endParaRPr>
          </a:p>
          <a:p>
            <a:endParaRPr lang="ru-RU" sz="2000" dirty="0">
              <a:latin typeface="Gilroy Medium" panose="00000600000000000000" charset="0"/>
            </a:endParaRPr>
          </a:p>
          <a:p>
            <a:r>
              <a:rPr lang="ru-RU" dirty="0" smtClean="0">
                <a:latin typeface="Gilroy Medium" panose="00000600000000000000" charset="0"/>
              </a:rPr>
              <a:t>- Продажа </a:t>
            </a:r>
            <a:r>
              <a:rPr lang="ru-RU" dirty="0">
                <a:latin typeface="Gilroy Medium" panose="00000600000000000000" charset="0"/>
              </a:rPr>
              <a:t>готовых комплектов </a:t>
            </a:r>
            <a:r>
              <a:rPr lang="ru-RU" dirty="0" smtClean="0">
                <a:latin typeface="Gilroy Medium" panose="00000600000000000000" charset="0"/>
              </a:rPr>
              <a:t>оборудования</a:t>
            </a:r>
            <a:r>
              <a:rPr lang="en-US" dirty="0" smtClean="0">
                <a:latin typeface="Gilroy Medium" panose="00000600000000000000" charset="0"/>
              </a:rPr>
              <a:t>;</a:t>
            </a:r>
            <a:endParaRPr lang="ru-RU" dirty="0">
              <a:latin typeface="Gilroy Medium" panose="00000600000000000000" charset="0"/>
            </a:endParaRPr>
          </a:p>
          <a:p>
            <a:r>
              <a:rPr lang="ru-RU" dirty="0" smtClean="0">
                <a:latin typeface="Gilroy Medium" panose="00000600000000000000" charset="0"/>
              </a:rPr>
              <a:t>- подписка </a:t>
            </a:r>
            <a:r>
              <a:rPr lang="ru-RU" dirty="0">
                <a:latin typeface="Gilroy Medium" panose="00000600000000000000" charset="0"/>
              </a:rPr>
              <a:t>на премиум-функции (аналитика, хранилище видео</a:t>
            </a:r>
            <a:r>
              <a:rPr lang="ru-RU" dirty="0" smtClean="0">
                <a:latin typeface="Gilroy Medium" panose="00000600000000000000" charset="0"/>
              </a:rPr>
              <a:t>)</a:t>
            </a:r>
            <a:r>
              <a:rPr lang="en-US" dirty="0" smtClean="0">
                <a:latin typeface="Gilroy Medium" panose="00000600000000000000" charset="0"/>
              </a:rPr>
              <a:t>;</a:t>
            </a:r>
            <a:endParaRPr lang="ru-RU" dirty="0">
              <a:latin typeface="Gilroy Medium" panose="00000600000000000000" charset="0"/>
            </a:endParaRPr>
          </a:p>
          <a:p>
            <a:r>
              <a:rPr lang="en-US" dirty="0" smtClean="0">
                <a:latin typeface="Gilroy Medium" panose="00000600000000000000" charset="0"/>
              </a:rPr>
              <a:t>- </a:t>
            </a:r>
            <a:r>
              <a:rPr lang="ru-RU" dirty="0" smtClean="0">
                <a:latin typeface="Gilroy Medium" panose="00000600000000000000" charset="0"/>
              </a:rPr>
              <a:t>партнерские программы с производителями устройств</a:t>
            </a:r>
            <a:r>
              <a:rPr lang="en-US" dirty="0" smtClean="0">
                <a:latin typeface="Gilroy Medium" panose="00000600000000000000" charset="0"/>
              </a:rPr>
              <a:t>.</a:t>
            </a:r>
            <a:endParaRPr lang="ru-RU" dirty="0" smtClean="0">
              <a:latin typeface="Gilroy Medium" panose="00000600000000000000" charset="0"/>
            </a:endParaRPr>
          </a:p>
          <a:p>
            <a:endParaRPr lang="ru-RU" sz="2000" dirty="0">
              <a:latin typeface="Gilroy Medium" panose="00000600000000000000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2153" y="1582547"/>
            <a:ext cx="357894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sz="2400" dirty="0" smtClean="0">
                <a:latin typeface="Gilroy Medium" panose="00000600000000000000" charset="0"/>
              </a:rPr>
              <a:t>Маштабируемость и техническая эффективность</a:t>
            </a:r>
          </a:p>
          <a:p>
            <a:pPr lvl="1"/>
            <a:endParaRPr lang="ru-RU" b="1" dirty="0"/>
          </a:p>
          <a:p>
            <a:pPr lvl="1"/>
            <a:r>
              <a:rPr lang="ru-RU" b="1" dirty="0" smtClean="0">
                <a:latin typeface="Gilroy Medium" panose="00000600000000000000" charset="0"/>
              </a:rPr>
              <a:t>- </a:t>
            </a:r>
            <a:r>
              <a:rPr lang="ru-RU" dirty="0" smtClean="0">
                <a:latin typeface="Gilroy Medium" panose="00000600000000000000" charset="0"/>
              </a:rPr>
              <a:t>Использование </a:t>
            </a:r>
            <a:r>
              <a:rPr lang="ru-RU" dirty="0">
                <a:latin typeface="Gilroy Medium" panose="00000600000000000000" charset="0"/>
              </a:rPr>
              <a:t>говых протоколов (</a:t>
            </a:r>
            <a:r>
              <a:rPr lang="fr-BE" dirty="0" err="1">
                <a:latin typeface="Gilroy Medium" panose="00000600000000000000" charset="0"/>
              </a:rPr>
              <a:t>Zigbee</a:t>
            </a:r>
            <a:r>
              <a:rPr lang="fr-BE" dirty="0">
                <a:latin typeface="Gilroy Medium" panose="00000600000000000000" charset="0"/>
              </a:rPr>
              <a:t>, Wi-Fi, BLE</a:t>
            </a:r>
            <a:r>
              <a:rPr lang="ru-RU" dirty="0">
                <a:latin typeface="Gilroy Medium" panose="00000600000000000000" charset="0"/>
              </a:rPr>
              <a:t>), готовых компонентов, </a:t>
            </a:r>
            <a:r>
              <a:rPr lang="en-US" dirty="0">
                <a:latin typeface="Gilroy Medium" panose="00000600000000000000" charset="0"/>
              </a:rPr>
              <a:t>open-source </a:t>
            </a:r>
            <a:r>
              <a:rPr lang="ru-RU" dirty="0">
                <a:latin typeface="Gilroy Medium" panose="00000600000000000000" charset="0"/>
              </a:rPr>
              <a:t>фреймворков для упрощения процесса </a:t>
            </a:r>
            <a:r>
              <a:rPr lang="ru-RU" dirty="0" smtClean="0">
                <a:latin typeface="Gilroy Medium" panose="00000600000000000000" charset="0"/>
              </a:rPr>
              <a:t>разработки</a:t>
            </a:r>
            <a:r>
              <a:rPr lang="en-US" dirty="0" smtClean="0">
                <a:latin typeface="Gilroy Medium" panose="00000600000000000000" charset="0"/>
              </a:rPr>
              <a:t>;</a:t>
            </a:r>
            <a:endParaRPr lang="en-US" dirty="0">
              <a:latin typeface="Gilroy Medium" panose="00000600000000000000" charset="0"/>
            </a:endParaRPr>
          </a:p>
          <a:p>
            <a:pPr lvl="1"/>
            <a:r>
              <a:rPr lang="ru-RU" dirty="0" smtClean="0">
                <a:latin typeface="Gilroy Medium" panose="00000600000000000000" charset="0"/>
              </a:rPr>
              <a:t>- использование </a:t>
            </a:r>
            <a:r>
              <a:rPr lang="ru-RU" dirty="0">
                <a:latin typeface="Gilroy Medium" panose="00000600000000000000" charset="0"/>
              </a:rPr>
              <a:t>облачной архитектуры для упрощенного доступа к данным и снижения затрат на их </a:t>
            </a:r>
            <a:r>
              <a:rPr lang="ru-RU" dirty="0" smtClean="0">
                <a:latin typeface="Gilroy Medium" panose="00000600000000000000" charset="0"/>
              </a:rPr>
              <a:t>хранение</a:t>
            </a:r>
            <a:r>
              <a:rPr lang="en-US" dirty="0">
                <a:latin typeface="Gilroy Medium" panose="00000600000000000000" charset="0"/>
              </a:rPr>
              <a:t>.</a:t>
            </a:r>
            <a:endParaRPr lang="ru-RU" dirty="0">
              <a:latin typeface="Gilroy Medium" panose="00000600000000000000" charset="0"/>
            </a:endParaRPr>
          </a:p>
          <a:p>
            <a:pPr lvl="1"/>
            <a:endParaRPr lang="ru-RU" b="1" dirty="0"/>
          </a:p>
        </p:txBody>
      </p:sp>
      <p:sp>
        <p:nvSpPr>
          <p:cNvPr id="5" name="Rectangle 4"/>
          <p:cNvSpPr/>
          <p:nvPr/>
        </p:nvSpPr>
        <p:spPr>
          <a:xfrm>
            <a:off x="8014694" y="1566301"/>
            <a:ext cx="3048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Gilroy Medium" panose="00000600000000000000" charset="0"/>
              </a:rPr>
              <a:t>Оценка расходов</a:t>
            </a:r>
          </a:p>
          <a:p>
            <a:endParaRPr lang="ru-RU" sz="2400" dirty="0" smtClean="0">
              <a:latin typeface="Gilroy Medium" panose="00000600000000000000" charset="0"/>
            </a:endParaRPr>
          </a:p>
          <a:p>
            <a:r>
              <a:rPr lang="ru-RU" dirty="0" smtClean="0">
                <a:latin typeface="Gilroy Medium" panose="00000600000000000000" charset="0"/>
              </a:rPr>
              <a:t>- Заработная </a:t>
            </a:r>
            <a:r>
              <a:rPr lang="ru-RU" dirty="0">
                <a:latin typeface="Gilroy Medium" panose="00000600000000000000" charset="0"/>
              </a:rPr>
              <a:t>плата </a:t>
            </a:r>
            <a:r>
              <a:rPr lang="ru-RU" dirty="0" smtClean="0">
                <a:latin typeface="Gilroy Medium" panose="00000600000000000000" charset="0"/>
              </a:rPr>
              <a:t>разработчиков</a:t>
            </a:r>
            <a:r>
              <a:rPr lang="en-US" dirty="0" smtClean="0">
                <a:latin typeface="Gilroy Medium" panose="00000600000000000000" charset="0"/>
              </a:rPr>
              <a:t>;</a:t>
            </a:r>
            <a:endParaRPr lang="ru-RU" dirty="0">
              <a:latin typeface="Gilroy Medium" panose="00000600000000000000" charset="0"/>
            </a:endParaRPr>
          </a:p>
          <a:p>
            <a:r>
              <a:rPr lang="ru-RU" dirty="0" smtClean="0">
                <a:latin typeface="Gilroy Medium" panose="00000600000000000000" charset="0"/>
              </a:rPr>
              <a:t>- закупка </a:t>
            </a:r>
            <a:r>
              <a:rPr lang="ru-RU" dirty="0">
                <a:latin typeface="Gilroy Medium" panose="00000600000000000000" charset="0"/>
              </a:rPr>
              <a:t>тестового </a:t>
            </a:r>
            <a:r>
              <a:rPr lang="ru-RU" dirty="0" smtClean="0">
                <a:latin typeface="Gilroy Medium" panose="00000600000000000000" charset="0"/>
              </a:rPr>
              <a:t>оборудования</a:t>
            </a:r>
            <a:r>
              <a:rPr lang="en-US" dirty="0" smtClean="0">
                <a:latin typeface="Gilroy Medium" panose="00000600000000000000" charset="0"/>
              </a:rPr>
              <a:t>;</a:t>
            </a:r>
            <a:endParaRPr lang="ru-RU" dirty="0">
              <a:latin typeface="Gilroy Medium" panose="00000600000000000000" charset="0"/>
            </a:endParaRPr>
          </a:p>
          <a:p>
            <a:r>
              <a:rPr lang="ru-RU" dirty="0" smtClean="0">
                <a:latin typeface="Gilroy Medium" panose="00000600000000000000" charset="0"/>
              </a:rPr>
              <a:t>- аренда </a:t>
            </a:r>
            <a:r>
              <a:rPr lang="ru-RU" dirty="0">
                <a:latin typeface="Gilroy Medium" panose="00000600000000000000" charset="0"/>
              </a:rPr>
              <a:t>облачной </a:t>
            </a:r>
            <a:r>
              <a:rPr lang="ru-RU" dirty="0" smtClean="0">
                <a:latin typeface="Gilroy Medium" panose="00000600000000000000" charset="0"/>
              </a:rPr>
              <a:t>инфраструктуры</a:t>
            </a:r>
            <a:r>
              <a:rPr lang="en-US" dirty="0">
                <a:latin typeface="Gilroy Medium" panose="00000600000000000000" charset="0"/>
              </a:rPr>
              <a:t>.</a:t>
            </a:r>
            <a:endParaRPr lang="ru-RU" dirty="0">
              <a:latin typeface="Gilroy Medium" panose="000006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63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8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1365" y="590367"/>
            <a:ext cx="11418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latin typeface="Gilroy Medium" panose="00000600000000000000" charset="0"/>
              </a:rPr>
              <a:t>ТЗ – Техническое задание </a:t>
            </a:r>
            <a:endParaRPr lang="ru-RU" sz="2800" dirty="0">
              <a:latin typeface="Gilroy Medium" panose="0000060000000000000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 err="1">
                <a:latin typeface="Gilroy Medium" panose="00000600000000000000" charset="-52"/>
              </a:rPr>
              <a:t>Каматали</a:t>
            </a:r>
            <a:r>
              <a:rPr lang="ru-RU" sz="1100" dirty="0">
                <a:latin typeface="Gilroy Medium" panose="00000600000000000000" charset="-52"/>
              </a:rPr>
              <a:t> Алина </a:t>
            </a:r>
            <a:r>
              <a:rPr lang="ru-RU" sz="1100" dirty="0" err="1">
                <a:latin typeface="Gilroy Medium" panose="00000600000000000000" charset="-52"/>
              </a:rPr>
              <a:t>Аароновна</a:t>
            </a:r>
            <a:r>
              <a:rPr lang="ru-RU" sz="1100" dirty="0">
                <a:latin typeface="Gilroy Medium" panose="00000600000000000000" charset="-52"/>
              </a:rPr>
              <a:t>, Романов Александр Дмитриевич, группа 241-321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483784"/>
            <a:ext cx="463884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Gilroy Medium" panose="00000600000000000000" charset="0"/>
              </a:rPr>
              <a:t>Функциональные требования</a:t>
            </a:r>
          </a:p>
          <a:p>
            <a:endParaRPr lang="ru-RU" sz="2400" dirty="0" smtClean="0">
              <a:latin typeface="Gilroy Medium" panose="00000600000000000000" charset="0"/>
            </a:endParaRPr>
          </a:p>
          <a:p>
            <a:r>
              <a:rPr lang="ru-RU" sz="2000" dirty="0" smtClean="0">
                <a:latin typeface="Gilroy Medium" panose="00000600000000000000" charset="0"/>
              </a:rPr>
              <a:t>– Централизованное управление через веб-интерфейс и мобильное приложение;</a:t>
            </a:r>
          </a:p>
          <a:p>
            <a:r>
              <a:rPr lang="ru-RU" sz="2000" dirty="0">
                <a:latin typeface="Gilroy Medium" panose="00000600000000000000" charset="0"/>
              </a:rPr>
              <a:t>– </a:t>
            </a:r>
            <a:r>
              <a:rPr lang="ru-RU" sz="2000" dirty="0" smtClean="0">
                <a:latin typeface="Gilroy Medium" panose="00000600000000000000" charset="0"/>
              </a:rPr>
              <a:t> поддержка </a:t>
            </a:r>
            <a:r>
              <a:rPr lang="ru-RU" sz="2000" dirty="0">
                <a:latin typeface="Gilroy Medium" panose="00000600000000000000" charset="0"/>
              </a:rPr>
              <a:t>основных протоколов: Zigbee, Wi-Fi, BLE, </a:t>
            </a:r>
            <a:r>
              <a:rPr lang="ru-RU" sz="2000" dirty="0" smtClean="0">
                <a:latin typeface="Gilroy Medium" panose="00000600000000000000" charset="0"/>
              </a:rPr>
              <a:t>MQTT;</a:t>
            </a:r>
            <a:endParaRPr lang="ru-RU" sz="2000" dirty="0">
              <a:latin typeface="Gilroy Medium" panose="00000600000000000000" charset="0"/>
            </a:endParaRPr>
          </a:p>
          <a:p>
            <a:r>
              <a:rPr lang="ru-RU" sz="2000" dirty="0">
                <a:latin typeface="Gilroy Medium" panose="00000600000000000000" charset="0"/>
              </a:rPr>
              <a:t>– </a:t>
            </a:r>
            <a:r>
              <a:rPr lang="ru-RU" sz="2000" dirty="0" smtClean="0">
                <a:latin typeface="Gilroy Medium" panose="00000600000000000000" charset="0"/>
              </a:rPr>
              <a:t> управление </a:t>
            </a:r>
            <a:r>
              <a:rPr lang="ru-RU" sz="2000" dirty="0">
                <a:latin typeface="Gilroy Medium" panose="00000600000000000000" charset="0"/>
              </a:rPr>
              <a:t>устройствами по расписанию и </a:t>
            </a:r>
            <a:r>
              <a:rPr lang="ru-RU" sz="2000" dirty="0" smtClean="0">
                <a:latin typeface="Gilroy Medium" panose="00000600000000000000" charset="0"/>
              </a:rPr>
              <a:t>сценариям.</a:t>
            </a:r>
            <a:endParaRPr lang="ru-RU" sz="2000" dirty="0">
              <a:latin typeface="Gilroy Medium" panose="0000060000000000000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6224468" y="1483784"/>
            <a:ext cx="51029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Gilroy Medium" panose="00000600000000000000" charset="0"/>
              </a:rPr>
              <a:t>Нефункциональные требования</a:t>
            </a:r>
          </a:p>
          <a:p>
            <a:endParaRPr lang="ru-RU" sz="2400" dirty="0">
              <a:latin typeface="Gilroy Medium" panose="00000600000000000000" charset="0"/>
            </a:endParaRPr>
          </a:p>
          <a:p>
            <a:r>
              <a:rPr lang="ru-RU" sz="2000" dirty="0">
                <a:latin typeface="Gilroy Medium" panose="00000600000000000000" charset="0"/>
              </a:rPr>
              <a:t>–</a:t>
            </a:r>
            <a:r>
              <a:rPr lang="ru-RU" sz="2000" dirty="0" smtClean="0">
                <a:latin typeface="Gilroy Medium" panose="00000600000000000000" charset="0"/>
              </a:rPr>
              <a:t> Производительность:  система умного дома должна передавать запросы между </a:t>
            </a:r>
            <a:r>
              <a:rPr lang="ru-RU" sz="2000" dirty="0">
                <a:latin typeface="Gilroy Medium" panose="00000600000000000000" charset="0"/>
              </a:rPr>
              <a:t>контроллером и устройствами</a:t>
            </a:r>
            <a:r>
              <a:rPr lang="ru-RU" sz="2000" dirty="0" smtClean="0">
                <a:latin typeface="Gilroy Medium" panose="00000600000000000000" charset="0"/>
              </a:rPr>
              <a:t> с минимальной задержкой;</a:t>
            </a:r>
          </a:p>
          <a:p>
            <a:r>
              <a:rPr lang="ru-RU" sz="2000" dirty="0" smtClean="0">
                <a:latin typeface="Gilroy Medium" panose="00000600000000000000" charset="0"/>
              </a:rPr>
              <a:t>– безопасность: обязательным </a:t>
            </a:r>
            <a:r>
              <a:rPr lang="ru-RU" sz="2000" dirty="0">
                <a:latin typeface="Gilroy Medium" panose="00000600000000000000" charset="0"/>
              </a:rPr>
              <a:t>требованием </a:t>
            </a:r>
            <a:r>
              <a:rPr lang="ru-RU" sz="2000" dirty="0" smtClean="0">
                <a:latin typeface="Gilroy Medium" panose="00000600000000000000" charset="0"/>
              </a:rPr>
              <a:t>является защита системы от внешних атак;</a:t>
            </a:r>
          </a:p>
          <a:p>
            <a:r>
              <a:rPr lang="ru-RU" sz="2000" dirty="0">
                <a:latin typeface="Gilroy Medium" panose="00000600000000000000" charset="0"/>
              </a:rPr>
              <a:t>–</a:t>
            </a:r>
            <a:r>
              <a:rPr lang="ru-RU" sz="2000" dirty="0" smtClean="0">
                <a:latin typeface="Gilroy Medium" panose="00000600000000000000" charset="0"/>
              </a:rPr>
              <a:t> стабильность: система </a:t>
            </a:r>
            <a:r>
              <a:rPr lang="ru-RU" sz="2000" dirty="0">
                <a:latin typeface="Gilroy Medium" panose="00000600000000000000" charset="0"/>
              </a:rPr>
              <a:t>должна демонстрировать устойчивую работу под высокой </a:t>
            </a:r>
            <a:r>
              <a:rPr lang="ru-RU" sz="2000" dirty="0" smtClean="0">
                <a:latin typeface="Gilroy Medium" panose="00000600000000000000" charset="0"/>
              </a:rPr>
              <a:t>нагрузкой, работать бесперебойно.</a:t>
            </a:r>
            <a:endParaRPr lang="ru-RU" sz="2800" dirty="0" smtClean="0">
              <a:latin typeface="Gilroy Medium" panose="000006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34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</a:t>
            </a:r>
            <a:r>
              <a:rPr lang="ru-RU" sz="2800"/>
              <a:t>и е ! 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3366116" y="4008603"/>
            <a:ext cx="545976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Студенты: </a:t>
            </a:r>
            <a:r>
              <a:rPr lang="ru-RU" dirty="0" err="1">
                <a:latin typeface="Gilroy Medium" panose="00000600000000000000" charset="-52"/>
              </a:rPr>
              <a:t>Каматали</a:t>
            </a:r>
            <a:r>
              <a:rPr lang="ru-RU" dirty="0">
                <a:latin typeface="Gilroy Medium" panose="00000600000000000000" charset="-52"/>
              </a:rPr>
              <a:t> Алина </a:t>
            </a:r>
            <a:r>
              <a:rPr lang="ru-RU" dirty="0" err="1">
                <a:latin typeface="Gilroy Medium" panose="00000600000000000000" charset="-52"/>
              </a:rPr>
              <a:t>Аароновна</a:t>
            </a:r>
            <a:endParaRPr lang="ru-RU" dirty="0">
              <a:latin typeface="Gilroy Medium" panose="00000600000000000000" charset="-52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Романов Александр Дмитриевич,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Преподаватель Баринов Владимир Романович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latin typeface="Gilroy Bold" panose="00000800000000000000" charset="-52"/>
              </a:rPr>
              <a:t>Основы проектирования информационных систем</a:t>
            </a:r>
            <a:endParaRPr lang="ru-RU" sz="2800" dirty="0">
              <a:latin typeface="Gilroy Medium" panose="00000600000000000000" charset="-52"/>
            </a:endParaRPr>
          </a:p>
          <a:p>
            <a:pPr algn="ctr">
              <a:defRPr/>
            </a:pPr>
            <a:r>
              <a:rPr lang="ru-RU" sz="2800" dirty="0">
                <a:latin typeface="Gilroy Medium" panose="00000600000000000000" charset="-52"/>
              </a:rPr>
              <a:t>Анализ проекта «Умный дом»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777</TotalTime>
  <Words>568</Words>
  <Application>Microsoft Office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Gilroy Bold</vt:lpstr>
      <vt:lpstr>Calibri</vt:lpstr>
      <vt:lpstr>Gilroy Medium</vt:lpstr>
      <vt:lpstr>Verdana</vt:lpstr>
      <vt:lpstr>Тема2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alina</cp:lastModifiedBy>
  <cp:revision>61</cp:revision>
  <dcterms:created xsi:type="dcterms:W3CDTF">2024-05-27T20:04:35Z</dcterms:created>
  <dcterms:modified xsi:type="dcterms:W3CDTF">2025-11-05T07:42:05Z</dcterms:modified>
</cp:coreProperties>
</file>