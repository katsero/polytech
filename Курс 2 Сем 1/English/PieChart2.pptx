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6"/>
  </p:notesMasterIdLst>
  <p:sldIdLst>
    <p:sldId id="256" r:id="rId2"/>
    <p:sldId id="273" r:id="rId3"/>
    <p:sldId id="274" r:id="rId4"/>
    <p:sldId id="275" r:id="rId5"/>
  </p:sldIdLst>
  <p:sldSz cx="12192000" cy="68580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Gilroy Bold" panose="00000800000000000000" charset="-52"/>
      <p:bold r:id="rId11"/>
    </p:embeddedFont>
    <p:embeddedFont>
      <p:font typeface="Gilroy Medium" panose="00000600000000000000" charset="-52"/>
      <p:regular r:id="rId12"/>
    </p:embeddedFont>
    <p:embeddedFont>
      <p:font typeface="Verdana" panose="020B0604030504040204" pitchFamily="34" charset="0"/>
      <p:regular r:id="rId13"/>
      <p:bold r:id="rId14"/>
      <p:italic r:id="rId15"/>
      <p:boldItalic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25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O:\github\Polytech\&#1050;&#1091;&#1088;&#1089;%202%20&#1057;&#1077;&#1084;%201\English\PieChar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\Desktop\github\Polytech\&#1050;&#1091;&#1088;&#1089;%202%20&#1057;&#1077;&#1084;%201\English\PieChart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2.7911969940955447E-2"/>
          <c:y val="9.0357849433387566E-2"/>
          <c:w val="0.95276435856146002"/>
          <c:h val="0.77172461882423327"/>
        </c:manualLayout>
      </c:layout>
      <c:pie3D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8204403193562164E-3"/>
          <c:y val="0.86851592140346545"/>
          <c:w val="0.99021204475044489"/>
          <c:h val="0.112183719159000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2.7911969940955447E-2"/>
          <c:y val="9.0357849433387566E-2"/>
          <c:w val="0.95276435856146002"/>
          <c:h val="0.77172461882423327"/>
        </c:manualLayout>
      </c:layout>
      <c:pie3DChart>
        <c:varyColors val="1"/>
        <c:ser>
          <c:idx val="0"/>
          <c:order val="0"/>
          <c:dPt>
            <c:idx val="0"/>
            <c:bubble3D val="0"/>
            <c:explosion val="15"/>
            <c:spPr>
              <a:solidFill>
                <a:srgbClr val="4A90E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670-4B31-8F4F-DE0F22FAB897}"/>
              </c:ext>
            </c:extLst>
          </c:dPt>
          <c:dPt>
            <c:idx val="1"/>
            <c:bubble3D val="0"/>
            <c:spPr>
              <a:solidFill>
                <a:srgbClr val="50C878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1670-4B31-8F4F-DE0F22FAB897}"/>
              </c:ext>
            </c:extLst>
          </c:dPt>
          <c:dPt>
            <c:idx val="2"/>
            <c:bubble3D val="0"/>
            <c:spPr>
              <a:solidFill>
                <a:srgbClr val="FFA500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1670-4B31-8F4F-DE0F22FAB897}"/>
              </c:ext>
            </c:extLst>
          </c:dPt>
          <c:dPt>
            <c:idx val="3"/>
            <c:bubble3D val="0"/>
            <c:spPr>
              <a:solidFill>
                <a:srgbClr val="9B59B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1670-4B31-8F4F-DE0F22FAB89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1670-4B31-8F4F-DE0F22FAB89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Лист1!$B$2:$E$2</c15:sqref>
                  </c15:fullRef>
                </c:ext>
              </c:extLst>
              <c:f>Лист1!$B$2:$E$2</c:f>
              <c:strCache>
                <c:ptCount val="4"/>
                <c:pt idx="0">
                  <c:v>Frontend</c:v>
                </c:pt>
                <c:pt idx="1">
                  <c:v>Backend</c:v>
                </c:pt>
                <c:pt idx="2">
                  <c:v>Full-stack</c:v>
                </c:pt>
                <c:pt idx="3">
                  <c:v>Other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Лист1!$B$3:$G$3</c15:sqref>
                  </c15:fullRef>
                </c:ext>
              </c:extLst>
              <c:f>(Лист1!$B$3:$E$3,Лист1!$G$3)</c:f>
              <c:numCache>
                <c:formatCode>General</c:formatCode>
                <c:ptCount val="5"/>
                <c:pt idx="0">
                  <c:v>42</c:v>
                </c:pt>
                <c:pt idx="1">
                  <c:v>33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A-1670-4B31-8F4F-DE0F22FAB8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8204403193562164E-3"/>
          <c:y val="0.86851592140346545"/>
          <c:w val="0.99021204475044489"/>
          <c:h val="0.112183719159000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623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628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291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12.12.2025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12.12.2025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12.12.2025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12.12.2025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12.12.2025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12.12.2025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12.12.2025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12.12.2025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29B7204-61E6-422D-9CEC-59FF72A95F70}"/>
              </a:ext>
            </a:extLst>
          </p:cNvPr>
          <p:cNvSpPr txBox="1"/>
          <p:nvPr/>
        </p:nvSpPr>
        <p:spPr>
          <a:xfrm>
            <a:off x="4782071" y="5529669"/>
            <a:ext cx="7073671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en-US" sz="1800" dirty="0">
                <a:latin typeface="Gilroy Medium" panose="00000600000000000000" charset="-52"/>
              </a:rPr>
              <a:t>Student</a:t>
            </a:r>
            <a:r>
              <a:rPr lang="ru-RU" sz="1800" dirty="0">
                <a:latin typeface="Gilroy Medium" panose="00000600000000000000" charset="-52"/>
              </a:rPr>
              <a:t>: </a:t>
            </a:r>
            <a:r>
              <a:rPr lang="en-US" dirty="0">
                <a:latin typeface="Gilroy Medium" panose="00000600000000000000" charset="-52"/>
              </a:rPr>
              <a:t>Alexander Romanov</a:t>
            </a:r>
            <a:r>
              <a:rPr lang="ru-RU" sz="1800" dirty="0">
                <a:latin typeface="Gilroy Medium" panose="00000600000000000000" charset="-52"/>
              </a:rPr>
              <a:t>, </a:t>
            </a:r>
            <a:r>
              <a:rPr lang="en-US" sz="1800" dirty="0">
                <a:latin typeface="Gilroy Medium" panose="00000600000000000000" charset="-52"/>
              </a:rPr>
              <a:t>group</a:t>
            </a:r>
            <a:r>
              <a:rPr lang="ru-RU" sz="1800" dirty="0">
                <a:latin typeface="Gilroy Medium" panose="00000600000000000000" charset="-52"/>
              </a:rPr>
              <a:t> 241-321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en-US" dirty="0">
                <a:latin typeface="Gilroy Medium" panose="00000600000000000000" charset="-52"/>
              </a:rPr>
              <a:t>Instructor</a:t>
            </a:r>
            <a:r>
              <a:rPr lang="ru-RU" dirty="0">
                <a:latin typeface="Gilroy Medium" panose="00000600000000000000" charset="-52"/>
              </a:rPr>
              <a:t>: </a:t>
            </a:r>
            <a:r>
              <a:rPr lang="en-US" dirty="0">
                <a:latin typeface="Gilroy Medium" panose="00000600000000000000" charset="-52"/>
              </a:rPr>
              <a:t>Elizabeth Kolodina</a:t>
            </a:r>
            <a:endParaRPr lang="ru-RU" sz="1800" dirty="0">
              <a:latin typeface="Gilroy Medium" panose="00000600000000000000" charset="-52"/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23037"/>
            <a:ext cx="8124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latin typeface="Gilroy Medium" panose="00000600000000000000" charset="-52"/>
              </a:rPr>
              <a:t>Foreign language</a:t>
            </a:r>
            <a:endParaRPr lang="ru-RU" b="1" dirty="0">
              <a:latin typeface="Gilroy Medium" panose="00000600000000000000" charset="-52"/>
            </a:endParaRPr>
          </a:p>
          <a:p>
            <a:pPr algn="ctr">
              <a:defRPr/>
            </a:pPr>
            <a:endParaRPr kumimoji="0" lang="ru-RU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/>
            <a:r>
              <a:rPr lang="en-US" dirty="0">
                <a:latin typeface="Gilroy Medium" panose="00000600000000000000" charset="-52"/>
                <a:ea typeface="+mj-ea"/>
                <a:cs typeface="+mj-cs"/>
              </a:rPr>
              <a:t>in the field of 09.03.01 Informatics and Computational Technology</a:t>
            </a:r>
          </a:p>
          <a:p>
            <a:pPr algn="ctr"/>
            <a:r>
              <a:rPr lang="en-US" dirty="0">
                <a:latin typeface="Gilroy Medium" panose="00000600000000000000" charset="-52"/>
                <a:ea typeface="+mj-ea"/>
                <a:cs typeface="+mj-cs"/>
              </a:rPr>
              <a:t>Educational Program (Track): “Web Technologies”</a:t>
            </a:r>
            <a:endParaRPr lang="ru-RU" dirty="0">
              <a:latin typeface="Gilroy Medium" panose="00000600000000000000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152400" y="3163233"/>
            <a:ext cx="11887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>
                <a:latin typeface="Gilroy Medium" panose="00000600000000000000" charset="-52"/>
              </a:rPr>
              <a:t>Foreign language</a:t>
            </a:r>
          </a:p>
          <a:p>
            <a:pPr algn="ctr">
              <a:defRPr/>
            </a:pPr>
            <a:r>
              <a:rPr lang="en-US" sz="2800" dirty="0">
                <a:latin typeface="Gilroy Medium" panose="00000600000000000000" charset="-52"/>
                <a:ea typeface="+mj-ea"/>
                <a:cs typeface="+mj-cs"/>
              </a:rPr>
              <a:t>Areas of Focus in Web Development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63007" y="6134487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>
                <a:solidFill>
                  <a:schemeClr val="tx1"/>
                </a:solidFill>
              </a:rPr>
              <a:t>2</a:t>
            </a:fld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331365" y="572554"/>
            <a:ext cx="114181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Gilroy Medium" panose="00000600000000000000" charset="0"/>
              </a:rPr>
              <a:t>Areas of Focus in Web Development</a:t>
            </a:r>
            <a:endParaRPr lang="ru-RU" sz="3600" dirty="0">
              <a:latin typeface="Gilroy Medium" panose="0000060000000000000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BE14B-182A-4966-B033-9B3029F87F3A}"/>
              </a:ext>
            </a:extLst>
          </p:cNvPr>
          <p:cNvSpPr txBox="1"/>
          <p:nvPr/>
        </p:nvSpPr>
        <p:spPr>
          <a:xfrm>
            <a:off x="149377" y="6463449"/>
            <a:ext cx="7633733" cy="320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</a:pPr>
            <a:r>
              <a:rPr lang="en-US" sz="1100" dirty="0">
                <a:latin typeface="Gilroy Medium" panose="00000600000000000000" charset="-52"/>
              </a:rPr>
              <a:t>Alexander Romanov</a:t>
            </a:r>
            <a:r>
              <a:rPr lang="ru-RU" sz="1100" dirty="0">
                <a:latin typeface="Gilroy Medium" panose="00000600000000000000" charset="-52"/>
              </a:rPr>
              <a:t>, </a:t>
            </a:r>
            <a:r>
              <a:rPr lang="en-US" sz="1100" dirty="0">
                <a:latin typeface="Gilroy Medium" panose="00000600000000000000" charset="-52"/>
              </a:rPr>
              <a:t>group</a:t>
            </a:r>
            <a:r>
              <a:rPr lang="ru-RU" sz="1100" dirty="0">
                <a:latin typeface="Gilroy Medium" panose="00000600000000000000" charset="-52"/>
              </a:rPr>
              <a:t> 241-321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7A663F-C7C9-489A-B7B6-BCFBFB905C2D}"/>
              </a:ext>
            </a:extLst>
          </p:cNvPr>
          <p:cNvSpPr txBox="1"/>
          <p:nvPr/>
        </p:nvSpPr>
        <p:spPr>
          <a:xfrm>
            <a:off x="11011519" y="6668442"/>
            <a:ext cx="1312938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" dirty="0">
                <a:latin typeface="Gilroy Medium" panose="00000600000000000000" charset="0"/>
              </a:rPr>
              <a:t>Your advertisement could be here</a:t>
            </a:r>
            <a:endParaRPr lang="ru-RU" sz="400" dirty="0">
              <a:latin typeface="Gilroy Medium" panose="00000600000000000000" charset="0"/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1AE3821D-6513-4ECA-B227-DF16AACC29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2266592"/>
              </p:ext>
            </p:extLst>
          </p:nvPr>
        </p:nvGraphicFramePr>
        <p:xfrm>
          <a:off x="3138487" y="1454943"/>
          <a:ext cx="5915025" cy="39481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1AE3821D-6513-4ECA-B227-DF16AACC29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4711844"/>
              </p:ext>
            </p:extLst>
          </p:nvPr>
        </p:nvGraphicFramePr>
        <p:xfrm>
          <a:off x="2514715" y="1454943"/>
          <a:ext cx="7162568" cy="45870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75340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63007" y="6134487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>
                <a:solidFill>
                  <a:schemeClr val="tx1"/>
                </a:solidFill>
              </a:rPr>
              <a:t>3</a:t>
            </a:fld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331365" y="572554"/>
            <a:ext cx="114181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Gilroy Medium" panose="00000600000000000000" charset="0"/>
              </a:rPr>
              <a:t>Areas of Focus in Web Development</a:t>
            </a:r>
            <a:endParaRPr lang="ru-RU" sz="3600" dirty="0">
              <a:latin typeface="Gilroy Medium" panose="0000060000000000000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BE14B-182A-4966-B033-9B3029F87F3A}"/>
              </a:ext>
            </a:extLst>
          </p:cNvPr>
          <p:cNvSpPr txBox="1"/>
          <p:nvPr/>
        </p:nvSpPr>
        <p:spPr>
          <a:xfrm>
            <a:off x="149377" y="6463449"/>
            <a:ext cx="7633733" cy="320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</a:pPr>
            <a:r>
              <a:rPr lang="en-US" sz="1100" dirty="0">
                <a:latin typeface="Gilroy Medium" panose="00000600000000000000" charset="-52"/>
              </a:rPr>
              <a:t>Alexander Romanov</a:t>
            </a:r>
            <a:r>
              <a:rPr lang="ru-RU" sz="1100" dirty="0">
                <a:latin typeface="Gilroy Medium" panose="00000600000000000000" charset="-52"/>
              </a:rPr>
              <a:t>, </a:t>
            </a:r>
            <a:r>
              <a:rPr lang="en-US" sz="1100" dirty="0">
                <a:latin typeface="Gilroy Medium" panose="00000600000000000000" charset="-52"/>
              </a:rPr>
              <a:t>group</a:t>
            </a:r>
            <a:r>
              <a:rPr lang="ru-RU" sz="1100" dirty="0">
                <a:latin typeface="Gilroy Medium" panose="00000600000000000000" charset="-52"/>
              </a:rPr>
              <a:t> 241-321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7A663F-C7C9-489A-B7B6-BCFBFB905C2D}"/>
              </a:ext>
            </a:extLst>
          </p:cNvPr>
          <p:cNvSpPr txBox="1"/>
          <p:nvPr/>
        </p:nvSpPr>
        <p:spPr>
          <a:xfrm>
            <a:off x="11011519" y="6668442"/>
            <a:ext cx="1312938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" dirty="0">
                <a:latin typeface="Gilroy Medium" panose="00000600000000000000" charset="0"/>
              </a:rPr>
              <a:t>Your advertisement could be here</a:t>
            </a:r>
            <a:endParaRPr lang="ru-RU" sz="400" dirty="0">
              <a:latin typeface="Gilroy Medium" panose="00000600000000000000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527CB6-3627-4D53-9D95-71DC9367D6EF}"/>
              </a:ext>
            </a:extLst>
          </p:cNvPr>
          <p:cNvSpPr txBox="1"/>
          <p:nvPr/>
        </p:nvSpPr>
        <p:spPr>
          <a:xfrm>
            <a:off x="331364" y="1571333"/>
            <a:ext cx="1141818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Gilroy Medium" panose="00000600000000000000" charset="-52"/>
              </a:rPr>
              <a:t>I conducted an online research study on developers’ primary areas of specialization, based on which this pie chart was created.</a:t>
            </a:r>
            <a:endParaRPr lang="ru-RU" dirty="0">
              <a:latin typeface="Gilroy Medium" panose="00000600000000000000" charset="-52"/>
            </a:endParaRPr>
          </a:p>
          <a:p>
            <a:endParaRPr lang="en-US" dirty="0">
              <a:latin typeface="Gilroy Medium" panose="00000600000000000000" charset="-52"/>
            </a:endParaRPr>
          </a:p>
          <a:p>
            <a:r>
              <a:rPr lang="en-US" dirty="0">
                <a:latin typeface="Gilroy Medium" panose="00000600000000000000" charset="-52"/>
              </a:rPr>
              <a:t>Frontend development is the most common specialization, accounting for 42% of developers. Backend development follows closely with 33%, reflecting its foundational role in web applications. Full-stack developers—who work across both frontend and backend—represent 15% of the sample, while the remaining 10% specialize in other areas such as DevOps, QA automation, or web accessibility.</a:t>
            </a:r>
            <a:endParaRPr lang="ru-RU" dirty="0">
              <a:latin typeface="Gilroy Medium" panose="00000600000000000000" charset="-52"/>
            </a:endParaRPr>
          </a:p>
          <a:p>
            <a:endParaRPr lang="en-US" dirty="0">
              <a:latin typeface="Gilroy Medium" panose="00000600000000000000" charset="-52"/>
            </a:endParaRPr>
          </a:p>
          <a:p>
            <a:r>
              <a:rPr lang="en-US" dirty="0">
                <a:latin typeface="Gilroy Medium" panose="00000600000000000000" charset="-52"/>
              </a:rPr>
              <a:t>Comparing the top two categories, frontend developers outnumber backend developers by roughly 9 percentage points, or about a 5:4 ratio. Interestingly, the combined share of full-stack and “other” roles (25%) is comparable to the backend segment alone, suggesting a growing diversification of roles beyond traditional frontend/backend boundaries.</a:t>
            </a:r>
            <a:endParaRPr lang="ru-RU" dirty="0">
              <a:latin typeface="Gilroy Medium" panose="00000600000000000000" charset="-52"/>
            </a:endParaRPr>
          </a:p>
          <a:p>
            <a:endParaRPr lang="en-US" dirty="0">
              <a:latin typeface="Gilroy Medium" panose="00000600000000000000" charset="-52"/>
            </a:endParaRPr>
          </a:p>
          <a:p>
            <a:r>
              <a:rPr lang="en-US" dirty="0">
                <a:latin typeface="Gilroy Medium" panose="00000600000000000000" charset="-52"/>
              </a:rPr>
              <a:t>In summary, while frontend remains the dominant specialization in web development, the ecosystem is clearly branching out, with significant representation across backend, full-stack, and niche technical domains.</a:t>
            </a:r>
          </a:p>
        </p:txBody>
      </p:sp>
    </p:spTree>
    <p:extLst>
      <p:ext uri="{BB962C8B-B14F-4D97-AF65-F5344CB8AC3E}">
        <p14:creationId xmlns:p14="http://schemas.microsoft.com/office/powerpoint/2010/main" val="2485223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55689" y="705942"/>
            <a:ext cx="5485032" cy="42876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Gilroy Medium" panose="00000600000000000000" charset="-52"/>
              </a:rPr>
              <a:t>Thanks for your attention</a:t>
            </a:r>
            <a:r>
              <a:rPr lang="ru-RU" sz="2800" dirty="0">
                <a:latin typeface="Gilroy Medium" panose="00000600000000000000" charset="-52"/>
              </a:rPr>
              <a:t>!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E462F7-B2A7-4E4D-8555-1647177CEEFC}"/>
              </a:ext>
            </a:extLst>
          </p:cNvPr>
          <p:cNvSpPr txBox="1"/>
          <p:nvPr/>
        </p:nvSpPr>
        <p:spPr>
          <a:xfrm>
            <a:off x="2990566" y="4026416"/>
            <a:ext cx="6542584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en-US" dirty="0">
                <a:latin typeface="Gilroy Medium" panose="00000600000000000000" charset="-52"/>
              </a:rPr>
              <a:t>Student</a:t>
            </a:r>
            <a:r>
              <a:rPr lang="ru-RU" dirty="0">
                <a:latin typeface="Gilroy Medium" panose="00000600000000000000" charset="-52"/>
              </a:rPr>
              <a:t>: </a:t>
            </a:r>
            <a:r>
              <a:rPr lang="en-US" dirty="0">
                <a:latin typeface="Gilroy Medium" panose="00000600000000000000" charset="-52"/>
              </a:rPr>
              <a:t>Alexander Romanov</a:t>
            </a:r>
            <a:r>
              <a:rPr lang="ru-RU" dirty="0">
                <a:latin typeface="Gilroy Medium" panose="00000600000000000000" charset="-52"/>
              </a:rPr>
              <a:t>, группа 241-321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en-US" dirty="0">
                <a:latin typeface="Gilroy Medium" panose="00000600000000000000" charset="-52"/>
              </a:rPr>
              <a:t>Instructor</a:t>
            </a:r>
            <a:r>
              <a:rPr lang="ru-RU" dirty="0">
                <a:latin typeface="Gilroy Medium" panose="00000600000000000000" charset="-52"/>
              </a:rPr>
              <a:t>: </a:t>
            </a:r>
            <a:r>
              <a:rPr lang="en-US" dirty="0">
                <a:latin typeface="Gilroy Medium" panose="00000600000000000000" charset="-52"/>
              </a:rPr>
              <a:t>Elizabeth Kolodina</a:t>
            </a:r>
            <a:endParaRPr lang="ru-RU" dirty="0">
              <a:latin typeface="Gilroy Medium" panose="00000600000000000000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76724-8B7E-49E1-A5D8-0A86497396F2}"/>
              </a:ext>
            </a:extLst>
          </p:cNvPr>
          <p:cNvSpPr txBox="1"/>
          <p:nvPr/>
        </p:nvSpPr>
        <p:spPr>
          <a:xfrm>
            <a:off x="4721568" y="6454765"/>
            <a:ext cx="2305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</a:rPr>
              <a:t>2025</a:t>
            </a:r>
            <a:endParaRPr lang="ru-RU" dirty="0">
              <a:latin typeface="Gilroy Medium" panose="00000600000000000000" charset="-5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1E841-C2B3-4680-B71A-C0E060431885}"/>
              </a:ext>
            </a:extLst>
          </p:cNvPr>
          <p:cNvSpPr txBox="1"/>
          <p:nvPr/>
        </p:nvSpPr>
        <p:spPr>
          <a:xfrm>
            <a:off x="1434420" y="2951946"/>
            <a:ext cx="96548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>
                <a:latin typeface="Gilroy Medium" panose="00000600000000000000" charset="-52"/>
              </a:rPr>
              <a:t>Foreign language</a:t>
            </a:r>
            <a:endParaRPr lang="ru-RU" sz="2800" b="1" dirty="0">
              <a:latin typeface="Gilroy Medium" panose="00000600000000000000" charset="-52"/>
            </a:endParaRPr>
          </a:p>
          <a:p>
            <a:pPr algn="ctr">
              <a:defRPr/>
            </a:pPr>
            <a:r>
              <a:rPr lang="en-US" sz="2800" dirty="0">
                <a:latin typeface="Gilroy Medium" panose="00000600000000000000" charset="-52"/>
              </a:rPr>
              <a:t>Areas of Focus in Web Development</a:t>
            </a:r>
            <a:endParaRPr lang="ru-RU" sz="2800" dirty="0"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0695907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6" id="{2AEEDDF9-59ED-463C-8E0C-BF21DC8B3CB6}" vid="{CDD37877-5C07-4AD6-AFB2-357C367BDE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Shablon_Moscow_Poly_v3</Template>
  <TotalTime>835</TotalTime>
  <Words>286</Words>
  <Application>Microsoft Office PowerPoint</Application>
  <PresentationFormat>Широкоэкранный</PresentationFormat>
  <Paragraphs>34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0" baseType="lpstr">
      <vt:lpstr>Gilroy Medium</vt:lpstr>
      <vt:lpstr>Verdana</vt:lpstr>
      <vt:lpstr>Calibri</vt:lpstr>
      <vt:lpstr>Arial</vt:lpstr>
      <vt:lpstr>Gilroy Bold</vt:lpstr>
      <vt:lpstr>Тема2</vt:lpstr>
      <vt:lpstr>Презентация PowerPoint</vt:lpstr>
      <vt:lpstr>Презентация PowerPoint</vt:lpstr>
      <vt:lpstr>Презентация PowerPoint</vt:lpstr>
      <vt:lpstr>Thanks for your attention!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Veronika Natur</dc:creator>
  <cp:lastModifiedBy>K</cp:lastModifiedBy>
  <cp:revision>73</cp:revision>
  <dcterms:created xsi:type="dcterms:W3CDTF">2024-05-27T20:04:35Z</dcterms:created>
  <dcterms:modified xsi:type="dcterms:W3CDTF">2025-12-12T09:58:57Z</dcterms:modified>
</cp:coreProperties>
</file>