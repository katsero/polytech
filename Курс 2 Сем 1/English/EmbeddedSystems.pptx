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0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58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ilroy Bold" panose="00000800000000000000" charset="-52"/>
      <p:bold r:id="rId15"/>
    </p:embeddedFont>
    <p:embeddedFont>
      <p:font typeface="Gilroy Medium" panose="00000600000000000000" charset="-52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0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10.12.2025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0623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2304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224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203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97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3094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10.12.2025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10.12.2025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10.12.2025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10.12.2025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10.12.2025</a:t>
            </a:fld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10.12.2025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10.12.2025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10.12.2025</a:t>
            </a:fld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Gilroy Medium" panose="00000600000000000000" charset="-52"/>
              </a:rPr>
              <a:t>Foreign language</a:t>
            </a:r>
            <a:endParaRPr lang="ru-RU" b="1" dirty="0">
              <a:latin typeface="Gilroy Medium" panose="00000600000000000000" charset="-52"/>
            </a:endParaRPr>
          </a:p>
          <a:p>
            <a:pPr algn="ctr"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in the field of 09.03.01 Informatics and Computational Technology</a:t>
            </a: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Educational Program (Track): “Web Technologies”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Medium" panose="00000600000000000000" charset="-52"/>
              </a:rPr>
              <a:t>Foreign language</a:t>
            </a:r>
          </a:p>
          <a:p>
            <a:pPr algn="ctr">
              <a:defRPr/>
            </a:pPr>
            <a:r>
              <a:rPr lang="en-US" sz="2800" dirty="0">
                <a:latin typeface="Gilroy Medium" panose="00000600000000000000" charset="-52"/>
                <a:ea typeface="+mj-ea"/>
                <a:cs typeface="+mj-cs"/>
              </a:rPr>
              <a:t>Embedded systems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4782071" y="5529669"/>
            <a:ext cx="707367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latin typeface="Gilroy Medium" panose="00000600000000000000" charset="-52"/>
              </a:rPr>
              <a:t>Student</a:t>
            </a:r>
            <a:r>
              <a:rPr lang="ru-RU" sz="1800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Alexander Romanov</a:t>
            </a:r>
            <a:r>
              <a:rPr lang="ru-RU" sz="1800" dirty="0">
                <a:latin typeface="Gilroy Medium" panose="00000600000000000000" charset="-52"/>
              </a:rPr>
              <a:t>, </a:t>
            </a:r>
            <a:r>
              <a:rPr lang="en-US" sz="1800" dirty="0">
                <a:latin typeface="Gilroy Medium" panose="00000600000000000000" charset="-52"/>
              </a:rPr>
              <a:t>group</a:t>
            </a:r>
            <a:r>
              <a:rPr lang="ru-RU" sz="1800" dirty="0">
                <a:latin typeface="Gilroy Medium" panose="00000600000000000000" charset="-52"/>
              </a:rPr>
              <a:t>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Elizabeth Kolodina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2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666219" y="572554"/>
            <a:ext cx="6859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0"/>
              </a:rPr>
              <a:t>What are Embedded systems</a:t>
            </a:r>
            <a:r>
              <a:rPr lang="ru-RU" sz="3600" dirty="0">
                <a:latin typeface="Gilroy Medium" panose="00000600000000000000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0"/>
              </a:rPr>
              <a:t>Your advertisement could be here</a:t>
            </a:r>
            <a:endParaRPr lang="ru-RU" sz="400" dirty="0">
              <a:latin typeface="Gilroy Medium" panose="00000600000000000000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402CDB-9EDD-4557-8FB7-53C53190B2E1}"/>
              </a:ext>
            </a:extLst>
          </p:cNvPr>
          <p:cNvSpPr/>
          <p:nvPr/>
        </p:nvSpPr>
        <p:spPr>
          <a:xfrm>
            <a:off x="3836407" y="1218885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The Invisible Brains of Our Everyday Tech</a:t>
            </a:r>
            <a:endParaRPr lang="ru-RU" dirty="0">
              <a:latin typeface="Gilroy Medium" panose="00000600000000000000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8D5930C-1534-44DB-AC06-6494C0F07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41" y="3234333"/>
            <a:ext cx="3851951" cy="2674333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0F82A2F-BD4A-42C7-94D5-7F892CF18775}"/>
              </a:ext>
            </a:extLst>
          </p:cNvPr>
          <p:cNvSpPr/>
          <p:nvPr/>
        </p:nvSpPr>
        <p:spPr>
          <a:xfrm>
            <a:off x="1854363" y="2772276"/>
            <a:ext cx="1944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NOT your laptop</a:t>
            </a:r>
            <a:endParaRPr lang="ru-RU" dirty="0">
              <a:latin typeface="Gilroy Medium" panose="00000600000000000000" charset="-52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DFC057-6A7A-42C1-AE0F-439DDBB85D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955" y="3287820"/>
            <a:ext cx="2567357" cy="2567357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DA78196-C187-458F-A5AE-4038300BCD97}"/>
              </a:ext>
            </a:extLst>
          </p:cNvPr>
          <p:cNvSpPr/>
          <p:nvPr/>
        </p:nvSpPr>
        <p:spPr>
          <a:xfrm>
            <a:off x="7545112" y="2772276"/>
            <a:ext cx="3026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BUT inside your microwave</a:t>
            </a:r>
            <a:endParaRPr lang="ru-RU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7534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746F1E-FA07-467B-8B5E-6BB4826B9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740" y="1251113"/>
            <a:ext cx="11142637" cy="5332238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  <a:latin typeface="Gilroy Medium" panose="00000600000000000000" charset="-52"/>
              </a:rPr>
              <a:t>3</a:t>
            </a:fld>
            <a:endParaRPr lang="ru-RU" sz="3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6745" y="604782"/>
            <a:ext cx="653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-52"/>
              </a:rPr>
              <a:t>What is inside</a:t>
            </a:r>
            <a:r>
              <a:rPr lang="ru-RU" sz="3600" dirty="0">
                <a:latin typeface="Gilroy Medium" panose="00000600000000000000" charset="-52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-52"/>
              </a:rPr>
              <a:t>Your advertisement could be here</a:t>
            </a:r>
            <a:endParaRPr lang="ru-RU" sz="400" dirty="0">
              <a:latin typeface="Gilroy Medium" panose="00000600000000000000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402CDB-9EDD-4557-8FB7-53C53190B2E1}"/>
              </a:ext>
            </a:extLst>
          </p:cNvPr>
          <p:cNvSpPr/>
          <p:nvPr/>
        </p:nvSpPr>
        <p:spPr>
          <a:xfrm>
            <a:off x="759100" y="1313097"/>
            <a:ext cx="4628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Every embedded system has 3 core parts: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8C27BC-45D5-4F16-AFBF-2C3D0A0927B8}"/>
              </a:ext>
            </a:extLst>
          </p:cNvPr>
          <p:cNvSpPr/>
          <p:nvPr/>
        </p:nvSpPr>
        <p:spPr>
          <a:xfrm>
            <a:off x="759100" y="2276094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Gilroy Medium" panose="00000600000000000000" charset="-52"/>
              </a:rPr>
              <a:t>Processor</a:t>
            </a:r>
            <a:endParaRPr lang="ru-RU" sz="2000" dirty="0">
              <a:solidFill>
                <a:srgbClr val="C00000"/>
              </a:solidFill>
              <a:latin typeface="Gilroy Medium" panose="00000600000000000000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12513E-A20B-4FD5-BC20-FCDD98056423}"/>
              </a:ext>
            </a:extLst>
          </p:cNvPr>
          <p:cNvSpPr/>
          <p:nvPr/>
        </p:nvSpPr>
        <p:spPr>
          <a:xfrm>
            <a:off x="759100" y="3046626"/>
            <a:ext cx="11272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ilroy Medium" panose="00000600000000000000" charset="-52"/>
              </a:rPr>
              <a:t>Memory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Gilroy Medium" panose="00000600000000000000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2C77E4-4633-4F83-9000-697736DBD357}"/>
              </a:ext>
            </a:extLst>
          </p:cNvPr>
          <p:cNvSpPr/>
          <p:nvPr/>
        </p:nvSpPr>
        <p:spPr>
          <a:xfrm>
            <a:off x="759100" y="3818023"/>
            <a:ext cx="3706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Gilroy Medium" panose="00000600000000000000" charset="-52"/>
              </a:rPr>
              <a:t>I/O</a:t>
            </a:r>
            <a:r>
              <a:rPr lang="ru-RU" sz="2000" dirty="0">
                <a:solidFill>
                  <a:schemeClr val="accent4">
                    <a:lumMod val="50000"/>
                  </a:schemeClr>
                </a:solidFill>
                <a:latin typeface="Gilroy Medium" panose="00000600000000000000" charset="-52"/>
              </a:rPr>
              <a:t> 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Gilroy Medium" panose="00000600000000000000" charset="-52"/>
              </a:rPr>
              <a:t>input/output) Peripherals</a:t>
            </a:r>
            <a:endParaRPr lang="ru-RU" sz="2000" dirty="0">
              <a:solidFill>
                <a:schemeClr val="accent4">
                  <a:lumMod val="50000"/>
                </a:schemeClr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5258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  <a:latin typeface="Gilroy Medium" panose="00000600000000000000" charset="-52"/>
              </a:rPr>
              <a:t>4</a:t>
            </a:fld>
            <a:endParaRPr lang="ru-RU" sz="3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6745" y="604782"/>
            <a:ext cx="653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-52"/>
              </a:rPr>
              <a:t>Key Features</a:t>
            </a:r>
            <a:endParaRPr lang="ru-RU" sz="36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-52"/>
              </a:rPr>
              <a:t>Your advertisement could be here</a:t>
            </a:r>
            <a:endParaRPr lang="ru-RU" sz="400" dirty="0">
              <a:latin typeface="Gilroy Medium" panose="00000600000000000000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402CDB-9EDD-4557-8FB7-53C53190B2E1}"/>
              </a:ext>
            </a:extLst>
          </p:cNvPr>
          <p:cNvSpPr/>
          <p:nvPr/>
        </p:nvSpPr>
        <p:spPr>
          <a:xfrm>
            <a:off x="914400" y="1536174"/>
            <a:ext cx="224452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Limited resources:</a:t>
            </a:r>
          </a:p>
          <a:p>
            <a:endParaRPr lang="en-US" dirty="0">
              <a:latin typeface="Gilroy Medium" panose="00000600000000000000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roy Medium" panose="00000600000000000000" charset="-52"/>
              </a:rPr>
              <a:t>low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roy Medium" panose="00000600000000000000" charset="-52"/>
              </a:rPr>
              <a:t>small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roy Medium" panose="00000600000000000000" charset="-52"/>
              </a:rPr>
              <a:t>cheap hardware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EFB636-4084-428F-8F8F-9CD72225BD8E}"/>
              </a:ext>
            </a:extLst>
          </p:cNvPr>
          <p:cNvSpPr/>
          <p:nvPr/>
        </p:nvSpPr>
        <p:spPr>
          <a:xfrm>
            <a:off x="4357176" y="1536174"/>
            <a:ext cx="32692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D1D20"/>
                </a:solidFill>
                <a:latin typeface="Gilroy Medium" panose="00000600000000000000" charset="-52"/>
              </a:rPr>
              <a:t>Real-time operation:</a:t>
            </a:r>
          </a:p>
          <a:p>
            <a:endParaRPr lang="en-US" dirty="0">
              <a:solidFill>
                <a:srgbClr val="1D1D20"/>
              </a:solidFill>
              <a:latin typeface="Gilroy Medium" panose="00000600000000000000" charset="-52"/>
            </a:endParaRPr>
          </a:p>
          <a:p>
            <a:r>
              <a:rPr lang="en-US" dirty="0">
                <a:solidFill>
                  <a:srgbClr val="1D1D20"/>
                </a:solidFill>
                <a:latin typeface="Gilroy Medium" panose="00000600000000000000" charset="-52"/>
              </a:rPr>
              <a:t>If an elevator detects a free fall, it must engage brakes </a:t>
            </a:r>
            <a:r>
              <a:rPr lang="en-US" b="1" dirty="0">
                <a:solidFill>
                  <a:srgbClr val="1D1D20"/>
                </a:solidFill>
                <a:latin typeface="Gilroy Medium" panose="00000600000000000000" charset="-52"/>
              </a:rPr>
              <a:t>instantly</a:t>
            </a:r>
            <a:r>
              <a:rPr lang="ru-RU" dirty="0">
                <a:solidFill>
                  <a:srgbClr val="1D1D20"/>
                </a:solidFill>
                <a:latin typeface="Gilroy Medium" panose="00000600000000000000" charset="-52"/>
              </a:rPr>
              <a:t>.</a:t>
            </a:r>
            <a:endParaRPr lang="en-US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477BD0-9FC5-490E-AE42-B23F848CCA6C}"/>
              </a:ext>
            </a:extLst>
          </p:cNvPr>
          <p:cNvSpPr/>
          <p:nvPr/>
        </p:nvSpPr>
        <p:spPr>
          <a:xfrm>
            <a:off x="8824682" y="1536174"/>
            <a:ext cx="2705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Reliability &gt; Flexibility:</a:t>
            </a:r>
          </a:p>
          <a:p>
            <a:endParaRPr lang="en-US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Runs for years without reboot</a:t>
            </a:r>
            <a:endParaRPr lang="ru-RU" dirty="0">
              <a:latin typeface="Gilroy Medium" panose="00000600000000000000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640A006-4CFC-481F-945F-7F41917AE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16" y="4187431"/>
            <a:ext cx="1492488" cy="165394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DF04982-D155-4462-A0CC-A9240A1FB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470" y="4187431"/>
            <a:ext cx="2161410" cy="1653949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E13FDD4-673C-451A-A2B6-105658951B93}"/>
              </a:ext>
            </a:extLst>
          </p:cNvPr>
          <p:cNvSpPr/>
          <p:nvPr/>
        </p:nvSpPr>
        <p:spPr>
          <a:xfrm>
            <a:off x="2562528" y="5949821"/>
            <a:ext cx="35892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1D1D20"/>
                </a:solidFill>
                <a:latin typeface="Gilroy Medium" panose="00000600000000000000" charset="-52"/>
              </a:rPr>
              <a:t>«</a:t>
            </a:r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I am rebooted daily. And you</a:t>
            </a:r>
            <a:r>
              <a:rPr lang="ru-RU" sz="1600" dirty="0">
                <a:solidFill>
                  <a:srgbClr val="1D1D20"/>
                </a:solidFill>
                <a:latin typeface="Gilroy Medium" panose="00000600000000000000" charset="-52"/>
              </a:rPr>
              <a:t>?»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9474E75-5E8A-4E65-B573-7CBFA5F24DEE}"/>
              </a:ext>
            </a:extLst>
          </p:cNvPr>
          <p:cNvSpPr/>
          <p:nvPr/>
        </p:nvSpPr>
        <p:spPr>
          <a:xfrm>
            <a:off x="7556140" y="5919944"/>
            <a:ext cx="12344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1D1D20"/>
                </a:solidFill>
                <a:latin typeface="Gilroy Medium" panose="00000600000000000000" charset="-52"/>
              </a:rPr>
              <a:t>«</a:t>
            </a:r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Never…</a:t>
            </a:r>
            <a:r>
              <a:rPr lang="ru-RU" sz="1600" dirty="0">
                <a:solidFill>
                  <a:srgbClr val="1D1D20"/>
                </a:solidFill>
                <a:latin typeface="Gilroy Medium" panose="00000600000000000000" charset="-52"/>
              </a:rPr>
              <a:t>»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0437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  <a:latin typeface="Gilroy Medium" panose="00000600000000000000" charset="-52"/>
              </a:rPr>
              <a:t>5</a:t>
            </a:fld>
            <a:endParaRPr lang="ru-RU" sz="3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6745" y="604782"/>
            <a:ext cx="653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-52"/>
              </a:rPr>
              <a:t>Mind-Blowing Stat</a:t>
            </a:r>
            <a:endParaRPr lang="ru-RU" sz="36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-52"/>
              </a:rPr>
              <a:t>Your advertisement could be here</a:t>
            </a:r>
            <a:endParaRPr lang="ru-RU" sz="400" dirty="0">
              <a:latin typeface="Gilroy Medium" panose="00000600000000000000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402CDB-9EDD-4557-8FB7-53C53190B2E1}"/>
              </a:ext>
            </a:extLst>
          </p:cNvPr>
          <p:cNvSpPr/>
          <p:nvPr/>
        </p:nvSpPr>
        <p:spPr>
          <a:xfrm>
            <a:off x="1863088" y="1490454"/>
            <a:ext cx="84658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Gilroy Medium" panose="00000600000000000000" charset="-52"/>
              </a:rPr>
              <a:t>In 2009, 98% of all microprocessors made worldwide went into embedded systems </a:t>
            </a:r>
            <a:r>
              <a:rPr lang="ru-RU" sz="2400" dirty="0">
                <a:latin typeface="Gilroy Medium" panose="00000600000000000000" charset="-52"/>
              </a:rPr>
              <a:t>- </a:t>
            </a:r>
            <a:r>
              <a:rPr lang="en-US" sz="2400" dirty="0">
                <a:latin typeface="Gilroy Medium" panose="00000600000000000000" charset="-52"/>
              </a:rPr>
              <a:t>not laptops, phones, or servers.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50E80A-06E2-4DC7-BE48-FF12179ED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69" y="2560792"/>
            <a:ext cx="6750057" cy="35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1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  <a:latin typeface="Gilroy Medium" panose="00000600000000000000" charset="-52"/>
              </a:rPr>
              <a:t>6</a:t>
            </a:fld>
            <a:endParaRPr lang="ru-RU" sz="3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6745" y="604782"/>
            <a:ext cx="653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-52"/>
              </a:rPr>
              <a:t>Real-World Examples</a:t>
            </a:r>
            <a:endParaRPr lang="ru-RU" sz="36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-52"/>
              </a:rPr>
              <a:t>Your advertisement could be here</a:t>
            </a:r>
            <a:endParaRPr lang="ru-RU" sz="400" dirty="0">
              <a:latin typeface="Gilroy Medium" panose="00000600000000000000" charset="-52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17559EE-2FDC-4B09-9F93-5AAECF3CD782}"/>
              </a:ext>
            </a:extLst>
          </p:cNvPr>
          <p:cNvSpPr/>
          <p:nvPr/>
        </p:nvSpPr>
        <p:spPr>
          <a:xfrm>
            <a:off x="947321" y="3462600"/>
            <a:ext cx="25493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Car engine control unit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93D37E-3242-43A4-B232-25A8FE0FA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71" y="1548420"/>
            <a:ext cx="2510807" cy="19141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4808F0-5D5E-47E9-9DF7-835C0051A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138" y="1548420"/>
            <a:ext cx="2023529" cy="186830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2CBADCF-2EB7-4822-A146-8C93F07C99A3}"/>
              </a:ext>
            </a:extLst>
          </p:cNvPr>
          <p:cNvSpPr/>
          <p:nvPr/>
        </p:nvSpPr>
        <p:spPr>
          <a:xfrm>
            <a:off x="5326137" y="3448652"/>
            <a:ext cx="20235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1D1D20"/>
                </a:solidFill>
                <a:effectLst/>
                <a:latin typeface="Gilroy Medium" panose="00000600000000000000" charset="-52"/>
              </a:rPr>
              <a:t>Smart thermostat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D04049-6BAA-4A5B-A531-3DDBA25C6E0A}"/>
              </a:ext>
            </a:extLst>
          </p:cNvPr>
          <p:cNvSpPr/>
          <p:nvPr/>
        </p:nvSpPr>
        <p:spPr>
          <a:xfrm>
            <a:off x="6337903" y="6393374"/>
            <a:ext cx="20235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Pacemaker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E469E829-EEFC-4A4E-B4A2-5431CC516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963" y="3993106"/>
            <a:ext cx="3557407" cy="23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37B9B871-1ED2-4202-B9E5-F2F1059FE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65" y="4183647"/>
            <a:ext cx="2258950" cy="15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7565F4B-F58F-4657-906A-43A21DE03C70}"/>
              </a:ext>
            </a:extLst>
          </p:cNvPr>
          <p:cNvSpPr/>
          <p:nvPr/>
        </p:nvSpPr>
        <p:spPr>
          <a:xfrm>
            <a:off x="1421151" y="5786341"/>
            <a:ext cx="16424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Wi-Fi Router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3844600-1290-4624-86CE-95E5C206C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028" y="1571357"/>
            <a:ext cx="1952337" cy="1868305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45D6F0B-672B-4A2B-86F4-9AB040740AFB}"/>
              </a:ext>
            </a:extLst>
          </p:cNvPr>
          <p:cNvSpPr/>
          <p:nvPr/>
        </p:nvSpPr>
        <p:spPr>
          <a:xfrm>
            <a:off x="9408431" y="3416725"/>
            <a:ext cx="20235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1D1D20"/>
                </a:solidFill>
                <a:latin typeface="Gilroy Medium" panose="00000600000000000000" charset="-52"/>
              </a:rPr>
              <a:t>Fitness Tracker</a:t>
            </a:r>
            <a:endParaRPr lang="en-US" sz="1600" b="0" i="0" dirty="0">
              <a:solidFill>
                <a:srgbClr val="1D1D20"/>
              </a:solidFill>
              <a:effectLst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9555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  <a:latin typeface="Gilroy Medium" panose="00000600000000000000" charset="-52"/>
              </a:rPr>
              <a:t>7</a:t>
            </a:fld>
            <a:endParaRPr lang="ru-RU" sz="3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6745" y="604782"/>
            <a:ext cx="653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-52"/>
              </a:rPr>
              <a:t>Final Thoughts</a:t>
            </a:r>
            <a:endParaRPr lang="ru-RU" sz="36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-52"/>
              </a:rPr>
              <a:t>Your advertisement could be here</a:t>
            </a:r>
            <a:endParaRPr lang="ru-RU" sz="400" dirty="0">
              <a:latin typeface="Gilroy Medium" panose="00000600000000000000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D1C014-64F9-420C-A48A-D204AEEF5D34}"/>
              </a:ext>
            </a:extLst>
          </p:cNvPr>
          <p:cNvSpPr/>
          <p:nvPr/>
        </p:nvSpPr>
        <p:spPr>
          <a:xfrm>
            <a:off x="675158" y="3167390"/>
            <a:ext cx="108416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Gilroy Medium" panose="00000600000000000000" charset="-52"/>
              </a:rPr>
              <a:t>Embedded systems are the silent workforce of the modern world.</a:t>
            </a:r>
            <a:endParaRPr lang="ru-RU" sz="2800" dirty="0">
              <a:latin typeface="Gilroy Medium" panose="00000600000000000000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71268F-377E-454A-9A9F-7C6FBA0C1D9C}"/>
              </a:ext>
            </a:extLst>
          </p:cNvPr>
          <p:cNvSpPr/>
          <p:nvPr/>
        </p:nvSpPr>
        <p:spPr>
          <a:xfrm>
            <a:off x="3783508" y="3839286"/>
            <a:ext cx="4624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D1D20"/>
                </a:solidFill>
                <a:latin typeface="Gilroy Medium" panose="00000600000000000000" charset="-52"/>
              </a:rPr>
              <a:t>They’re everywhere. And they just work.</a:t>
            </a:r>
            <a:endParaRPr lang="ru-RU" b="1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2113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Gilroy Medium" panose="00000600000000000000" charset="-52"/>
              </a:rPr>
              <a:t>Thanks for your attention</a:t>
            </a:r>
            <a:r>
              <a:rPr lang="ru-RU" sz="2800" dirty="0">
                <a:latin typeface="Gilroy Medium" panose="00000600000000000000" charset="-52"/>
              </a:rPr>
              <a:t>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990566" y="4026416"/>
            <a:ext cx="654258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Student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Alexander Romanov</a:t>
            </a:r>
            <a:r>
              <a:rPr lang="ru-RU" dirty="0">
                <a:latin typeface="Gilroy Medium" panose="00000600000000000000" charset="-52"/>
              </a:rPr>
              <a:t>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Elizabeth Kolodina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Medium" panose="00000600000000000000" charset="-52"/>
              </a:rPr>
              <a:t>Foreign language</a:t>
            </a:r>
            <a:endParaRPr lang="ru-RU" sz="2800" b="1" dirty="0">
              <a:latin typeface="Gilroy Medium" panose="00000600000000000000" charset="-52"/>
            </a:endParaRPr>
          </a:p>
          <a:p>
            <a:pPr algn="ctr">
              <a:defRPr/>
            </a:pPr>
            <a:r>
              <a:rPr lang="en-US" sz="2800" dirty="0">
                <a:latin typeface="Gilroy Medium" panose="00000600000000000000" charset="-52"/>
              </a:rPr>
              <a:t>Embedded systems</a:t>
            </a:r>
            <a:endParaRPr lang="ru-RU" sz="2800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933</TotalTime>
  <Words>282</Words>
  <Application>Microsoft Office PowerPoint</Application>
  <PresentationFormat>Широкоэкранный</PresentationFormat>
  <Paragraphs>75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Gilroy Medium</vt:lpstr>
      <vt:lpstr>Gilroy Bold</vt:lpstr>
      <vt:lpstr>Verdana</vt:lpstr>
      <vt:lpstr>Calibri</vt:lpstr>
      <vt:lpstr>Arial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 for your attention!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Александр Романов</cp:lastModifiedBy>
  <cp:revision>84</cp:revision>
  <dcterms:created xsi:type="dcterms:W3CDTF">2024-05-27T20:04:35Z</dcterms:created>
  <dcterms:modified xsi:type="dcterms:W3CDTF">2025-12-10T20:35:59Z</dcterms:modified>
</cp:coreProperties>
</file>